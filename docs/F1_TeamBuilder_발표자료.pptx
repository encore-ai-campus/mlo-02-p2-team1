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3" r:id="rId34"/>
    <p:sldId id="284" r:id="rId35"/>
    <p:sldId id="273" r:id="rId19"/>
    <p:sldId id="274" r:id="rId20"/>
    <p:sldId id="275" r:id="rId21"/>
    <p:sldId id="282" r:id="rId33"/>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d18581a8-08b9-8a1a-71d5-04f8de0bb3ab}">
          <p14:sldIdLst>
            <p14:sldId id="256"/>
          </p14:sldIdLst>
        </p14:section>
        <p14:section name="요약" id="{40b4c916-a5e8-a385-5309-5e73b582b187}">
          <p14:sldIdLst>
            <p14:sldId id="257"/>
            <p14:sldId id="258"/>
          </p14:sldIdLst>
        </p14:section>
        <p14:section name="숫자를 믿을 수 있게" id="{ab104b27-2912-3628-1dec-d54ffe43811c}">
          <p14:sldIdLst>
            <p14:sldId id="259"/>
            <p14:sldId id="260"/>
            <p14:sldId id="261"/>
            <p14:sldId id="262"/>
            <p14:sldId id="263"/>
            <p14:sldId id="264"/>
            <p14:sldId id="265"/>
          </p14:sldIdLst>
        </p14:section>
        <p14:section name="우리 팀은 어디가 약한가" id="{b0fcbd77-edf1-8a20-2287-475e7ed2217f}">
          <p14:sldIdLst>
            <p14:sldId id="266"/>
            <p14:sldId id="267"/>
            <p14:sldId id="268"/>
            <p14:sldId id="269"/>
            <p14:sldId id="270"/>
          </p14:sldIdLst>
        </p14:section>
        <p14:section name="누가 그 약점을 메울 수 있나" id="{851b5c8e-2305-e1ac-5a28-477946c80257}">
          <p14:sldIdLst>
            <p14:sldId id="271"/>
            <p14:sldId id="272"/>
            <p14:sldId id="273"/>
            <p14:sldId id="274"/>
            <p14:sldId id="275"/>
            <p14:sldId id="276"/>
          </p14:sldIdLst>
        </p14:section>
        <p14:section name="무엇을 할 것인가" id="{048ae2c4-45ba-25c3-8222-0ccaf6b7d3e5}">
          <p14:sldIdLst>
            <p14:sldId id="277"/>
            <p14:sldId id="278"/>
          </p14:sldIdLst>
        </p14:section>
        <p14:section name="마무리" id="{9e8f0155-71aa-4220-8f9b-d785292de5cb}">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18.xml"/><Relationship Id="rId3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오류 유형별 탐지 건수 (로그 눈금)</a:t>
            </a:r>
          </a:p>
        </c:rich>
      </c:tx>
      <c:layout/>
      <c:overlay val="0"/>
    </c:title>
    <c:autoTitleDeleted val="0"/>
    <c:plotArea>
      <c:layout/>
      <c:barChart>
        <c:barDir val="bar"/>
        <c:grouping val="clustered"/>
        <c:varyColors val="0"/>
        <c:ser>
          <c:idx val="0"/>
          <c:order val="0"/>
          <c:tx>
            <c:strRef>
              <c:f>Sheet1!$B$1</c:f>
              <c:strCache>
                <c:ptCount val="1"/>
                <c:pt idx="0">
                  <c:v>탐지</c:v>
                </c:pt>
              </c:strCache>
            </c:strRef>
          </c:tx>
          <c:spPr>
            <a:solidFill>
              <a:srgbClr val="1A1A1A"/>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Sheet1!$A$2:$A$9</c:f>
              <c:multiLvlStrCache>
                <c:ptCount val="8"/>
                <c:lvl>
                  <c:pt idx="0">
                    <c:v>결측</c:v>
                  </c:pt>
                  <c:pt idx="1">
                    <c:v>이상치</c:v>
                  </c:pt>
                  <c:pt idx="2">
                    <c:v>값 오류</c:v>
                  </c:pt>
                  <c:pt idx="3">
                    <c:v>값 뒤바뀜</c:v>
                  </c:pt>
                  <c:pt idx="4">
                    <c:v>파일 내 불일치</c:v>
                  </c:pt>
                  <c:pt idx="5">
                    <c:v>구간 중첩</c:v>
                  </c:pt>
                  <c:pt idx="6">
                    <c:v>파일 간 불일치</c:v>
                  </c:pt>
                  <c:pt idx="7">
                    <c:v>참조 무결성</c:v>
                  </c:pt>
                </c:lvl>
              </c:multiLvlStrCache>
            </c:multiLvlStrRef>
          </c:cat>
          <c:val>
            <c:numRef>
              <c:f>Sheet1!$B$2:$B$9</c:f>
              <c:numCache>
                <c:formatCode>General</c:formatCode>
                <c:ptCount val="8"/>
                <c:pt idx="0">
                  <c:v>27485</c:v>
                </c:pt>
                <c:pt idx="1">
                  <c:v>416</c:v>
                </c:pt>
                <c:pt idx="2">
                  <c:v>118</c:v>
                </c:pt>
                <c:pt idx="3">
                  <c:v>24</c:v>
                </c:pt>
                <c:pt idx="4">
                  <c:v>22</c:v>
                </c:pt>
                <c:pt idx="5">
                  <c:v>3</c:v>
                </c:pt>
                <c:pt idx="6">
                  <c:v>2</c:v>
                </c:pt>
                <c:pt idx="7">
                  <c:v>1</c:v>
                </c:pt>
              </c:numCache>
            </c:numRef>
          </c:val>
        </c:ser>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logBase val="10"/>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검증</c:v>
                </c:pt>
              </c:strCache>
            </c:strRef>
          </c:tx>
          <c:spPr>
            <a:solidFill>
              <a:schemeClr val="accent1"/>
            </a:solidFill>
            <a:ln w="9525" cap="flat">
              <a:solidFill>
                <a:srgbClr val="F9F9F9"/>
              </a:solidFill>
              <a:prstDash val="solid"/>
              <a:round/>
            </a:ln>
            <a:effectLst/>
          </c:spPr>
          <c:dPt>
            <c:idx val="0"/>
            <c:bubble3D val="0"/>
            <c:spPr>
              <a:solidFill>
                <a:srgbClr val="1A1A1A"/>
              </a:solidFill>
              <a:effectLst/>
            </c:spPr>
          </c:dPt>
          <c:dPt>
            <c:idx val="1"/>
            <c:bubble3D val="0"/>
            <c:spPr>
              <a:solidFill>
                <a:srgbClr val="B5B5B5"/>
              </a:solidFill>
              <a:effectLst/>
            </c:spPr>
          </c:dPt>
          <c:dPt>
            <c:idx val="2"/>
            <c:bubble3D val="0"/>
            <c:spPr>
              <a:solidFill>
                <a:srgbClr val="E10600"/>
              </a:solidFill>
              <a:effectLst/>
            </c:spPr>
          </c:dPt>
          <c:dPt>
            <c:idx val="3"/>
            <c:bubble3D val="0"/>
            <c:spPr>
              <a:solidFill>
                <a:srgbClr val="7A0300"/>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PASS</c:v>
                </c:pt>
                <c:pt idx="1">
                  <c:v>INFO</c:v>
                </c:pt>
                <c:pt idx="2">
                  <c:v>WARN</c:v>
                </c:pt>
                <c:pt idx="3">
                  <c:v>FAIL</c:v>
                </c:pt>
              </c:strCache>
            </c:strRef>
          </c:cat>
          <c:val>
            <c:numRef>
              <c:f>Sheet1!$B$2:$B$5</c:f>
              <c:numCache>
                <c:ptCount val="4"/>
                <c:pt idx="0">
                  <c:v>127</c:v>
                </c:pt>
                <c:pt idx="1">
                  <c:v>20</c:v>
                </c:pt>
                <c:pt idx="2">
                  <c:v>7</c:v>
                </c:pt>
                <c:pt idx="3">
                  <c:v>0</c:v>
                </c:pt>
              </c:numCache>
            </c:numRef>
          </c:val>
        </c:ser>
        <c:firstSliceAng val="0"/>
        <c:holeSize val="64"/>
      </c:doughnutChart>
      <c:spPr>
        <a:noFill/>
        <a:ln>
          <a:noFill/>
        </a:ln>
        <a:effectLst/>
      </c:spPr>
    </c:plotArea>
    <c:legend>
      <c:legendPos val="b"/>
      <c:overlay val="0"/>
      <c:txPr>
        <a:bodyPr/>
        <a:lstStyle/>
        <a:p>
          <a:pPr>
            <a:defRPr sz="1100">
              <a:solidFill>
                <a:srgbClr val="6B6B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필드 상대 페이스 (%, 낮을수록 빠름)</a:t>
            </a:r>
          </a:p>
        </c:rich>
      </c:tx>
      <c:layout/>
      <c:overlay val="0"/>
    </c:title>
    <c:autoTitleDeleted val="0"/>
    <c:plotArea>
      <c:layout/>
      <c:barChart>
        <c:barDir val="bar"/>
        <c:grouping val="clustered"/>
        <c:varyColors val="0"/>
        <c:ser>
          <c:idx val="0"/>
          <c:order val="0"/>
          <c:tx>
            <c:strRef>
              <c:f>Sheet1!$B$1</c:f>
              <c:strCache>
                <c:ptCount val="1"/>
                <c:pt idx="0">
                  <c:v>필드 상대 페이스 (%, 낮을수록 빠름)</c:v>
                </c:pt>
              </c:strCache>
            </c:strRef>
          </c:tx>
          <c:spPr>
            <a:solidFill>
              <a:srgbClr val="B5B5B5"/>
            </a:solidFill>
            <a:effectLst/>
          </c:spPr>
          <c:invertIfNegative val="0"/>
          <c:dLbls>
            <c:numFmt formatCode="+0.00;-0.00;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5B5B5"/>
              </a:solidFill>
              <a:effectLst/>
            </c:spPr>
          </c:dPt>
          <c:dPt>
            <c:idx val="1"/>
            <c:invertIfNegative val="0"/>
            <c:bubble3D val="0"/>
            <c:spPr>
              <a:solidFill>
                <a:srgbClr val="B5B5B5"/>
              </a:solidFill>
              <a:effectLst/>
            </c:spPr>
          </c:dPt>
          <c:dPt>
            <c:idx val="2"/>
            <c:invertIfNegative val="0"/>
            <c:bubble3D val="0"/>
            <c:spPr>
              <a:solidFill>
                <a:srgbClr val="B5B5B5"/>
              </a:solidFill>
              <a:effectLst/>
            </c:spPr>
          </c:dPt>
          <c:dPt>
            <c:idx val="3"/>
            <c:invertIfNegative val="0"/>
            <c:bubble3D val="0"/>
            <c:spPr>
              <a:solidFill>
                <a:srgbClr val="B5B5B5"/>
              </a:solidFill>
              <a:effectLst/>
            </c:spPr>
          </c:dPt>
          <c:dPt>
            <c:idx val="4"/>
            <c:invertIfNegative val="0"/>
            <c:bubble3D val="0"/>
            <c:spPr>
              <a:solidFill>
                <a:srgbClr val="B5B5B5"/>
              </a:solidFill>
              <a:effectLst/>
            </c:spPr>
          </c:dPt>
          <c:dPt>
            <c:idx val="5"/>
            <c:invertIfNegative val="0"/>
            <c:bubble3D val="0"/>
            <c:spPr>
              <a:solidFill>
                <a:srgbClr val="B5B5B5"/>
              </a:solidFill>
              <a:effectLst/>
            </c:spPr>
          </c:dPt>
          <c:dPt>
            <c:idx val="6"/>
            <c:invertIfNegative val="0"/>
            <c:bubble3D val="0"/>
            <c:spPr>
              <a:solidFill>
                <a:srgbClr val="E10600"/>
              </a:solidFill>
              <a:effectLst/>
            </c:spPr>
          </c:dPt>
          <c:dPt>
            <c:idx val="7"/>
            <c:invertIfNegative val="0"/>
            <c:bubble3D val="0"/>
            <c:spPr>
              <a:solidFill>
                <a:srgbClr val="B5B5B5"/>
              </a:solidFill>
              <a:effectLst/>
            </c:spPr>
          </c:dPt>
          <c:dPt>
            <c:idx val="8"/>
            <c:invertIfNegative val="0"/>
            <c:bubble3D val="0"/>
            <c:spPr>
              <a:solidFill>
                <a:srgbClr val="B5B5B5"/>
              </a:solidFill>
              <a:effectLst/>
            </c:spPr>
          </c:dPt>
          <c:dPt>
            <c:idx val="9"/>
            <c:invertIfNegative val="0"/>
            <c:bubble3D val="0"/>
            <c:spPr>
              <a:solidFill>
                <a:srgbClr val="B5B5B5"/>
              </a:solidFill>
              <a:effectLst/>
            </c:spPr>
          </c:dPt>
          <c:cat>
            <c:multiLvlStrRef>
              <c:f>Sheet1!$A$2:$A$11</c:f>
              <c:multiLvlStrCache>
                <c:ptCount val="10"/>
                <c:lvl>
                  <c:pt idx="0">
                    <c:v>McLaren</c:v>
                  </c:pt>
                  <c:pt idx="1">
                    <c:v>Ferrari</c:v>
                  </c:pt>
                  <c:pt idx="2">
                    <c:v>Mercedes</c:v>
                  </c:pt>
                  <c:pt idx="3">
                    <c:v>Red Bull Racing</c:v>
                  </c:pt>
                  <c:pt idx="4">
                    <c:v>Williams</c:v>
                  </c:pt>
                  <c:pt idx="5">
                    <c:v>Racing Bulls</c:v>
                  </c:pt>
                  <c:pt idx="6">
                    <c:v>Aston Martin</c:v>
                  </c:pt>
                  <c:pt idx="7">
                    <c:v>Haas F1 Team</c:v>
                  </c:pt>
                  <c:pt idx="8">
                    <c:v>Kick Sauber</c:v>
                  </c:pt>
                  <c:pt idx="9">
                    <c:v>Alpine</c:v>
                  </c:pt>
                </c:lvl>
              </c:multiLvlStrCache>
            </c:multiLvlStrRef>
          </c:cat>
          <c:val>
            <c:numRef>
              <c:f>Sheet1!$B$2:$B$11</c:f>
              <c:numCache>
                <c:formatCode>General</c:formatCode>
                <c:ptCount val="10"/>
                <c:pt idx="0">
                  <c:v>-1.162</c:v>
                </c:pt>
                <c:pt idx="1">
                  <c:v>-0.566</c:v>
                </c:pt>
                <c:pt idx="2">
                  <c:v>-0.336</c:v>
                </c:pt>
                <c:pt idx="3">
                  <c:v>-0.287</c:v>
                </c:pt>
                <c:pt idx="4">
                  <c:v>0.198</c:v>
                </c:pt>
                <c:pt idx="5">
                  <c:v>0.285</c:v>
                </c:pt>
                <c:pt idx="6">
                  <c:v>0.46</c:v>
                </c:pt>
                <c:pt idx="7">
                  <c:v>0.504</c:v>
                </c:pt>
                <c:pt idx="8">
                  <c:v>0.61</c:v>
                </c:pt>
                <c:pt idx="9">
                  <c:v>0.792</c:v>
                </c:pt>
              </c:numCache>
            </c:numRef>
          </c:val>
        </c:ser>
        <c:dLbls>
          <c:numFmt formatCode="+0.00;-0.00;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5E5"/>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피트레인 시간 차이 (초, +면 긴 쪽)</a:t>
            </a:r>
          </a:p>
        </c:rich>
      </c:tx>
      <c:layout/>
      <c:overlay val="0"/>
    </c:title>
    <c:autoTitleDeleted val="0"/>
    <c:plotArea>
      <c:layout/>
      <c:barChart>
        <c:barDir val="bar"/>
        <c:grouping val="clustered"/>
        <c:varyColors val="0"/>
        <c:ser>
          <c:idx val="0"/>
          <c:order val="0"/>
          <c:tx>
            <c:strRef>
              <c:f>Sheet1!$B$1</c:f>
              <c:strCache>
                <c:ptCount val="1"/>
                <c:pt idx="0">
                  <c:v>피트레인 시간 차이 (초, +면 긴 쪽)</c:v>
                </c:pt>
              </c:strCache>
            </c:strRef>
          </c:tx>
          <c:spPr>
            <a:solidFill>
              <a:srgbClr val="B5B5B5"/>
            </a:solidFill>
            <a:effectLst/>
          </c:spPr>
          <c:invertIfNegative val="0"/>
          <c:dLbls>
            <c:numFmt formatCode="+0.00;-0.00;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5B5B5"/>
              </a:solidFill>
              <a:effectLst/>
            </c:spPr>
          </c:dPt>
          <c:dPt>
            <c:idx val="1"/>
            <c:invertIfNegative val="0"/>
            <c:bubble3D val="0"/>
            <c:spPr>
              <a:solidFill>
                <a:srgbClr val="B5B5B5"/>
              </a:solidFill>
              <a:effectLst/>
            </c:spPr>
          </c:dPt>
          <c:dPt>
            <c:idx val="2"/>
            <c:invertIfNegative val="0"/>
            <c:bubble3D val="0"/>
            <c:spPr>
              <a:solidFill>
                <a:srgbClr val="B5B5B5"/>
              </a:solidFill>
              <a:effectLst/>
            </c:spPr>
          </c:dPt>
          <c:dPt>
            <c:idx val="3"/>
            <c:invertIfNegative val="0"/>
            <c:bubble3D val="0"/>
            <c:spPr>
              <a:solidFill>
                <a:srgbClr val="B5B5B5"/>
              </a:solidFill>
              <a:effectLst/>
            </c:spPr>
          </c:dPt>
          <c:dPt>
            <c:idx val="4"/>
            <c:invertIfNegative val="0"/>
            <c:bubble3D val="0"/>
            <c:spPr>
              <a:solidFill>
                <a:srgbClr val="B5B5B5"/>
              </a:solidFill>
              <a:effectLst/>
            </c:spPr>
          </c:dPt>
          <c:dPt>
            <c:idx val="5"/>
            <c:invertIfNegative val="0"/>
            <c:bubble3D val="0"/>
            <c:spPr>
              <a:solidFill>
                <a:srgbClr val="B5B5B5"/>
              </a:solidFill>
              <a:effectLst/>
            </c:spPr>
          </c:dPt>
          <c:dPt>
            <c:idx val="6"/>
            <c:invertIfNegative val="0"/>
            <c:bubble3D val="0"/>
            <c:spPr>
              <a:solidFill>
                <a:srgbClr val="B5B5B5"/>
              </a:solidFill>
              <a:effectLst/>
            </c:spPr>
          </c:dPt>
          <c:dPt>
            <c:idx val="7"/>
            <c:invertIfNegative val="0"/>
            <c:bubble3D val="0"/>
            <c:spPr>
              <a:solidFill>
                <a:srgbClr val="E10600"/>
              </a:solidFill>
              <a:effectLst/>
            </c:spPr>
          </c:dPt>
          <c:dPt>
            <c:idx val="8"/>
            <c:invertIfNegative val="0"/>
            <c:bubble3D val="0"/>
            <c:spPr>
              <a:solidFill>
                <a:srgbClr val="B5B5B5"/>
              </a:solidFill>
              <a:effectLst/>
            </c:spPr>
          </c:dPt>
          <c:dPt>
            <c:idx val="9"/>
            <c:invertIfNegative val="0"/>
            <c:bubble3D val="0"/>
            <c:spPr>
              <a:solidFill>
                <a:srgbClr val="B5B5B5"/>
              </a:solidFill>
              <a:effectLst/>
            </c:spPr>
          </c:dPt>
          <c:cat>
            <c:multiLvlStrRef>
              <c:f>Sheet1!$A$2:$A$11</c:f>
              <c:multiLvlStrCache>
                <c:ptCount val="10"/>
                <c:lvl>
                  <c:pt idx="0">
                    <c:v>Ferrari</c:v>
                  </c:pt>
                  <c:pt idx="1">
                    <c:v>McLaren</c:v>
                  </c:pt>
                  <c:pt idx="2">
                    <c:v>Racing Bulls</c:v>
                  </c:pt>
                  <c:pt idx="3">
                    <c:v>Mercedes</c:v>
                  </c:pt>
                  <c:pt idx="4">
                    <c:v>Red Bull Racing</c:v>
                  </c:pt>
                  <c:pt idx="5">
                    <c:v>Kick Sauber</c:v>
                  </c:pt>
                  <c:pt idx="6">
                    <c:v>Williams</c:v>
                  </c:pt>
                  <c:pt idx="7">
                    <c:v>Aston Martin</c:v>
                  </c:pt>
                  <c:pt idx="8">
                    <c:v>Alpine</c:v>
                  </c:pt>
                  <c:pt idx="9">
                    <c:v>Haas F1 Team</c:v>
                  </c:pt>
                </c:lvl>
              </c:multiLvlStrCache>
            </c:multiLvlStrRef>
          </c:cat>
          <c:val>
            <c:numRef>
              <c:f>Sheet1!$B$2:$B$11</c:f>
              <c:numCache>
                <c:formatCode>General</c:formatCode>
                <c:ptCount val="10"/>
                <c:pt idx="0">
                  <c:v>-0.567</c:v>
                </c:pt>
                <c:pt idx="1">
                  <c:v>-0.282</c:v>
                </c:pt>
                <c:pt idx="2">
                  <c:v>-0.271</c:v>
                </c:pt>
                <c:pt idx="3">
                  <c:v>-0.18</c:v>
                </c:pt>
                <c:pt idx="4">
                  <c:v>-0.106</c:v>
                </c:pt>
                <c:pt idx="5">
                  <c:v>-0.091</c:v>
                </c:pt>
                <c:pt idx="6">
                  <c:v>0.049</c:v>
                </c:pt>
                <c:pt idx="7">
                  <c:v>0.282</c:v>
                </c:pt>
                <c:pt idx="8">
                  <c:v>0.388</c:v>
                </c:pt>
                <c:pt idx="9">
                  <c:v>0.412</c:v>
                </c:pt>
              </c:numCache>
            </c:numRef>
          </c:val>
        </c:ser>
        <c:dLbls>
          <c:numFmt formatCode="+0.00;-0.00;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5E5"/>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본경기 기본 포인트 (점)</a:t>
            </a:r>
          </a:p>
        </c:rich>
      </c:tx>
      <c:layout/>
      <c:overlay val="0"/>
    </c:title>
    <c:autoTitleDeleted val="0"/>
    <c:plotArea>
      <c:layout/>
      <c:barChart>
        <c:barDir val="bar"/>
        <c:grouping val="clustered"/>
        <c:varyColors val="0"/>
        <c:ser>
          <c:idx val="0"/>
          <c:order val="0"/>
          <c:tx>
            <c:strRef>
              <c:f>Sheet1!$B$1</c:f>
              <c:strCache>
                <c:ptCount val="1"/>
                <c:pt idx="0">
                  <c:v>본경기 기본 포인트 (점)</c:v>
                </c:pt>
              </c:strCache>
            </c:strRef>
          </c:tx>
          <c:spPr>
            <a:solidFill>
              <a:srgbClr val="B5B5B5"/>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5B5B5"/>
              </a:solidFill>
              <a:effectLst/>
            </c:spPr>
          </c:dPt>
          <c:dPt>
            <c:idx val="1"/>
            <c:invertIfNegative val="0"/>
            <c:bubble3D val="0"/>
            <c:spPr>
              <a:solidFill>
                <a:srgbClr val="B5B5B5"/>
              </a:solidFill>
              <a:effectLst/>
            </c:spPr>
          </c:dPt>
          <c:dPt>
            <c:idx val="2"/>
            <c:invertIfNegative val="0"/>
            <c:bubble3D val="0"/>
            <c:spPr>
              <a:solidFill>
                <a:srgbClr val="B5B5B5"/>
              </a:solidFill>
              <a:effectLst/>
            </c:spPr>
          </c:dPt>
          <c:dPt>
            <c:idx val="3"/>
            <c:invertIfNegative val="0"/>
            <c:bubble3D val="0"/>
            <c:spPr>
              <a:solidFill>
                <a:srgbClr val="B5B5B5"/>
              </a:solidFill>
              <a:effectLst/>
            </c:spPr>
          </c:dPt>
          <c:dPt>
            <c:idx val="4"/>
            <c:invertIfNegative val="0"/>
            <c:bubble3D val="0"/>
            <c:spPr>
              <a:solidFill>
                <a:srgbClr val="B5B5B5"/>
              </a:solidFill>
              <a:effectLst/>
            </c:spPr>
          </c:dPt>
          <c:dPt>
            <c:idx val="5"/>
            <c:invertIfNegative val="0"/>
            <c:bubble3D val="0"/>
            <c:spPr>
              <a:solidFill>
                <a:srgbClr val="B5B5B5"/>
              </a:solidFill>
              <a:effectLst/>
            </c:spPr>
          </c:dPt>
          <c:dPt>
            <c:idx val="6"/>
            <c:invertIfNegative val="0"/>
            <c:bubble3D val="0"/>
            <c:spPr>
              <a:solidFill>
                <a:srgbClr val="E10600"/>
              </a:solidFill>
              <a:effectLst/>
            </c:spPr>
          </c:dPt>
          <c:dPt>
            <c:idx val="7"/>
            <c:invertIfNegative val="0"/>
            <c:bubble3D val="0"/>
            <c:spPr>
              <a:solidFill>
                <a:srgbClr val="B5B5B5"/>
              </a:solidFill>
              <a:effectLst/>
            </c:spPr>
          </c:dPt>
          <c:dPt>
            <c:idx val="8"/>
            <c:invertIfNegative val="0"/>
            <c:bubble3D val="0"/>
            <c:spPr>
              <a:solidFill>
                <a:srgbClr val="B5B5B5"/>
              </a:solidFill>
              <a:effectLst/>
            </c:spPr>
          </c:dPt>
          <c:dPt>
            <c:idx val="9"/>
            <c:invertIfNegative val="0"/>
            <c:bubble3D val="0"/>
            <c:spPr>
              <a:solidFill>
                <a:srgbClr val="B5B5B5"/>
              </a:solidFill>
              <a:effectLst/>
            </c:spPr>
          </c:dPt>
          <c:cat>
            <c:multiLvlStrRef>
              <c:f>Sheet1!$A$2:$A$11</c:f>
              <c:multiLvlStrCache>
                <c:ptCount val="10"/>
                <c:lvl>
                  <c:pt idx="0">
                    <c:v>McLaren</c:v>
                  </c:pt>
                  <c:pt idx="1">
                    <c:v>Mercedes</c:v>
                  </c:pt>
                  <c:pt idx="2">
                    <c:v>Red Bull Racing</c:v>
                  </c:pt>
                  <c:pt idx="3">
                    <c:v>Ferrari</c:v>
                  </c:pt>
                  <c:pt idx="4">
                    <c:v>Williams</c:v>
                  </c:pt>
                  <c:pt idx="5">
                    <c:v>Racing Bulls</c:v>
                  </c:pt>
                  <c:pt idx="6">
                    <c:v>Aston Martin</c:v>
                  </c:pt>
                  <c:pt idx="7">
                    <c:v>Haas F1 Team</c:v>
                  </c:pt>
                  <c:pt idx="8">
                    <c:v>Kick Sauber</c:v>
                  </c:pt>
                  <c:pt idx="9">
                    <c:v>Alpine</c:v>
                  </c:pt>
                </c:lvl>
              </c:multiLvlStrCache>
            </c:multiLvlStrRef>
          </c:cat>
          <c:val>
            <c:numRef>
              <c:f>Sheet1!$B$2:$B$11</c:f>
              <c:numCache>
                <c:formatCode>General</c:formatCode>
                <c:ptCount val="10"/>
                <c:pt idx="0">
                  <c:v>775</c:v>
                </c:pt>
                <c:pt idx="1">
                  <c:v>424</c:v>
                </c:pt>
                <c:pt idx="2">
                  <c:v>410</c:v>
                </c:pt>
                <c:pt idx="3">
                  <c:v>360</c:v>
                </c:pt>
                <c:pt idx="4">
                  <c:v>124</c:v>
                </c:pt>
                <c:pt idx="5">
                  <c:v>88</c:v>
                </c:pt>
                <c:pt idx="6">
                  <c:v>80</c:v>
                </c:pt>
                <c:pt idx="7">
                  <c:v>73</c:v>
                </c:pt>
                <c:pt idx="8">
                  <c:v>70</c:v>
                </c:pt>
                <c:pt idx="9">
                  <c:v>20</c:v>
                </c:pt>
              </c:numCache>
            </c:numRef>
          </c:val>
        </c:ser>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5E5E5"/>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1A"/>
                </a:solidFill>
                <a:latin typeface="+mn-lt"/>
              </a:defRPr>
            </a:pPr>
            <a:r>
              <a:rPr sz="1200" b="0" i="0" u="none" strike="noStrike">
                <a:solidFill>
                  <a:srgbClr val="1A1A1A"/>
                </a:solidFill>
                <a:latin typeface="+mn-lt"/>
              </a:rPr>
              <a:t>판정 분포 (조합 수)</a:t>
            </a:r>
          </a:p>
        </c:rich>
      </c:tx>
      <c:layout/>
      <c:overlay val="0"/>
    </c:title>
    <c:autoTitleDeleted val="0"/>
    <c:plotArea>
      <c:layout/>
      <c:barChart>
        <c:barDir val="bar"/>
        <c:grouping val="clustered"/>
        <c:varyColors val="0"/>
        <c:ser>
          <c:idx val="0"/>
          <c:order val="0"/>
          <c:tx>
            <c:strRef>
              <c:f>Sheet1!$B$1</c:f>
              <c:strCache>
                <c:ptCount val="1"/>
                <c:pt idx="0">
                  <c:v>조합 수</c:v>
                </c:pt>
              </c:strCache>
            </c:strRef>
          </c:tx>
          <c:spPr>
            <a:solidFill>
              <a:srgbClr val="E10600"/>
            </a:solidFill>
            <a:effectLst/>
          </c:spPr>
          <c:invertIfNegative val="0"/>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E10600"/>
              </a:solidFill>
              <a:effectLst/>
            </c:spPr>
          </c:dPt>
          <c:dPt>
            <c:idx val="1"/>
            <c:invertIfNegative val="0"/>
            <c:bubble3D val="0"/>
            <c:spPr>
              <a:solidFill>
                <a:srgbClr val="1A1A1A"/>
              </a:solidFill>
              <a:effectLst/>
            </c:spPr>
          </c:dPt>
          <c:dPt>
            <c:idx val="2"/>
            <c:invertIfNegative val="0"/>
            <c:bubble3D val="0"/>
            <c:spPr>
              <a:solidFill>
                <a:srgbClr val="8C8C8C"/>
              </a:solidFill>
              <a:effectLst/>
            </c:spPr>
          </c:dPt>
          <c:dPt>
            <c:idx val="3"/>
            <c:invertIfNegative val="0"/>
            <c:bubble3D val="0"/>
            <c:spPr>
              <a:solidFill>
                <a:srgbClr val="B5B5B5"/>
              </a:solidFill>
              <a:effectLst/>
            </c:spPr>
          </c:dPt>
          <c:dPt>
            <c:idx val="4"/>
            <c:invertIfNegative val="0"/>
            <c:bubble3D val="0"/>
            <c:spPr>
              <a:solidFill>
                <a:srgbClr val="E5E5E5"/>
              </a:solidFill>
              <a:effectLst/>
            </c:spPr>
          </c:dPt>
          <c:cat>
            <c:multiLvlStrRef>
              <c:f>Sheet1!$A$2:$A$6</c:f>
              <c:multiLvlStrCache>
                <c:ptCount val="5"/>
                <c:lvl>
                  <c:pt idx="0">
                    <c:v>동료 비교까지 반복</c:v>
                  </c:pt>
                  <c:pt idx="1">
                    <c:v>페이스 우위 반복</c:v>
                  </c:pt>
                  <c:pt idx="2">
                    <c:v>조건·표본에 민감</c:v>
                  </c:pt>
                  <c:pt idx="3">
                    <c:v>우위 근거 없음</c:v>
                  </c:pt>
                  <c:pt idx="4">
                    <c:v>표본 부족·보류</c:v>
                  </c:pt>
                </c:lvl>
              </c:multiLvlStrCache>
            </c:multiLvlStrRef>
          </c:cat>
          <c:val>
            <c:numRef>
              <c:f>Sheet1!$B$2:$B$6</c:f>
              <c:numCache>
                <c:formatCode>General</c:formatCode>
                <c:ptCount val="5"/>
                <c:pt idx="0">
                  <c:v>88</c:v>
                </c:pt>
                <c:pt idx="1">
                  <c:v>349</c:v>
                </c:pt>
                <c:pt idx="2">
                  <c:v>513</c:v>
                </c:pt>
                <c:pt idx="3">
                  <c:v>516</c:v>
                </c:pt>
                <c:pt idx="4">
                  <c:v>358</c:v>
                </c:pt>
              </c:numCache>
            </c:numRef>
          </c:val>
        </c:ser>
        <c:dLbls>
          <c:numFmt formatCode="#,##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F1 팀이 드라이버를 영입할 때 가장 빠른 선수가 아니라 우리 팀의 약점을 메울 선수를 데이터로 찾는 것이 질문입니다. 모든 숫자는 같은 기준에서 나왔고, 결론은 LECLERC를 1순위, RUSSELL을 2순위로 검토하는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결론부터 말씀드립니다. 2025 Aston Martin의 STROLL 자리에는 LECLERC를 1순위, RUSSELL을 2순위로 검토합니다. 두 선수 모두 같은 경기 비교와 같은 차 동료 비교에서 11가지 조건 모두 빠릅니다. 둘을 가르는 것은 같은 자로 잰 비교입니다. 두 선수 모두 같은 차에서 HAMILTON과 달린 적이 있어, 같은 동료를 기준으로 재면 LECLERC는 9경기 모두 빨랐고 RUSSELL은 비슷했습니다. 교체 시뮬레이션도 같은 방향입니다. LECLERC의 타이어 유지는 영입 전에 장기 스틴트로 확인합니다. 영입과 별개로 피트레인 손실은 지금 바로 점검할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결론부터 말씀드립니다. 데이터는 믿을 수 있게 만들었고, Aston Martin의 약점은 페이스와 피트 운영이며, 우선 검토 후보는 LECLERC(1순위)와 RUSSELL 두 명입니다. 이후 섹션은 이 세 문장의 근거입니다.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섹션은 숫자를 믿을 수 있게 만든 과정입니다. 지표 정의, 데이터 범위와 한계, 정제, 검증 순서로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지표를 먼저 정의했습니다. 서킷마다 랩타임이 달라 절대 시간 대신 같은 조건의 상대 페이스를 씁니다. 포인트는 공식 챔피언십이 아닌 본경기 기본 배점 재구성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데이터가 무엇이고, 분석할 때 어떤 한계를 알고 있어야 하는지 정리했습니다. 연결되지 않는 기록은 지우지 않고 해당 비교에서만 제외합니다.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6종만으로는 빠른 기록이 실제 성적으로 이어졌는지, 비교한 랩이 안전차 구간을 포함하지 않았는지, 앞차에 막힌 랩인지 알 수 없었습니다. 그래서 결과, 출발 순위, 경기 통제, 격차 데이터를 추가했습니다. position은 품질 점검까지만 했고 순위 타임라인은 이번 범위에서 빠졌습니다.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탐지한 28,071건 중 27,485건이 결측이고, 대부분은 속도·1랩 랩타임처럼 원천 특성이라 허용으로 기록했습니다. 근거가 있는 1,357셀만 복구했고, 근거가 없는 4행은 격리했습니다. ERROR 등급 결함이 있던 파일 5개가 정제 후 0개가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규칙을 두 도구로 두 번 돌려 결과가 같았다는 것이 이 숫자를 믿을 수 있는 근거입니다. 같은 검사를 정제 전 원본에 돌리면 FAIL이 12건 나오고, 정제 후에는 0건입니다. 12건 중 9건은 sessions의 대회 키 2개가 오염돼 연결된 9개 파일이 함께 어긋난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품질 단계별로 쌓았습니다. 저장소 폴더도 같은 단계로 정리했고, 관리자 화면에서 전체를 다시 실행할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섹션은 팀 진단입니다. 2025 Aston Martin을 예로, 처음 생각한 가설을 데이터로 하나씩 판정합니다.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서킷마다 랩타임이 달라 같은 경기·같은 타이어 구간의 상대 페이스로 비교했습니다. Aston Martin은 10팀 중 7위입니다.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가설 여섯 개를 판정했습니다. 라인업 가설은 STROLL이 동료 ALONSO보다 중앙값이 느리게 나왔지만 95% 구간이 0을 포함해 보류했습니다. 그래서 "STROLL 탓"이라고 단정하지 않고, ③에서 후보가 차가 아닌 선수 몫의 페이스를 가져오는지를 따로 확인합니다. 타이어는 방향은 같지만 크기가 가장 작아 약점으로 보지 않습니다. 마지막 가설은 ③에서 11가지 조건으로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피트 운영은 영입할 선수와 별개로 팀이 가진 운영 환경입니다. 1초 넘게 길어진 피트가 네 번에 한 번꼴입니다.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중위권 접전이라 몇 점 차이가 순위를 바꿀 수 있는 위치입니다. 이것이 영입 검토의 배경이지만 금액은 추정하지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섹션은 후보 검토입니다. ②에서 STROLL 개인이 원인인지는 보류했기 때문에, 후보가 차가 아니라 선수 몫의 페이스를 가져오는지를 확인합니다. 같은 경기 비교와 같은 차 동료 비교로 같은 환경을 두 단계로 나누고, 우리 약점에서 출발한 기준으로 고릅니다.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후보를 하나의 점수로 줄 세우지 않습니다. 같은 표에서 보면 지표마다 앞서는 선수가 다릅니다. 네 조건을 모두 통과한 후보는 LECLERC와 RUSSELL입니다. 포인트는 차량이 대부분을 정해 참고로만 둡니다.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후보 19명 중 7명이 같은 경기 비교에서 11가지 조건, 95% 구간, 시즌 전·후반 모두 기준 선수보다 빨랐고, 그중 같은 차 동료 비교까지 11/11 조건에서 빠른 선수는 LECLERC와 RUSSELL 두 명입니다. 같은 동료 HAMILTON 기준으로 재면 LECLERC는 9경기 모두 빨랐고 RUSSELL은 비슷했습니다. 그래서 LECLERC를 1순위, RUSSELL을 2순위로 둡니다. 2026 시즌으로 확인해 보면 RUSSELL은 ANTONELLI에게 뒤집혔고 LECLERC는 HAMILTON과 비슷해져, 둘 다 확정이 아니라 우선 검토입니다. 계약 가능성과 이적 후 성과는 판단하지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빠른 세 명은 모두 페이스 우위는 반복됐지만 자기 팀 동료 대비 우위가 반복되지 않았습니다. NORRIS와 PIASTRI는 서로 동료이고 차이가 0을 포함하며, VERSTAPPEN은 11개 중 1개 조건에서 반복되지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시즌, 모든 팀 자리에 대해 같은 기준으로 판정했습니다. 네 조건을 모두 통과한 조합은 4.8%뿐입니다.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지금까지의 판단을 Decision Board 한 화면에서 다른 팀과 시즌으로 반복할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섹션은 제안입니다. 각 제안의 크기와 근거 슬라이드를 함께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다섯 가지 제안입니다. LECLERC를 1순위로 한 우선 검토, 가장 빠른 후보를 바로 고르지 않는 보수적 기준, 피트레인 손실 점검, 접전 구간의 경기별 결과 추적, 그리고 1순위 LECLERC의 장기 스틴트 타이어 유지 확인입니다.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한계를 분명히 말씀드립니다. 첫째, 같은 경기 비교에는 차량 몫이 섞여 있어 후보를 거르는 데만 썼습니다. 둘째, 두 후보를 같은 HAMILTON 기준으로 쟀지만 2025는 HAMILTON의 Ferrari 첫해였고, 2026에는 LECLERC의 우위도 0 근처로 줄었습니다. 셋째, STROLL은 ALONSO하고만 같은 차를 타서 STROLL 쪽 차량 몫은 분리할 수 없습니다. 넷째, 정제 데이터로 다시 계산한 값은 Gold와 방향은 같지만 크기가 다르고, 타이어 유지 지표는 시즌마다 흔들립니다. 그래서 결론은 확정이 아니라 우선 검토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숫자는 저장소의 명령으로 다시 만들 수 있습니다. 관리자 화면의 전체 실행으로도 같은 결과를 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정리하면, STROLL 자리의 우선 검토 후보는 LECLERC(1순위)와 RUSSELL이고, 영입과 별개로 피트레인 손실을 먼저 점검해야 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영입하면 성적이 얼마나 바뀌는지 확인하려고 2025 시즌을 4,000번 다시 치렀습니다. 지금 라인업은 시즌 1승 확률이 0.1%이고, 대부분 후보도 1~3%에 머뭅니다. 우승은 차량이 거의 정합니다. 현실적인 목표는 팀 6위이고, LECLERC로 바꾸면 6위 이내 확률이 9%에서 65%로 오릅니다. RUSSELL은 2025만 보면 효과가 크지만 2023~2025로 보면 거의 사라집니다. 차량 효과를 분리한 이 추정도 관측 기록의 같은 자 비교와 같은 방향, 즉 LECLERC 1순위를 지지합니다. 다만 가정 위의 추정이라 보조 근거로만 씁니다.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환경을 두 단계로 나눠 봤습니다. 가로축은 같은 경기에서 STROLL과 비교한 값인데, 차가 다르니 차량 차이가 섞여 있습니다. 세로축은 같은 차를 탄 자기 팀 동료와 비교한 값이라 선수 차이만 남습니다. 오른쪽 위에 있으면서 11가지 조건에서 모두 반복된 선수는 LECLERC와 RUSSELL뿐입니다. McLaren 두 선수는 서로를 거의 못 이겨서 빠름이 차의 몫일 수 있고, VERSTAPPEN은 11개 조건 중 10개에서만 반복됐습니다.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선정 기준은 우리 팀 진단에서 출발합니다. 약점인 기본 페이스는 메우고, 강점인 타이어 유지는 잃지 않고, 피트는 선수가 아니라 팀 운영 과제로 둡니다. LECLERC와 RUSSELL 모두 같은 경기 비교와 같은 차 동료 비교를 통과합니다. 다만 동료가 다릅니다. RUSSELL의 동료 ANTONELLI는 신인입니다. 그래서 두 후보 모두 같은 차에서 함께 달린 적이 있는 HAMILTON을 같은 자로 썼습니다. 정제 데이터에서 직접 다시 계산하면 LECLERC는 HAMILTON보다 랩당 0.217초 빠르고 9경기 모두 빨랐으며, RUSSELL은 0.037초 느려 21경기 중 8경기만 빨랐습니다. 타이어 유지는 2025 한 시즌으로는 LECLERC가 하위지만, 2023~2025로 보면 둘의 차이가 오차 범위 안이라 순위를 가르지 않고 영입 전 확인 과제로 둡니다. HAMILTON은 2025가 Ferrari 첫해라 LECLERC가 유리하게 보였을 수 있다는 점도 함께 말합니다.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1111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315200" cy="365760"/>
          </a:xfrm>
          <a:prstGeom prst="rect">
            <a:avLst/>
          </a:prstGeom>
          <a:noFill/>
          <a:ln/>
        </p:spPr>
        <p:txBody>
          <a:bodyPr wrap="square" rtlCol="0"/>
          <a:lstStyle>
            <a:lvl1pPr indent="0" marL="0">
              <a:buNone/>
              <a:defRPr lang="en-US" sz="1400" b="1" dirty="0">
                <a:solidFill>
                  <a:srgbClr val="E10600"/>
                </a:solidFill>
              </a:defRPr>
            </a:lvl1pPr>
          </a:lstStyle>
          <a:p>
            <a:pPr indent="0" marL="0">
              <a:buNone/>
            </a:pPr>
            <a:endParaRPr lang="en-US" sz="1400" dirty="0"/>
          </a:p>
        </p:txBody>
      </p:sp>
      <p:sp>
        <p:nvSpPr>
          <p:cNvPr id="3" name="Text 0"/>
          <p:cNvSpPr/>
          <p:nvPr>
            <p:ph idx="101" type="title" hasCustomPrompt="1"/>
          </p:nvPr>
        </p:nvSpPr>
        <p:spPr>
          <a:xfrm>
            <a:off x="731520" y="1600200"/>
            <a:ext cx="7863840" cy="18288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731520" y="3611880"/>
            <a:ext cx="7498080" cy="1188720"/>
          </a:xfrm>
          <a:prstGeom prst="rect">
            <a:avLst/>
          </a:prstGeom>
          <a:noFill/>
          <a:ln/>
        </p:spPr>
        <p:txBody>
          <a:bodyPr wrap="square" rtlCol="0"/>
          <a:lstStyle>
            <a:lvl1pPr indent="0" marL="0">
              <a:buNone/>
              <a:defRPr lang="en-US" sz="1500" dirty="0">
                <a:solidFill>
                  <a:srgbClr val="D0D0D0"/>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011680" y="2514600"/>
            <a:ext cx="9144000" cy="82296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2011680" y="3474720"/>
            <a:ext cx="8778240" cy="1097280"/>
          </a:xfrm>
          <a:prstGeom prst="rect">
            <a:avLst/>
          </a:prstGeom>
          <a:noFill/>
          <a:ln/>
        </p:spPr>
        <p:txBody>
          <a:bodyPr wrap="square" rtlCol="0"/>
          <a:lstStyle>
            <a:lvl1pPr indent="0" marL="0">
              <a:buNone/>
              <a:defRPr lang="en-US" sz="1600" dirty="0">
                <a:solidFill>
                  <a:srgbClr val="D0D0D0"/>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rtlCol="0"/>
          <a:lstStyle>
            <a:lvl1pPr algn="l" indent="0" marL="0">
              <a:buNone/>
              <a:defRPr lang="en-US" sz="2800" b="1" dirty="0">
                <a:solidFill>
                  <a:srgbClr val="1A1A1A"/>
                </a:solidFill>
              </a:defRPr>
            </a:lvl1pPr>
          </a:lstStyle>
          <a:p>
            <a:pPr algn="l" indent="0" marL="0">
              <a:buNone/>
            </a:pP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rtlCol="0"/>
          <a:lstStyle>
            <a:lvl1pPr indent="0" marL="0">
              <a:buNone/>
              <a:defRPr lang="en-US" sz="1400" dirty="0">
                <a:solidFill>
                  <a:srgbClr val="6B6B6B"/>
                </a:solidFill>
              </a:defRPr>
            </a:lvl1pPr>
          </a:lstStyle>
          <a:p>
            <a:pPr indent="0" marL="0">
              <a:buNone/>
            </a:pPr>
            <a:endParaRPr lang="en-US" sz="1400" dirty="0"/>
          </a:p>
        </p:txBody>
      </p:sp>
      <p:sp>
        <p:nvSpPr>
          <p:cNvPr id="4" name="Text 0"/>
          <p:cNvSpPr/>
          <p:nvPr/>
        </p:nvSpPr>
        <p:spPr>
          <a:xfrm>
            <a:off x="548640" y="6446520"/>
            <a:ext cx="10058400" cy="256032"/>
          </a:xfrm>
          <a:prstGeom prst="rect">
            <a:avLst/>
          </a:prstGeom>
          <a:noFill/>
          <a:ln/>
        </p:spPr>
        <p:txBody>
          <a:bodyPr wrap="square" lIns="0" tIns="0" rIns="0" bIns="0" rtlCol="0" anchor="ctr"/>
          <a:lstStyle/>
          <a:p>
            <a:pPr indent="0" marL="0">
              <a:buNone/>
            </a:pPr>
            <a:r>
              <a:rPr lang="en-US" sz="900" dirty="0">
                <a:solidFill>
                  <a:srgbClr val="8C8C8C"/>
                </a:solidFill>
              </a:rPr>
              <a:t>F1 Team Builder 분석  ·  2023 ~ 2026-10-14 종료 본경기 87경기 · 정제 v0.3.0 · 본경기 기본 포인트(Sprint·보너스 제외)</a:t>
            </a:r>
            <a:endParaRPr lang="en-US" sz="9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73152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99"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7315200" cy="365760"/>
          </a:xfrm>
          <a:prstGeom prst="rect">
            <a:avLst/>
          </a:prstGeom>
          <a:noFill/>
          <a:ln/>
        </p:spPr>
        <p:txBody>
          <a:bodyPr wrap="square" lIns="0" tIns="0" rIns="0" bIns="0" rtlCol="0"/>
          <a:lstStyle/>
          <a:p>
            <a:pPr indent="0" marL="0">
              <a:buNone/>
            </a:pPr>
            <a:r>
              <a:rPr lang="en-US" sz="1400" b="1" dirty="0">
                <a:solidFill>
                  <a:srgbClr val="E10600"/>
                </a:solidFill>
              </a:rPr>
              <a:t>F1 TEAM BUILDER  ·  데이터 분석 보고</a:t>
            </a:r>
            <a:endParaRPr lang="en-US" sz="1400" dirty="0"/>
          </a:p>
        </p:txBody>
      </p:sp>
      <p:sp>
        <p:nvSpPr>
          <p:cNvPr id="3" name="Text 0"/>
          <p:cNvSpPr/>
          <p:nvPr>
            <p:ph idx="101" type="title" hasCustomPrompt="1"/>
          </p:nvPr>
        </p:nvSpPr>
        <p:spPr>
          <a:xfrm>
            <a:off x="731520" y="1600200"/>
            <a:ext cx="7863840" cy="1828800"/>
          </a:xfrm>
          <a:prstGeom prst="rect">
            <a:avLst/>
          </a:prstGeom>
          <a:noFill/>
          <a:ln/>
        </p:spPr>
        <p:txBody>
          <a:bodyPr wrap="square" lIns="0" tIns="0" rIns="0" bIns="0" rtlCol="0" anchor="t"/>
          <a:lstStyle/>
          <a:p>
            <a:pPr algn="l" indent="0" marL="0">
              <a:buNone/>
            </a:pPr>
            <a:r>
              <a:rPr lang="en-US" sz="4000" b="1" dirty="0">
                <a:solidFill>
                  <a:srgbClr val="FFFFFF"/>
                </a:solidFill>
              </a:rPr>
              <a:t>어떤 드라이버가</a:t>
            </a:r>
            <a:endParaRPr lang="en-US" sz="4000" dirty="0"/>
          </a:p>
          <a:p>
            <a:pPr algn="l" indent="0" marL="0">
              <a:buNone/>
            </a:pPr>
            <a:r>
              <a:rPr lang="en-US" sz="4000" b="1" dirty="0">
                <a:solidFill>
                  <a:srgbClr val="FFFFFF"/>
                </a:solidFill>
              </a:rPr>
              <a:t>우리 팀의 약점을 메울 수 있는가</a:t>
            </a:r>
            <a:endParaRPr lang="en-US" sz="4000" dirty="0"/>
          </a:p>
        </p:txBody>
      </p:sp>
      <p:sp>
        <p:nvSpPr>
          <p:cNvPr id="4" name="Text 0"/>
          <p:cNvSpPr/>
          <p:nvPr>
            <p:ph idx="102" type="body" hasCustomPrompt="1"/>
          </p:nvPr>
        </p:nvSpPr>
        <p:spPr>
          <a:xfrm>
            <a:off x="731520" y="3611880"/>
            <a:ext cx="7498080" cy="1188720"/>
          </a:xfrm>
          <a:prstGeom prst="rect">
            <a:avLst/>
          </a:prstGeom>
          <a:noFill/>
          <a:ln/>
        </p:spPr>
        <p:txBody>
          <a:bodyPr wrap="square" lIns="0" tIns="0" rIns="0" bIns="0" rtlCol="0" anchor="t"/>
          <a:lstStyle/>
          <a:p>
            <a:pPr indent="0" marL="0">
              <a:buNone/>
            </a:pPr>
            <a:r>
              <a:rPr lang="en-US" sz="1500" dirty="0">
                <a:solidFill>
                  <a:srgbClr val="D0D0D0"/>
                </a:solidFill>
              </a:rPr>
              <a:t>오염 데이터 6종과 분석 중 추가 수집한 5종, 87경기를 정제·검증해 직접 분석했습니다. 이 보고서의 모든 숫자는 같은 기준(2023 ~ 2026-10-14 종료 본경기, 정제 v0.3.0)에서 나왔습니다. 후보 지표(Gold)만 v0.2.0 결과 파일입니다.</a:t>
            </a:r>
            <a:endParaRPr lang="en-US" sz="1500" dirty="0"/>
          </a:p>
        </p:txBody>
      </p:sp>
      <p:sp>
        <p:nvSpPr>
          <p:cNvPr id="5" name="cover-num"/>
          <p:cNvSpPr txBox="1"/>
          <p:nvPr/>
        </p:nvSpPr>
        <p:spPr>
          <a:xfrm>
            <a:off x="8229600" y="3611880"/>
            <a:ext cx="3383280" cy="1280160"/>
          </a:xfrm>
          <a:prstGeom prst="rect">
            <a:avLst/>
          </a:prstGeom>
          <a:noFill/>
          <a:ln/>
        </p:spPr>
        <p:txBody>
          <a:bodyPr wrap="square" lIns="0" tIns="0" rIns="0" bIns="0" rtlCol="0" anchor="t"/>
          <a:lstStyle/>
          <a:p>
            <a:pPr algn="r" indent="0" marL="0">
              <a:buNone/>
            </a:pPr>
            <a:r>
              <a:rPr lang="en-US" sz="3600" b="1" dirty="0">
                <a:solidFill>
                  <a:srgbClr val="E10600"/>
                </a:solidFill>
              </a:rPr>
              <a:t>LECLERC</a:t>
            </a:r>
            <a:endParaRPr lang="en-US" sz="3600" dirty="0"/>
          </a:p>
          <a:p>
            <a:pPr algn="r" indent="0" marL="0">
              <a:buNone/>
            </a:pPr>
            <a:r>
              <a:rPr lang="en-US" sz="3600" b="1" dirty="0">
                <a:solidFill>
                  <a:srgbClr val="E10600"/>
                </a:solidFill>
              </a:rPr>
              <a:t>RUSSELL</a:t>
            </a:r>
            <a:endParaRPr lang="en-US" sz="3600" dirty="0"/>
          </a:p>
        </p:txBody>
      </p:sp>
      <p:sp>
        <p:nvSpPr>
          <p:cNvPr id="6" name="cover-num-label"/>
          <p:cNvSpPr txBox="1"/>
          <p:nvPr/>
        </p:nvSpPr>
        <p:spPr>
          <a:xfrm>
            <a:off x="7863840" y="4983480"/>
            <a:ext cx="3749040" cy="548640"/>
          </a:xfrm>
          <a:prstGeom prst="rect">
            <a:avLst/>
          </a:prstGeom>
          <a:noFill/>
          <a:ln/>
        </p:spPr>
        <p:txBody>
          <a:bodyPr wrap="square" lIns="0" tIns="0" rIns="0" bIns="0" rtlCol="0" anchor="t"/>
          <a:lstStyle/>
          <a:p>
            <a:pPr algn="r" indent="0" marL="0">
              <a:buNone/>
            </a:pPr>
            <a:r>
              <a:rPr lang="en-US" sz="1200" dirty="0">
                <a:solidFill>
                  <a:srgbClr val="B5B5B5"/>
                </a:solidFill>
              </a:rPr>
              <a:t>2025 Aston Martin STROLL 자리 · 후보 19명 중</a:t>
            </a:r>
            <a:endParaRPr lang="en-US" sz="1200" dirty="0"/>
          </a:p>
          <a:p>
            <a:pPr algn="r" indent="0" marL="0">
              <a:buNone/>
            </a:pPr>
            <a:r>
              <a:rPr lang="en-US" sz="1200" dirty="0">
                <a:solidFill>
                  <a:srgbClr val="B5B5B5"/>
                </a:solidFill>
              </a:rPr>
              <a:t>같은 경기·같은 차 비교를 모두 통과한 우선 검토 후보</a:t>
            </a:r>
            <a:endParaRPr lang="en-US" sz="1200" dirty="0"/>
          </a:p>
        </p:txBody>
      </p:sp>
      <p:sp>
        <p:nvSpPr>
          <p:cNvPr id="7" name="cover-rule"/>
          <p:cNvSpPr/>
          <p:nvPr/>
        </p:nvSpPr>
        <p:spPr>
          <a:xfrm>
            <a:off x="731520" y="5897880"/>
            <a:ext cx="10881360" cy="0"/>
          </a:xfrm>
          <a:prstGeom prst="line">
            <a:avLst/>
          </a:prstGeom>
          <a:noFill/>
          <a:ln w="9525">
            <a:solidFill>
              <a:srgbClr val="3A3A3A"/>
            </a:solidFill>
            <a:prstDash val="solid"/>
          </a:ln>
        </p:spPr>
        <p:txBody>
          <a:bodyPr/>
          <a:p/>
        </p:txBody>
      </p:sp>
      <p:sp>
        <p:nvSpPr>
          <p:cNvPr id="8" name="cover-foot"/>
          <p:cNvSpPr txBox="1"/>
          <p:nvPr/>
        </p:nvSpPr>
        <p:spPr>
          <a:xfrm>
            <a:off x="731520" y="6035040"/>
            <a:ext cx="10881360" cy="274320"/>
          </a:xfrm>
          <a:prstGeom prst="rect">
            <a:avLst/>
          </a:prstGeom>
          <a:noFill/>
          <a:ln/>
        </p:spPr>
        <p:txBody>
          <a:bodyPr wrap="square" lIns="0" tIns="0" rIns="0" bIns="0" rtlCol="0" anchor="t"/>
          <a:lstStyle/>
          <a:p>
            <a:pPr indent="0" marL="0">
              <a:buNone/>
            </a:pPr>
            <a:r>
              <a:rPr lang="en-US" sz="1100" dirty="0">
                <a:solidFill>
                  <a:srgbClr val="8C8C8C"/>
                </a:solidFill>
              </a:rPr>
              <a:t>분석 기간 2023 ~ 2026-10-14   |   Team 1 · 데이터 표준화 프로젝트   |   OpenF1 공개 데이터 기반</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731520"/>
          </a:xfrm>
          <a:prstGeom prst="rect">
            <a:avLst/>
          </a:prstGeom>
          <a:noFill/>
          <a:ln/>
        </p:spPr>
        <p:txBody>
          <a:bodyPr wrap="square" lIns="0" tIns="0" rIns="0" bIns="0" rtlCol="0" anchor="ctr"/>
          <a:lstStyle/>
          <a:p>
            <a:pPr algn="l" indent="0" marL="0">
              <a:buNone/>
            </a:pPr>
            <a:r>
              <a:rPr lang="en-US" sz="3000" b="1" dirty="0">
                <a:solidFill>
                  <a:srgbClr val="FFFFFF"/>
                </a:solidFill>
              </a:rPr>
              <a:t>결론</a:t>
            </a:r>
            <a:endParaRPr lang="en-US" sz="3000" dirty="0"/>
          </a:p>
        </p:txBody>
      </p:sp>
      <p:sp>
        <p:nvSpPr>
          <p:cNvPr id="3" name="concl-head"/>
          <p:cNvSpPr txBox="1"/>
          <p:nvPr/>
        </p:nvSpPr>
        <p:spPr>
          <a:xfrm>
            <a:off x="731520" y="1417320"/>
            <a:ext cx="10698480" cy="731520"/>
          </a:xfrm>
          <a:prstGeom prst="rect">
            <a:avLst/>
          </a:prstGeom>
          <a:noFill/>
          <a:ln/>
        </p:spPr>
        <p:txBody>
          <a:bodyPr wrap="square" lIns="0" tIns="0" rIns="0" bIns="0" rtlCol="0" anchor="t"/>
          <a:lstStyle/>
          <a:p>
            <a:pPr indent="0" marL="0">
              <a:buNone/>
            </a:pPr>
            <a:r>
              <a:rPr lang="en-US" sz="3200" b="1" dirty="0">
                <a:solidFill>
                  <a:srgbClr val="FFFFFF"/>
                </a:solidFill>
              </a:rPr>
              <a:t>STROLL 자리에는 </a:t>
            </a:r>
            <a:pPr indent="0" marL="0">
              <a:buNone/>
            </a:pPr>
            <a:r>
              <a:rPr lang="en-US" sz="3200" b="1" dirty="0">
                <a:solidFill>
                  <a:srgbClr val="E10600"/>
                </a:solidFill>
              </a:rPr>
              <a:t>Charles LECLERC</a:t>
            </a:r>
            <a:pPr indent="0" marL="0">
              <a:buNone/>
            </a:pPr>
            <a:r>
              <a:rPr lang="en-US" sz="3200" b="1" dirty="0">
                <a:solidFill>
                  <a:srgbClr val="FFFFFF"/>
                </a:solidFill>
              </a:rPr>
              <a:t>를 1순위로 검토한다</a:t>
            </a:r>
            <a:endParaRPr lang="en-US" sz="3200" dirty="0"/>
          </a:p>
        </p:txBody>
      </p:sp>
      <p:sp>
        <p:nvSpPr>
          <p:cNvPr id="4" name="concl-sub"/>
          <p:cNvSpPr txBox="1"/>
          <p:nvPr/>
        </p:nvSpPr>
        <p:spPr>
          <a:xfrm>
            <a:off x="731520" y="2194560"/>
            <a:ext cx="10698480" cy="365760"/>
          </a:xfrm>
          <a:prstGeom prst="rect">
            <a:avLst/>
          </a:prstGeom>
          <a:noFill/>
          <a:ln/>
        </p:spPr>
        <p:txBody>
          <a:bodyPr wrap="square" lIns="0" tIns="0" rIns="0" bIns="0" rtlCol="0" anchor="t"/>
          <a:lstStyle/>
          <a:p>
            <a:pPr indent="0" marL="0">
              <a:buNone/>
            </a:pPr>
            <a:r>
              <a:rPr lang="en-US" sz="1400" dirty="0">
                <a:solidFill>
                  <a:srgbClr val="B5B5B5"/>
                </a:solidFill>
              </a:rPr>
              <a:t>2025 Aston Martin · 후보 19명을 같은 경기 비교와 같은 차(동료) 비교로 나눠 보고, 둘 다 모든 조건에서 반복된 선수만 남겼다</a:t>
            </a:r>
            <a:endParaRPr lang="en-US" sz="1400" dirty="0"/>
          </a:p>
        </p:txBody>
      </p:sp>
      <p:sp>
        <p:nvSpPr>
          <p:cNvPr id="5" name="concl-card-0"/>
          <p:cNvSpPr/>
          <p:nvPr/>
        </p:nvSpPr>
        <p:spPr>
          <a:xfrm>
            <a:off x="731520" y="2834640"/>
            <a:ext cx="3429000" cy="2514600"/>
          </a:xfrm>
          <a:prstGeom prst="roundRect">
            <a:avLst>
              <a:gd name="adj" fmla="val 2182"/>
            </a:avLst>
          </a:prstGeom>
          <a:solidFill>
            <a:srgbClr val="1F1F1F"/>
          </a:solidFill>
          <a:ln w="15875">
            <a:solidFill>
              <a:srgbClr val="E10600"/>
            </a:solidFill>
            <a:prstDash val="solid"/>
          </a:ln>
        </p:spPr>
        <p:txBody>
          <a:bodyPr/>
          <a:p/>
        </p:txBody>
      </p:sp>
      <p:sp>
        <p:nvSpPr>
          <p:cNvPr id="6" name="concl-h-0"/>
          <p:cNvSpPr txBox="1"/>
          <p:nvPr/>
        </p:nvSpPr>
        <p:spPr>
          <a:xfrm>
            <a:off x="960120" y="3017520"/>
            <a:ext cx="3017520" cy="320040"/>
          </a:xfrm>
          <a:prstGeom prst="rect">
            <a:avLst/>
          </a:prstGeom>
          <a:noFill/>
          <a:ln/>
        </p:spPr>
        <p:txBody>
          <a:bodyPr wrap="square" lIns="0" tIns="0" rIns="0" bIns="0" rtlCol="0" anchor="t"/>
          <a:lstStyle/>
          <a:p>
            <a:pPr indent="0" marL="0">
              <a:buNone/>
            </a:pPr>
            <a:r>
              <a:rPr lang="en-US" sz="1300" b="1" dirty="0">
                <a:solidFill>
                  <a:srgbClr val="E10600"/>
                </a:solidFill>
              </a:rPr>
              <a:t>1순위 · LECLERC</a:t>
            </a:r>
            <a:endParaRPr lang="en-US" sz="1300" dirty="0"/>
          </a:p>
        </p:txBody>
      </p:sp>
      <p:sp>
        <p:nvSpPr>
          <p:cNvPr id="7" name="concl-n-0"/>
          <p:cNvSpPr txBox="1"/>
          <p:nvPr/>
        </p:nvSpPr>
        <p:spPr>
          <a:xfrm>
            <a:off x="960120" y="3383280"/>
            <a:ext cx="3017520" cy="457200"/>
          </a:xfrm>
          <a:prstGeom prst="rect">
            <a:avLst/>
          </a:prstGeom>
          <a:noFill/>
          <a:ln/>
        </p:spPr>
        <p:txBody>
          <a:bodyPr wrap="square" lIns="0" tIns="0" rIns="0" bIns="0" rtlCol="0" anchor="t"/>
          <a:lstStyle/>
          <a:p>
            <a:pPr indent="0" marL="0">
              <a:buNone/>
            </a:pPr>
            <a:r>
              <a:rPr lang="en-US" sz="2200" b="1" dirty="0">
                <a:solidFill>
                  <a:srgbClr val="FFFFFF"/>
                </a:solidFill>
              </a:rPr>
              <a:t>−1.12%p · −0.202초</a:t>
            </a:r>
            <a:endParaRPr lang="en-US" sz="2200" dirty="0"/>
          </a:p>
        </p:txBody>
      </p:sp>
      <p:sp>
        <p:nvSpPr>
          <p:cNvPr id="8" name="concl-d-0"/>
          <p:cNvSpPr txBox="1"/>
          <p:nvPr/>
        </p:nvSpPr>
        <p:spPr>
          <a:xfrm>
            <a:off x="960120" y="3977640"/>
            <a:ext cx="3017520" cy="1280160"/>
          </a:xfrm>
          <a:prstGeom prst="rect">
            <a:avLst/>
          </a:prstGeom>
          <a:noFill/>
          <a:ln/>
        </p:spPr>
        <p:txBody>
          <a:bodyPr wrap="square" lIns="0" tIns="0" rIns="0" bIns="0" rtlCol="0" anchor="t"/>
          <a:lstStyle/>
          <a:p>
            <a:pPr indent="0" marL="0">
              <a:buNone/>
            </a:pPr>
            <a:r>
              <a:rPr lang="en-US" sz="1200" dirty="0">
                <a:solidFill>
                  <a:srgbClr val="D0D0D0"/>
                </a:solidFill>
              </a:rPr>
              <a:t>같은 경기·같은 차 비교를 11가지 조건에서 모두 통과했고, 두 후보를 같은 동료 HAMILTON 기준으로 재도 −0.217초/랩(9/9경기) 앞선다. 타이어 유지는 영입 전 확인한다.</a:t>
            </a:r>
            <a:endParaRPr lang="en-US" sz="1200" dirty="0"/>
          </a:p>
        </p:txBody>
      </p:sp>
      <p:sp>
        <p:nvSpPr>
          <p:cNvPr id="9" name="concl-card-1"/>
          <p:cNvSpPr/>
          <p:nvPr/>
        </p:nvSpPr>
        <p:spPr>
          <a:xfrm>
            <a:off x="4361688" y="2834640"/>
            <a:ext cx="3429000" cy="2514600"/>
          </a:xfrm>
          <a:prstGeom prst="roundRect">
            <a:avLst>
              <a:gd name="adj" fmla="val 2182"/>
            </a:avLst>
          </a:prstGeom>
          <a:solidFill>
            <a:srgbClr val="1F1F1F"/>
          </a:solidFill>
          <a:ln w="15875">
            <a:solidFill>
              <a:srgbClr val="1F1F1F"/>
            </a:solidFill>
            <a:prstDash val="solid"/>
          </a:ln>
        </p:spPr>
        <p:txBody>
          <a:bodyPr/>
          <a:p/>
        </p:txBody>
      </p:sp>
      <p:sp>
        <p:nvSpPr>
          <p:cNvPr id="10" name="concl-h-1"/>
          <p:cNvSpPr txBox="1"/>
          <p:nvPr/>
        </p:nvSpPr>
        <p:spPr>
          <a:xfrm>
            <a:off x="4590288" y="3017520"/>
            <a:ext cx="3017520" cy="320040"/>
          </a:xfrm>
          <a:prstGeom prst="rect">
            <a:avLst/>
          </a:prstGeom>
          <a:noFill/>
          <a:ln/>
        </p:spPr>
        <p:txBody>
          <a:bodyPr wrap="square" lIns="0" tIns="0" rIns="0" bIns="0" rtlCol="0" anchor="t"/>
          <a:lstStyle/>
          <a:p>
            <a:pPr indent="0" marL="0">
              <a:buNone/>
            </a:pPr>
            <a:r>
              <a:rPr lang="en-US" sz="1300" b="1" dirty="0">
                <a:solidFill>
                  <a:srgbClr val="D0D0D0"/>
                </a:solidFill>
              </a:rPr>
              <a:t>2순위 · RUSSELL</a:t>
            </a:r>
            <a:endParaRPr lang="en-US" sz="1300" dirty="0"/>
          </a:p>
        </p:txBody>
      </p:sp>
      <p:sp>
        <p:nvSpPr>
          <p:cNvPr id="11" name="concl-n-1"/>
          <p:cNvSpPr txBox="1"/>
          <p:nvPr/>
        </p:nvSpPr>
        <p:spPr>
          <a:xfrm>
            <a:off x="4590288" y="3383280"/>
            <a:ext cx="3017520" cy="457200"/>
          </a:xfrm>
          <a:prstGeom prst="rect">
            <a:avLst/>
          </a:prstGeom>
          <a:noFill/>
          <a:ln/>
        </p:spPr>
        <p:txBody>
          <a:bodyPr wrap="square" lIns="0" tIns="0" rIns="0" bIns="0" rtlCol="0" anchor="t"/>
          <a:lstStyle/>
          <a:p>
            <a:pPr indent="0" marL="0">
              <a:buNone/>
            </a:pPr>
            <a:r>
              <a:rPr lang="en-US" sz="2200" b="1" dirty="0">
                <a:solidFill>
                  <a:srgbClr val="FFFFFF"/>
                </a:solidFill>
              </a:rPr>
              <a:t>−1.03%p · −0.138초</a:t>
            </a:r>
            <a:endParaRPr lang="en-US" sz="2200" dirty="0"/>
          </a:p>
        </p:txBody>
      </p:sp>
      <p:sp>
        <p:nvSpPr>
          <p:cNvPr id="12" name="concl-d-1"/>
          <p:cNvSpPr txBox="1"/>
          <p:nvPr/>
        </p:nvSpPr>
        <p:spPr>
          <a:xfrm>
            <a:off x="4590288" y="3977640"/>
            <a:ext cx="3017520" cy="1280160"/>
          </a:xfrm>
          <a:prstGeom prst="rect">
            <a:avLst/>
          </a:prstGeom>
          <a:noFill/>
          <a:ln/>
        </p:spPr>
        <p:txBody>
          <a:bodyPr wrap="square" lIns="0" tIns="0" rIns="0" bIns="0" rtlCol="0" anchor="t"/>
          <a:lstStyle/>
          <a:p>
            <a:pPr indent="0" marL="0">
              <a:buNone/>
            </a:pPr>
            <a:r>
              <a:rPr lang="en-US" sz="1200" dirty="0">
                <a:solidFill>
                  <a:srgbClr val="D0D0D0"/>
                </a:solidFill>
              </a:rPr>
              <a:t>같은 두 비교는 통과했지만 동료 우위가 신인 ANTONELLI 기준이고, HAMILTON 기준으로는 +0.037초(8/21경기)로 비슷하다.</a:t>
            </a:r>
            <a:endParaRPr lang="en-US" sz="1200" dirty="0"/>
          </a:p>
        </p:txBody>
      </p:sp>
      <p:sp>
        <p:nvSpPr>
          <p:cNvPr id="13" name="concl-card-2"/>
          <p:cNvSpPr/>
          <p:nvPr/>
        </p:nvSpPr>
        <p:spPr>
          <a:xfrm>
            <a:off x="7991856" y="2834640"/>
            <a:ext cx="3429000" cy="2514600"/>
          </a:xfrm>
          <a:prstGeom prst="roundRect">
            <a:avLst>
              <a:gd name="adj" fmla="val 2182"/>
            </a:avLst>
          </a:prstGeom>
          <a:solidFill>
            <a:srgbClr val="1F1F1F"/>
          </a:solidFill>
          <a:ln w="15875">
            <a:solidFill>
              <a:srgbClr val="1F1F1F"/>
            </a:solidFill>
            <a:prstDash val="solid"/>
          </a:ln>
        </p:spPr>
        <p:txBody>
          <a:bodyPr/>
          <a:p/>
        </p:txBody>
      </p:sp>
      <p:sp>
        <p:nvSpPr>
          <p:cNvPr id="14" name="concl-h-2"/>
          <p:cNvSpPr txBox="1"/>
          <p:nvPr/>
        </p:nvSpPr>
        <p:spPr>
          <a:xfrm>
            <a:off x="8220456" y="3017520"/>
            <a:ext cx="3017520" cy="320040"/>
          </a:xfrm>
          <a:prstGeom prst="rect">
            <a:avLst/>
          </a:prstGeom>
          <a:noFill/>
          <a:ln/>
        </p:spPr>
        <p:txBody>
          <a:bodyPr wrap="square" lIns="0" tIns="0" rIns="0" bIns="0" rtlCol="0" anchor="t"/>
          <a:lstStyle/>
          <a:p>
            <a:pPr indent="0" marL="0">
              <a:buNone/>
            </a:pPr>
            <a:r>
              <a:rPr lang="en-US" sz="1300" b="1" dirty="0">
                <a:solidFill>
                  <a:srgbClr val="D0D0D0"/>
                </a:solidFill>
              </a:rPr>
              <a:t>영입과 별개로</a:t>
            </a:r>
            <a:endParaRPr lang="en-US" sz="1300" dirty="0"/>
          </a:p>
        </p:txBody>
      </p:sp>
      <p:sp>
        <p:nvSpPr>
          <p:cNvPr id="15" name="concl-n-2"/>
          <p:cNvSpPr txBox="1"/>
          <p:nvPr/>
        </p:nvSpPr>
        <p:spPr>
          <a:xfrm>
            <a:off x="8220456" y="3383280"/>
            <a:ext cx="3017520" cy="457200"/>
          </a:xfrm>
          <a:prstGeom prst="rect">
            <a:avLst/>
          </a:prstGeom>
          <a:noFill/>
          <a:ln/>
        </p:spPr>
        <p:txBody>
          <a:bodyPr wrap="square" lIns="0" tIns="0" rIns="0" bIns="0" rtlCol="0" anchor="t"/>
          <a:lstStyle/>
          <a:p>
            <a:pPr indent="0" marL="0">
              <a:buNone/>
            </a:pPr>
            <a:r>
              <a:rPr lang="en-US" sz="2200" b="1" dirty="0">
                <a:solidFill>
                  <a:srgbClr val="FFFFFF"/>
                </a:solidFill>
              </a:rPr>
              <a:t>피트 0.28초 늦음</a:t>
            </a:r>
            <a:endParaRPr lang="en-US" sz="2200" dirty="0"/>
          </a:p>
        </p:txBody>
      </p:sp>
      <p:sp>
        <p:nvSpPr>
          <p:cNvPr id="16" name="concl-d-2"/>
          <p:cNvSpPr txBox="1"/>
          <p:nvPr/>
        </p:nvSpPr>
        <p:spPr>
          <a:xfrm>
            <a:off x="8220456" y="3977640"/>
            <a:ext cx="3017520" cy="1280160"/>
          </a:xfrm>
          <a:prstGeom prst="rect">
            <a:avLst/>
          </a:prstGeom>
          <a:noFill/>
          <a:ln/>
        </p:spPr>
        <p:txBody>
          <a:bodyPr wrap="square" lIns="0" tIns="0" rIns="0" bIns="0" rtlCol="0" anchor="t"/>
          <a:lstStyle/>
          <a:p>
            <a:pPr indent="0" marL="0">
              <a:buNone/>
            </a:pPr>
            <a:r>
              <a:rPr lang="en-US" sz="1200" dirty="0">
                <a:solidFill>
                  <a:srgbClr val="D0D0D0"/>
                </a:solidFill>
              </a:rPr>
              <a:t>같은 경기 타 팀보다 피트레인 통과가 0.28초 늦고, 1초 넘게 늦은 피트가 네 번에 한 번이다 — 지금 바로 점검할 수 있다.</a:t>
            </a:r>
            <a:endParaRPr lang="en-US" sz="1200" dirty="0"/>
          </a:p>
        </p:txBody>
      </p:sp>
      <p:sp>
        <p:nvSpPr>
          <p:cNvPr id="17" name="concl-foot"/>
          <p:cNvSpPr txBox="1"/>
          <p:nvPr/>
        </p:nvSpPr>
        <p:spPr>
          <a:xfrm>
            <a:off x="731520" y="5669280"/>
            <a:ext cx="10698480" cy="457200"/>
          </a:xfrm>
          <a:prstGeom prst="rect">
            <a:avLst/>
          </a:prstGeom>
          <a:noFill/>
          <a:ln/>
        </p:spPr>
        <p:txBody>
          <a:bodyPr wrap="square" lIns="0" tIns="0" rIns="0" bIns="0" rtlCol="0" anchor="t"/>
          <a:lstStyle/>
          <a:p>
            <a:pPr indent="0" marL="0">
              <a:buNone/>
            </a:pPr>
            <a:r>
              <a:rPr lang="en-US" sz="1100" dirty="0">
                <a:solidFill>
                  <a:srgbClr val="8C8C8C"/>
                </a:solidFill>
              </a:rPr>
              <a:t>가장 빠른 NORRIS·VERSTAPPEN·PIASTRI는 자기 팀 동료 대비 우위가 반복되지 않아 차량 이점을 배제하지 못했다 · 계약 가능성과 이적 후 성과는 판단하지 않는다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한 장 요약</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기준: 2023 ~ 2026-10-14 종료 본경기 87경기 · 정제 v0.3.0 (후보 지표 Gold는 v0.2.0) · 본경기 기본 포인트(Sprint·보너스 제외)</a:t>
            </a:r>
            <a:endParaRPr lang="en-US" sz="1400" dirty="0"/>
          </a:p>
        </p:txBody>
      </p:sp>
      <p:sp>
        <p:nvSpPr>
          <p:cNvPr id="4" name="sum-kpi-0-card"/>
          <p:cNvSpPr/>
          <p:nvPr/>
        </p:nvSpPr>
        <p:spPr>
          <a:xfrm>
            <a:off x="548640" y="1508760"/>
            <a:ext cx="2651760" cy="1143000"/>
          </a:xfrm>
          <a:prstGeom prst="roundRect">
            <a:avLst>
              <a:gd name="adj" fmla="val 4800"/>
            </a:avLst>
          </a:prstGeom>
          <a:solidFill>
            <a:srgbClr val="F4F4F4"/>
          </a:solidFill>
          <a:ln w="9525">
            <a:solidFill>
              <a:srgbClr val="F4F4F4"/>
            </a:solidFill>
            <a:prstDash val="solid"/>
          </a:ln>
        </p:spPr>
        <p:txBody>
          <a:bodyPr/>
          <a:p/>
        </p:txBody>
      </p:sp>
      <p:sp>
        <p:nvSpPr>
          <p:cNvPr id="5" name="sum-kpi-0-num"/>
          <p:cNvSpPr txBox="1"/>
          <p:nvPr/>
        </p:nvSpPr>
        <p:spPr>
          <a:xfrm>
            <a:off x="777240" y="1673352"/>
            <a:ext cx="2286000" cy="548640"/>
          </a:xfrm>
          <a:prstGeom prst="rect">
            <a:avLst/>
          </a:prstGeom>
          <a:noFill/>
          <a:ln/>
        </p:spPr>
        <p:txBody>
          <a:bodyPr wrap="square" lIns="0" tIns="0" rIns="0" bIns="0" rtlCol="0" anchor="t"/>
          <a:lstStyle/>
          <a:p>
            <a:pPr indent="0" marL="0">
              <a:buNone/>
            </a:pPr>
            <a:r>
              <a:rPr lang="en-US" sz="2800" b="1" dirty="0">
                <a:solidFill>
                  <a:srgbClr val="1A1A1A"/>
                </a:solidFill>
              </a:rPr>
              <a:t>87경기</a:t>
            </a:r>
            <a:endParaRPr lang="en-US" sz="2800" dirty="0"/>
          </a:p>
        </p:txBody>
      </p:sp>
      <p:sp>
        <p:nvSpPr>
          <p:cNvPr id="6" name="sum-kpi-0-label"/>
          <p:cNvSpPr txBox="1"/>
          <p:nvPr/>
        </p:nvSpPr>
        <p:spPr>
          <a:xfrm>
            <a:off x="777240" y="2240280"/>
            <a:ext cx="2286000" cy="320040"/>
          </a:xfrm>
          <a:prstGeom prst="rect">
            <a:avLst/>
          </a:prstGeom>
          <a:noFill/>
          <a:ln/>
        </p:spPr>
        <p:txBody>
          <a:bodyPr wrap="square" lIns="0" tIns="0" rIns="0" bIns="0" rtlCol="0" anchor="t"/>
          <a:lstStyle/>
          <a:p>
            <a:pPr indent="0" marL="0">
              <a:buNone/>
            </a:pPr>
            <a:r>
              <a:rPr lang="en-US" sz="1100" dirty="0">
                <a:solidFill>
                  <a:srgbClr val="6B6B6B"/>
                </a:solidFill>
              </a:rPr>
              <a:t>분석 본경기 (11종 데이터)</a:t>
            </a:r>
            <a:endParaRPr lang="en-US" sz="1100" dirty="0"/>
          </a:p>
        </p:txBody>
      </p:sp>
      <p:sp>
        <p:nvSpPr>
          <p:cNvPr id="7" name="sum-kpi-1-card"/>
          <p:cNvSpPr/>
          <p:nvPr/>
        </p:nvSpPr>
        <p:spPr>
          <a:xfrm>
            <a:off x="3383280" y="1508760"/>
            <a:ext cx="2651760" cy="1143000"/>
          </a:xfrm>
          <a:prstGeom prst="roundRect">
            <a:avLst>
              <a:gd name="adj" fmla="val 4800"/>
            </a:avLst>
          </a:prstGeom>
          <a:solidFill>
            <a:srgbClr val="F4F4F4"/>
          </a:solidFill>
          <a:ln w="9525">
            <a:solidFill>
              <a:srgbClr val="F4F4F4"/>
            </a:solidFill>
            <a:prstDash val="solid"/>
          </a:ln>
        </p:spPr>
        <p:txBody>
          <a:bodyPr/>
          <a:p/>
        </p:txBody>
      </p:sp>
      <p:sp>
        <p:nvSpPr>
          <p:cNvPr id="8" name="sum-kpi-1-num"/>
          <p:cNvSpPr txBox="1"/>
          <p:nvPr/>
        </p:nvSpPr>
        <p:spPr>
          <a:xfrm>
            <a:off x="3611880" y="1673352"/>
            <a:ext cx="2286000" cy="548640"/>
          </a:xfrm>
          <a:prstGeom prst="rect">
            <a:avLst/>
          </a:prstGeom>
          <a:noFill/>
          <a:ln/>
        </p:spPr>
        <p:txBody>
          <a:bodyPr wrap="square" lIns="0" tIns="0" rIns="0" bIns="0" rtlCol="0" anchor="t"/>
          <a:lstStyle/>
          <a:p>
            <a:pPr indent="0" marL="0">
              <a:buNone/>
            </a:pPr>
            <a:r>
              <a:rPr lang="en-US" sz="2800" b="1" dirty="0">
                <a:solidFill>
                  <a:srgbClr val="1A1A1A"/>
                </a:solidFill>
              </a:rPr>
              <a:t>1,357셀</a:t>
            </a:r>
            <a:endParaRPr lang="en-US" sz="2800" dirty="0"/>
          </a:p>
        </p:txBody>
      </p:sp>
      <p:sp>
        <p:nvSpPr>
          <p:cNvPr id="9" name="sum-kpi-1-label"/>
          <p:cNvSpPr txBox="1"/>
          <p:nvPr/>
        </p:nvSpPr>
        <p:spPr>
          <a:xfrm>
            <a:off x="3611880" y="2240280"/>
            <a:ext cx="2286000" cy="320040"/>
          </a:xfrm>
          <a:prstGeom prst="rect">
            <a:avLst/>
          </a:prstGeom>
          <a:noFill/>
          <a:ln/>
        </p:spPr>
        <p:txBody>
          <a:bodyPr wrap="square" lIns="0" tIns="0" rIns="0" bIns="0" rtlCol="0" anchor="t"/>
          <a:lstStyle/>
          <a:p>
            <a:pPr indent="0" marL="0">
              <a:buNone/>
            </a:pPr>
            <a:r>
              <a:rPr lang="en-US" sz="1100" dirty="0">
                <a:solidFill>
                  <a:srgbClr val="6B6B6B"/>
                </a:solidFill>
              </a:rPr>
              <a:t>복구 (탐지 28,071건 중 근거 있는 것만)</a:t>
            </a:r>
            <a:endParaRPr lang="en-US" sz="1100" dirty="0"/>
          </a:p>
        </p:txBody>
      </p:sp>
      <p:sp>
        <p:nvSpPr>
          <p:cNvPr id="10" name="sum-kpi-2-card"/>
          <p:cNvSpPr/>
          <p:nvPr/>
        </p:nvSpPr>
        <p:spPr>
          <a:xfrm>
            <a:off x="6217920" y="1508760"/>
            <a:ext cx="2651760" cy="1143000"/>
          </a:xfrm>
          <a:prstGeom prst="roundRect">
            <a:avLst>
              <a:gd name="adj" fmla="val 4800"/>
            </a:avLst>
          </a:prstGeom>
          <a:solidFill>
            <a:srgbClr val="F4F4F4"/>
          </a:solidFill>
          <a:ln w="9525">
            <a:solidFill>
              <a:srgbClr val="F4F4F4"/>
            </a:solidFill>
            <a:prstDash val="solid"/>
          </a:ln>
        </p:spPr>
        <p:txBody>
          <a:bodyPr/>
          <a:p/>
        </p:txBody>
      </p:sp>
      <p:sp>
        <p:nvSpPr>
          <p:cNvPr id="11" name="sum-kpi-2-num"/>
          <p:cNvSpPr txBox="1"/>
          <p:nvPr/>
        </p:nvSpPr>
        <p:spPr>
          <a:xfrm>
            <a:off x="6446520" y="1673352"/>
            <a:ext cx="2286000" cy="548640"/>
          </a:xfrm>
          <a:prstGeom prst="rect">
            <a:avLst/>
          </a:prstGeom>
          <a:noFill/>
          <a:ln/>
        </p:spPr>
        <p:txBody>
          <a:bodyPr wrap="square" lIns="0" tIns="0" rIns="0" bIns="0" rtlCol="0" anchor="t"/>
          <a:lstStyle/>
          <a:p>
            <a:pPr indent="0" marL="0">
              <a:buNone/>
            </a:pPr>
            <a:r>
              <a:rPr lang="en-US" sz="2800" b="1" dirty="0">
                <a:solidFill>
                  <a:srgbClr val="1A1A1A"/>
                </a:solidFill>
              </a:rPr>
              <a:t>FAIL 12→0</a:t>
            </a:r>
            <a:endParaRPr lang="en-US" sz="2800" dirty="0"/>
          </a:p>
        </p:txBody>
      </p:sp>
      <p:sp>
        <p:nvSpPr>
          <p:cNvPr id="12" name="sum-kpi-2-label"/>
          <p:cNvSpPr txBox="1"/>
          <p:nvPr/>
        </p:nvSpPr>
        <p:spPr>
          <a:xfrm>
            <a:off x="6446520" y="2240280"/>
            <a:ext cx="2286000" cy="320040"/>
          </a:xfrm>
          <a:prstGeom prst="rect">
            <a:avLst/>
          </a:prstGeom>
          <a:noFill/>
          <a:ln/>
        </p:spPr>
        <p:txBody>
          <a:bodyPr wrap="square" lIns="0" tIns="0" rIns="0" bIns="0" rtlCol="0" anchor="t"/>
          <a:lstStyle/>
          <a:p>
            <a:pPr indent="0" marL="0">
              <a:buNone/>
            </a:pPr>
            <a:r>
              <a:rPr lang="en-US" sz="1100" dirty="0">
                <a:solidFill>
                  <a:srgbClr val="6B6B6B"/>
                </a:solidFill>
              </a:rPr>
              <a:t>정제 전 → 후 · 검증 154개 · pandas = MySQL</a:t>
            </a:r>
            <a:endParaRPr lang="en-US" sz="1100" dirty="0"/>
          </a:p>
        </p:txBody>
      </p:sp>
      <p:sp>
        <p:nvSpPr>
          <p:cNvPr id="13" name="sum-kpi-3-card"/>
          <p:cNvSpPr/>
          <p:nvPr/>
        </p:nvSpPr>
        <p:spPr>
          <a:xfrm>
            <a:off x="9052560" y="1508760"/>
            <a:ext cx="2651760" cy="1143000"/>
          </a:xfrm>
          <a:prstGeom prst="roundRect">
            <a:avLst>
              <a:gd name="adj" fmla="val 4800"/>
            </a:avLst>
          </a:prstGeom>
          <a:solidFill>
            <a:srgbClr val="F4F4F4"/>
          </a:solidFill>
          <a:ln w="9525">
            <a:solidFill>
              <a:srgbClr val="F4F4F4"/>
            </a:solidFill>
            <a:prstDash val="solid"/>
          </a:ln>
        </p:spPr>
        <p:txBody>
          <a:bodyPr/>
          <a:p/>
        </p:txBody>
      </p:sp>
      <p:sp>
        <p:nvSpPr>
          <p:cNvPr id="14" name="sum-kpi-3-num"/>
          <p:cNvSpPr txBox="1"/>
          <p:nvPr/>
        </p:nvSpPr>
        <p:spPr>
          <a:xfrm>
            <a:off x="9281160" y="1673352"/>
            <a:ext cx="2286000" cy="548640"/>
          </a:xfrm>
          <a:prstGeom prst="rect">
            <a:avLst/>
          </a:prstGeom>
          <a:noFill/>
          <a:ln/>
        </p:spPr>
        <p:txBody>
          <a:bodyPr wrap="square" lIns="0" tIns="0" rIns="0" bIns="0" rtlCol="0" anchor="t"/>
          <a:lstStyle/>
          <a:p>
            <a:pPr indent="0" marL="0">
              <a:buNone/>
            </a:pPr>
            <a:r>
              <a:rPr lang="en-US" sz="2800" b="1" dirty="0">
                <a:solidFill>
                  <a:srgbClr val="E10600"/>
                </a:solidFill>
              </a:rPr>
              <a:t>2명</a:t>
            </a:r>
            <a:endParaRPr lang="en-US" sz="2800" dirty="0"/>
          </a:p>
        </p:txBody>
      </p:sp>
      <p:sp>
        <p:nvSpPr>
          <p:cNvPr id="15" name="sum-kpi-3-label"/>
          <p:cNvSpPr txBox="1"/>
          <p:nvPr/>
        </p:nvSpPr>
        <p:spPr>
          <a:xfrm>
            <a:off x="9281160" y="2240280"/>
            <a:ext cx="2286000" cy="320040"/>
          </a:xfrm>
          <a:prstGeom prst="rect">
            <a:avLst/>
          </a:prstGeom>
          <a:noFill/>
          <a:ln/>
        </p:spPr>
        <p:txBody>
          <a:bodyPr wrap="square" lIns="0" tIns="0" rIns="0" bIns="0" rtlCol="0" anchor="t"/>
          <a:lstStyle/>
          <a:p>
            <a:pPr indent="0" marL="0">
              <a:buNone/>
            </a:pPr>
            <a:r>
              <a:rPr lang="en-US" sz="1100" dirty="0">
                <a:solidFill>
                  <a:srgbClr val="6B6B6B"/>
                </a:solidFill>
              </a:rPr>
              <a:t>STROLL 자리 후보 19명 중 최종 우선 검토 (LECLERC·RUSSELL)</a:t>
            </a:r>
            <a:endParaRPr lang="en-US" sz="1100" dirty="0"/>
          </a:p>
        </p:txBody>
      </p:sp>
      <p:sp>
        <p:nvSpPr>
          <p:cNvPr id="16" name="sum-msg-n-0"/>
          <p:cNvSpPr/>
          <p:nvPr/>
        </p:nvSpPr>
        <p:spPr>
          <a:xfrm>
            <a:off x="548640" y="2880360"/>
            <a:ext cx="384048" cy="384048"/>
          </a:xfrm>
          <a:prstGeom prst="ellipse">
            <a:avLst/>
          </a:prstGeom>
          <a:solidFill>
            <a:srgbClr val="E10600"/>
          </a:solidFill>
          <a:ln w="12700">
            <a:solidFill>
              <a:srgbClr val="E10600"/>
            </a:solidFill>
            <a:prstDash val="solid"/>
          </a:ln>
        </p:spPr>
        <p:txBody>
          <a:bodyPr/>
          <a:p/>
        </p:txBody>
      </p:sp>
      <p:sp>
        <p:nvSpPr>
          <p:cNvPr id="17" name="sum-msg-n-0-t"/>
          <p:cNvSpPr txBox="1"/>
          <p:nvPr/>
        </p:nvSpPr>
        <p:spPr>
          <a:xfrm>
            <a:off x="548640" y="2880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sum-msg-h-0"/>
          <p:cNvSpPr txBox="1"/>
          <p:nvPr/>
        </p:nvSpPr>
        <p:spPr>
          <a:xfrm>
            <a:off x="1097280" y="2862072"/>
            <a:ext cx="10515600" cy="347472"/>
          </a:xfrm>
          <a:prstGeom prst="rect">
            <a:avLst/>
          </a:prstGeom>
          <a:noFill/>
          <a:ln/>
        </p:spPr>
        <p:txBody>
          <a:bodyPr wrap="square" lIns="0" tIns="0" rIns="0" bIns="0" rtlCol="0" anchor="t"/>
          <a:lstStyle/>
          <a:p>
            <a:pPr indent="0" marL="0">
              <a:buNone/>
            </a:pPr>
            <a:r>
              <a:rPr lang="en-US" sz="1600" b="1" dirty="0">
                <a:solidFill>
                  <a:srgbClr val="1A1A1A"/>
                </a:solidFill>
              </a:rPr>
              <a:t>데이터는 믿을 수 있게 만들었다</a:t>
            </a:r>
            <a:endParaRPr lang="en-US" sz="1600" dirty="0"/>
          </a:p>
        </p:txBody>
      </p:sp>
      <p:sp>
        <p:nvSpPr>
          <p:cNvPr id="19" name="sum-msg-d-0"/>
          <p:cNvSpPr txBox="1"/>
          <p:nvPr/>
        </p:nvSpPr>
        <p:spPr>
          <a:xfrm>
            <a:off x="1097280" y="3227832"/>
            <a:ext cx="10515600" cy="548640"/>
          </a:xfrm>
          <a:prstGeom prst="rect">
            <a:avLst/>
          </a:prstGeom>
          <a:noFill/>
          <a:ln/>
        </p:spPr>
        <p:txBody>
          <a:bodyPr wrap="square" lIns="0" tIns="0" rIns="0" bIns="0" rtlCol="0" anchor="t"/>
          <a:lstStyle/>
          <a:p>
            <a:pPr indent="0" marL="0">
              <a:buNone/>
            </a:pPr>
            <a:r>
              <a:rPr lang="en-US" sz="1200" dirty="0">
                <a:solidFill>
                  <a:srgbClr val="6B6B6B"/>
                </a:solidFill>
              </a:rPr>
              <a:t>28,071건을 탐지해 근거가 있는 1,357셀만 고쳤고, 같은 154개 규칙을 pandas·MySQL에서 두 번 돌려 결과가 같았다. 정제 전 12건이던 FAIL이 0건이 됐고, 통계값으로 결측을 채우지 않았다.</a:t>
            </a:r>
            <a:endParaRPr lang="en-US" sz="1200" dirty="0"/>
          </a:p>
        </p:txBody>
      </p:sp>
      <p:sp>
        <p:nvSpPr>
          <p:cNvPr id="20" name="sum-msg-n-1"/>
          <p:cNvSpPr/>
          <p:nvPr/>
        </p:nvSpPr>
        <p:spPr>
          <a:xfrm>
            <a:off x="548640" y="3867912"/>
            <a:ext cx="384048" cy="384048"/>
          </a:xfrm>
          <a:prstGeom prst="ellipse">
            <a:avLst/>
          </a:prstGeom>
          <a:solidFill>
            <a:srgbClr val="E10600"/>
          </a:solidFill>
          <a:ln w="12700">
            <a:solidFill>
              <a:srgbClr val="E10600"/>
            </a:solidFill>
            <a:prstDash val="solid"/>
          </a:ln>
        </p:spPr>
        <p:txBody>
          <a:bodyPr/>
          <a:p/>
        </p:txBody>
      </p:sp>
      <p:sp>
        <p:nvSpPr>
          <p:cNvPr id="21" name="sum-msg-n-1-t"/>
          <p:cNvSpPr txBox="1"/>
          <p:nvPr/>
        </p:nvSpPr>
        <p:spPr>
          <a:xfrm>
            <a:off x="548640"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sum-msg-h-1"/>
          <p:cNvSpPr txBox="1"/>
          <p:nvPr/>
        </p:nvSpPr>
        <p:spPr>
          <a:xfrm>
            <a:off x="1097280" y="3849624"/>
            <a:ext cx="10515600" cy="347472"/>
          </a:xfrm>
          <a:prstGeom prst="rect">
            <a:avLst/>
          </a:prstGeom>
          <a:noFill/>
          <a:ln/>
        </p:spPr>
        <p:txBody>
          <a:bodyPr wrap="square" lIns="0" tIns="0" rIns="0" bIns="0" rtlCol="0" anchor="t"/>
          <a:lstStyle/>
          <a:p>
            <a:pPr indent="0" marL="0">
              <a:buNone/>
            </a:pPr>
            <a:r>
              <a:rPr lang="en-US" sz="1600" b="1" dirty="0">
                <a:solidFill>
                  <a:srgbClr val="1A1A1A"/>
                </a:solidFill>
              </a:rPr>
              <a:t>2025 Aston Martin의 약점은 페이스와 피트 운영이다</a:t>
            </a:r>
            <a:endParaRPr lang="en-US" sz="1600" dirty="0"/>
          </a:p>
        </p:txBody>
      </p:sp>
      <p:sp>
        <p:nvSpPr>
          <p:cNvPr id="23" name="sum-msg-d-1"/>
          <p:cNvSpPr txBox="1"/>
          <p:nvPr/>
        </p:nvSpPr>
        <p:spPr>
          <a:xfrm>
            <a:off x="1097280" y="4215384"/>
            <a:ext cx="10515600" cy="548640"/>
          </a:xfrm>
          <a:prstGeom prst="rect">
            <a:avLst/>
          </a:prstGeom>
          <a:noFill/>
          <a:ln/>
        </p:spPr>
        <p:txBody>
          <a:bodyPr wrap="square" lIns="0" tIns="0" rIns="0" bIns="0" rtlCol="0" anchor="t"/>
          <a:lstStyle/>
          <a:p>
            <a:pPr indent="0" marL="0">
              <a:buNone/>
            </a:pPr>
            <a:r>
              <a:rPr lang="en-US" sz="1200" dirty="0">
                <a:solidFill>
                  <a:srgbClr val="6B6B6B"/>
                </a:solidFill>
              </a:rPr>
              <a:t>필드 상대 페이스 10팀 중 7위(+0.46%), 피트레인은 같은 경기 타 팀보다 0.28초 길다. 본경기 기본 포인트 7위로 6~9위가 18점 안에 모인 접전 구간이다.</a:t>
            </a:r>
            <a:endParaRPr lang="en-US" sz="1200" dirty="0"/>
          </a:p>
        </p:txBody>
      </p:sp>
      <p:sp>
        <p:nvSpPr>
          <p:cNvPr id="24" name="sum-msg-n-2"/>
          <p:cNvSpPr/>
          <p:nvPr/>
        </p:nvSpPr>
        <p:spPr>
          <a:xfrm>
            <a:off x="548640" y="4855464"/>
            <a:ext cx="384048" cy="384048"/>
          </a:xfrm>
          <a:prstGeom prst="ellipse">
            <a:avLst/>
          </a:prstGeom>
          <a:solidFill>
            <a:srgbClr val="E10600"/>
          </a:solidFill>
          <a:ln w="12700">
            <a:solidFill>
              <a:srgbClr val="E10600"/>
            </a:solidFill>
            <a:prstDash val="solid"/>
          </a:ln>
        </p:spPr>
        <p:txBody>
          <a:bodyPr/>
          <a:p/>
        </p:txBody>
      </p:sp>
      <p:sp>
        <p:nvSpPr>
          <p:cNvPr id="25" name="sum-msg-n-2-t"/>
          <p:cNvSpPr txBox="1"/>
          <p:nvPr/>
        </p:nvSpPr>
        <p:spPr>
          <a:xfrm>
            <a:off x="548640" y="4855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sum-msg-h-2"/>
          <p:cNvSpPr txBox="1"/>
          <p:nvPr/>
        </p:nvSpPr>
        <p:spPr>
          <a:xfrm>
            <a:off x="1097280" y="4837176"/>
            <a:ext cx="10515600" cy="347472"/>
          </a:xfrm>
          <a:prstGeom prst="rect">
            <a:avLst/>
          </a:prstGeom>
          <a:noFill/>
          <a:ln/>
        </p:spPr>
        <p:txBody>
          <a:bodyPr wrap="square" lIns="0" tIns="0" rIns="0" bIns="0" rtlCol="0" anchor="t"/>
          <a:lstStyle/>
          <a:p>
            <a:pPr indent="0" marL="0">
              <a:buNone/>
            </a:pPr>
            <a:r>
              <a:rPr lang="en-US" sz="1600" b="1" dirty="0">
                <a:solidFill>
                  <a:srgbClr val="1A1A1A"/>
                </a:solidFill>
              </a:rPr>
              <a:t>우선 검토 후보는 LECLERC(1순위)와 RUSSELL이다</a:t>
            </a:r>
            <a:endParaRPr lang="en-US" sz="1600" dirty="0"/>
          </a:p>
        </p:txBody>
      </p:sp>
      <p:sp>
        <p:nvSpPr>
          <p:cNvPr id="27" name="sum-msg-d-2"/>
          <p:cNvSpPr txBox="1"/>
          <p:nvPr/>
        </p:nvSpPr>
        <p:spPr>
          <a:xfrm>
            <a:off x="1097280" y="5202936"/>
            <a:ext cx="10515600" cy="548640"/>
          </a:xfrm>
          <a:prstGeom prst="rect">
            <a:avLst/>
          </a:prstGeom>
          <a:noFill/>
          <a:ln/>
        </p:spPr>
        <p:txBody>
          <a:bodyPr wrap="square" lIns="0" tIns="0" rIns="0" bIns="0" rtlCol="0" anchor="t"/>
          <a:lstStyle/>
          <a:p>
            <a:pPr indent="0" marL="0">
              <a:buNone/>
            </a:pPr>
            <a:r>
              <a:rPr lang="en-US" sz="1200" dirty="0">
                <a:solidFill>
                  <a:srgbClr val="6B6B6B"/>
                </a:solidFill>
              </a:rPr>
              <a:t>후보 19명 중 7명이 기준 선수보다 빨랐지만, 자기 팀 동료 대비 우위까지 11/11 조건에서 반복된 것은 두 명뿐이다. 가장 빠른 NORRIS·VERSTAPPEN·PIASTRI는 동료 대비가 반복되지 않아 차량 이점을 배제하지 못했다.</a:t>
            </a:r>
            <a:endParaRPr lang="en-US" sz="12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1"/>
          <p:cNvSpPr/>
          <p:nvPr/>
        </p:nvSpPr>
        <p:spPr>
          <a:xfrm>
            <a:off x="731520" y="2514600"/>
            <a:ext cx="822960" cy="822960"/>
          </a:xfrm>
          <a:prstGeom prst="ellipse">
            <a:avLst/>
          </a:prstGeom>
          <a:solidFill>
            <a:srgbClr val="E10600"/>
          </a:solidFill>
          <a:ln w="12700">
            <a:solidFill>
              <a:srgbClr val="E10600"/>
            </a:solidFill>
            <a:prstDash val="solid"/>
          </a:ln>
        </p:spPr>
      </p:sp>
      <p:sp>
        <p:nvSpPr>
          <p:cNvPr id="3" name="sec-1-t"/>
          <p:cNvSpPr txBox="1"/>
          <p:nvPr/>
        </p:nvSpPr>
        <p:spPr>
          <a:xfrm>
            <a:off x="731520" y="25146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rPr>
              <a:t>1</a:t>
            </a:r>
            <a:endParaRPr lang="en-US" sz="3000" dirty="0"/>
          </a:p>
        </p:txBody>
      </p:sp>
      <p:sp>
        <p:nvSpPr>
          <p:cNvPr id="4" name="Text 0"/>
          <p:cNvSpPr/>
          <p:nvPr>
            <p:ph idx="100" type="title" hasCustomPrompt="1"/>
          </p:nvPr>
        </p:nvSpPr>
        <p:spPr>
          <a:xfrm>
            <a:off x="2011680" y="2514600"/>
            <a:ext cx="9144000" cy="822960"/>
          </a:xfrm>
          <a:prstGeom prst="rect">
            <a:avLst/>
          </a:prstGeom>
          <a:noFill/>
          <a:ln/>
        </p:spPr>
        <p:txBody>
          <a:bodyPr wrap="square" lIns="0" tIns="0" rIns="0" bIns="0" rtlCol="0" anchor="ctr"/>
          <a:lstStyle/>
          <a:p>
            <a:pPr algn="l" indent="0" marL="0">
              <a:buNone/>
            </a:pPr>
            <a:r>
              <a:rPr lang="en-US" sz="3600" b="1" dirty="0">
                <a:solidFill>
                  <a:srgbClr val="FFFFFF"/>
                </a:solidFill>
              </a:rPr>
              <a:t>숫자를 믿을 수 있게</a:t>
            </a:r>
            <a:endParaRPr lang="en-US" sz="3600" dirty="0"/>
          </a:p>
        </p:txBody>
      </p:sp>
      <p:sp>
        <p:nvSpPr>
          <p:cNvPr id="5" name="Text 0"/>
          <p:cNvSpPr/>
          <p:nvPr>
            <p:ph idx="101" type="body" hasCustomPrompt="1"/>
          </p:nvPr>
        </p:nvSpPr>
        <p:spPr>
          <a:xfrm>
            <a:off x="2011680" y="3474720"/>
            <a:ext cx="8778240" cy="1097280"/>
          </a:xfrm>
          <a:prstGeom prst="rect">
            <a:avLst/>
          </a:prstGeom>
          <a:noFill/>
          <a:ln/>
        </p:spPr>
        <p:txBody>
          <a:bodyPr wrap="square" lIns="0" tIns="0" rIns="0" bIns="0" rtlCol="0" anchor="t"/>
          <a:lstStyle/>
          <a:p>
            <a:pPr indent="0" marL="0">
              <a:buNone/>
            </a:pPr>
            <a:r>
              <a:rPr lang="en-US" sz="1600" dirty="0">
                <a:solidFill>
                  <a:srgbClr val="D0D0D0"/>
                </a:solidFill>
              </a:rPr>
              <a:t>계산보다 정의가 먼저입니다. 무엇을 세기로 했는지, 무엇을 뺐는지, 어떤 한계가 있는지를 먼저 못 박고 뒤의 모든 숫자를 같은 기준에서 뽑았습니다.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이 보고서가 쓰는 다섯 지표</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같은 질문에 숫자가 여러 개 나오지 않도록 지표를 먼저 정의했습니다</a:t>
            </a:r>
            <a:endParaRPr lang="en-US" sz="1400" dirty="0"/>
          </a:p>
        </p:txBody>
      </p:sp>
      <p:graphicFrame>
        <p:nvGraphicFramePr>
          <p:cNvPr id="6" name="metric-table"/>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920240"/>
                <a:gridCol w="4572000"/>
                <a:gridCol w="2148840"/>
                <a:gridCol w="2468880"/>
              </a:tblGrid>
              <a:tr h="438912">
                <a:tc>
                  <a:txBody>
                    <a:bodyPr/>
                    <a:lstStyle/>
                    <a:p>
                      <a:pPr algn="l" indent="0" marL="0">
                        <a:buNone/>
                      </a:pPr>
                      <a:r>
                        <a:rPr lang="en-US" sz="1100" b="1" dirty="0">
                          <a:solidFill>
                            <a:srgbClr val="FFFFFF"/>
                          </a:solidFill>
                        </a:rPr>
                        <a:t>지표</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정의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단위 · 방향</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비교 조건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438912">
                <a:tc>
                  <a:txBody>
                    <a:bodyPr/>
                    <a:lstStyle/>
                    <a:p>
                      <a:pPr algn="l" indent="0" marL="0">
                        <a:buNone/>
                      </a:pPr>
                      <a:r>
                        <a:rPr lang="en-US" sz="1100" b="1" dirty="0">
                          <a:solidFill>
                            <a:srgbClr val="1A1A1A"/>
                          </a:solidFill>
                        </a:rPr>
                        <a:t>필드 상대 페이스</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같은 경기·컴파운드·5랩 구간의 다른 선수 대비 랩타임 차이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 · 낮을수록 빠름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경기별 값 → 시즌 중앙값</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438912">
                <a:tc>
                  <a:txBody>
                    <a:bodyPr/>
                    <a:lstStyle/>
                    <a:p>
                      <a:pPr algn="l" indent="0" marL="0">
                        <a:buNone/>
                      </a:pPr>
                      <a:r>
                        <a:rPr lang="en-US" sz="1100" b="1" dirty="0">
                          <a:solidFill>
                            <a:srgbClr val="1A1A1A"/>
                          </a:solidFill>
                        </a:rPr>
                        <a:t>팀 동료 대비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같은 랩·같은 타이어로 맞춘 팀 동료와의 랩타임 차이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초/랩 · 음수면 빠름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타이어 나이 차 3랩·시각 차 90초 이내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438912">
                <a:tc>
                  <a:txBody>
                    <a:bodyPr/>
                    <a:lstStyle/>
                    <a:p>
                      <a:pPr algn="l" indent="0" marL="0">
                        <a:buNone/>
                      </a:pPr>
                      <a:r>
                        <a:rPr lang="en-US" sz="1100" b="1" dirty="0">
                          <a:solidFill>
                            <a:srgbClr val="1A1A1A"/>
                          </a:solidFill>
                        </a:rPr>
                        <a:t>일관성</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조건을 보정한 정상 랩타임의 사분위 범위(IQR)</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초 · 작을수록 안정</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피트 전후·SC 구간 제외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438912">
                <a:tc>
                  <a:txBody>
                    <a:bodyPr/>
                    <a:lstStyle/>
                    <a:p>
                      <a:pPr algn="l" indent="0" marL="0">
                        <a:buNone/>
                      </a:pPr>
                      <a:r>
                        <a:rPr lang="en-US" sz="1100" b="1" dirty="0">
                          <a:solidFill>
                            <a:srgbClr val="1A1A1A"/>
                          </a:solidFill>
                        </a:rPr>
                        <a:t>타이어 유지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타이어를 1랩 더 쓸 때 필드 대비 페이스 변화</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ms/랩 · 작을수록 유지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4경기·8스틴트 이상</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438912">
                <a:tc>
                  <a:txBody>
                    <a:bodyPr/>
                    <a:lstStyle/>
                    <a:p>
                      <a:pPr algn="l" indent="0" marL="0">
                        <a:buNone/>
                      </a:pPr>
                      <a:r>
                        <a:rPr lang="en-US" sz="1100" b="1" dirty="0">
                          <a:solidFill>
                            <a:srgbClr val="1A1A1A"/>
                          </a:solidFill>
                        </a:rPr>
                        <a:t>본경기 기본 포인트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최종 순위 1~10위에 25-18-15-12-10-8-6-4-2-1, 당시 소속팀 합산</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점</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Sprint·보너스·예외 배점 제외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bl>
          </a:graphicData>
        </a:graphic>
      </p:graphicFrame>
      <p:sp>
        <p:nvSpPr>
          <p:cNvPr id="5" name="metric-excluded"/>
          <p:cNvSpPr/>
          <p:nvPr/>
        </p:nvSpPr>
        <p:spPr>
          <a:xfrm>
            <a:off x="548640" y="4343400"/>
            <a:ext cx="11109960" cy="1371600"/>
          </a:xfrm>
          <a:prstGeom prst="roundRect">
            <a:avLst>
              <a:gd name="adj" fmla="val 4000"/>
            </a:avLst>
          </a:prstGeom>
          <a:solidFill>
            <a:srgbClr val="FDECEC"/>
          </a:solidFill>
          <a:ln w="9525">
            <a:solidFill>
              <a:srgbClr val="FDECEC"/>
            </a:solidFill>
            <a:prstDash val="solid"/>
          </a:ln>
        </p:spPr>
      </p:sp>
      <p:sp>
        <p:nvSpPr>
          <p:cNvPr id="6" name="excluded-h"/>
          <p:cNvSpPr txBox="1"/>
          <p:nvPr/>
        </p:nvSpPr>
        <p:spPr>
          <a:xfrm>
            <a:off x="822960" y="4498848"/>
            <a:ext cx="5486400" cy="320040"/>
          </a:xfrm>
          <a:prstGeom prst="rect">
            <a:avLst/>
          </a:prstGeom>
          <a:noFill/>
          <a:ln/>
        </p:spPr>
        <p:txBody>
          <a:bodyPr wrap="square" lIns="0" tIns="0" rIns="0" bIns="0" rtlCol="0" anchor="t"/>
          <a:lstStyle/>
          <a:p>
            <a:pPr indent="0" marL="0">
              <a:buNone/>
            </a:pPr>
            <a:r>
              <a:rPr lang="en-US" sz="1300" b="1" dirty="0">
                <a:solidFill>
                  <a:srgbClr val="E10600"/>
                </a:solidFill>
              </a:rPr>
              <a:t>뺀 것 — 비교 랩에서 반드시 제외</a:t>
            </a:r>
            <a:endParaRPr lang="en-US" sz="1300" dirty="0"/>
          </a:p>
        </p:txBody>
      </p:sp>
      <p:sp>
        <p:nvSpPr>
          <p:cNvPr id="7" name="excluded-d"/>
          <p:cNvSpPr txBox="1"/>
          <p:nvPr/>
        </p:nvSpPr>
        <p:spPr>
          <a:xfrm>
            <a:off x="822960" y="4864608"/>
            <a:ext cx="10607040" cy="731520"/>
          </a:xfrm>
          <a:prstGeom prst="rect">
            <a:avLst/>
          </a:prstGeom>
          <a:noFill/>
          <a:ln/>
        </p:spPr>
        <p:txBody>
          <a:bodyPr wrap="square" lIns="0" tIns="0" rIns="0" bIns="0" rtlCol="0" anchor="t"/>
          <a:lstStyle/>
          <a:p>
            <a:pPr indent="0" marL="0">
              <a:buNone/>
            </a:pPr>
            <a:r>
              <a:rPr lang="en-US" sz="1200" dirty="0">
                <a:solidFill>
                  <a:srgbClr val="1A1A1A"/>
                </a:solidFill>
              </a:rPr>
              <a:t>피트 인·아웃 랩  ·  SC/VSC·황기·적기·재시작 구간  ·  젖은 타이어·강수  ·  날씨 90초 미연결  ·  타이어 구간이 모호하거나 연결되지 않는 랩  ·  표본 기준 미달(8경기·200랩)은 N/A</a:t>
            </a:r>
            <a:endParaRPr lang="en-US" sz="12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데이터의 범위와, 미리 알아 둘 한계</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원천 11종 · 연결 키 session_key / driver_number · 87경기</a:t>
            </a:r>
            <a:endParaRPr lang="en-US" sz="1400" dirty="0"/>
          </a:p>
        </p:txBody>
      </p:sp>
      <p:graphicFrame>
        <p:nvGraphicFramePr>
          <p:cNvPr id="7" name="scope-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965960"/>
                <a:gridCol w="1920240"/>
                <a:gridCol w="1737360"/>
                <a:gridCol w="5486400"/>
              </a:tblGrid>
              <a:tr h="384048">
                <a:tc>
                  <a:txBody>
                    <a:bodyPr/>
                    <a:lstStyle/>
                    <a:p>
                      <a:pPr algn="l" indent="0" marL="0">
                        <a:buNone/>
                      </a:pPr>
                      <a:r>
                        <a:rPr lang="en-US" sz="1100" b="1" dirty="0">
                          <a:solidFill>
                            <a:srgbClr val="FFFFFF"/>
                          </a:solidFill>
                        </a:rPr>
                        <a:t>데이터</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무엇</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r" indent="0" marL="0">
                        <a:buNone/>
                      </a:pPr>
                      <a:r>
                        <a:rPr lang="en-US" sz="1100" b="1" dirty="0">
                          <a:solidFill>
                            <a:srgbClr val="FFFFFF"/>
                          </a:solidFill>
                        </a:rPr>
                        <a:t>행 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분석할 때 반드시 아는 것</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384048">
                <a:tc>
                  <a:txBody>
                    <a:bodyPr/>
                    <a:lstStyle/>
                    <a:p>
                      <a:pPr algn="l" indent="0" marL="0">
                        <a:buNone/>
                      </a:pPr>
                      <a:r>
                        <a:rPr lang="en-US" sz="1100" b="1" dirty="0">
                          <a:solidFill>
                            <a:srgbClr val="1A1A1A"/>
                          </a:solidFill>
                        </a:rPr>
                        <a:t>sessions · drivers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경기·선수·당시 소속</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rPr>
                        <a:t>87 · 1,771</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소속은 시즌 마지막 관측 구간 — 현재 계약 명단이 아님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1A1A"/>
                          </a:solidFill>
                        </a:rPr>
                        <a:t>laps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랩·섹터 페이스</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r" indent="0" marL="0">
                        <a:buNone/>
                      </a:pPr>
                      <a:r>
                        <a:rPr lang="en-US" sz="1100" dirty="0">
                          <a:solidFill>
                            <a:srgbClr val="1A1A1A"/>
                          </a:solidFill>
                        </a:rPr>
                        <a:t>97,018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정제 통과 67,544랩, 참조 연결 60,848랩만 비교에 사용</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384048">
                <a:tc>
                  <a:txBody>
                    <a:bodyPr/>
                    <a:lstStyle/>
                    <a:p>
                      <a:pPr algn="l" indent="0" marL="0">
                        <a:buNone/>
                      </a:pPr>
                      <a:r>
                        <a:rPr lang="en-US" sz="1100" b="1" dirty="0">
                          <a:solidFill>
                            <a:srgbClr val="1A1A1A"/>
                          </a:solidFill>
                        </a:rPr>
                        <a:t>stints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타이어 구간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rPr>
                        <a:t>5,040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구간 미연결·모호 585랩은 성능 비교에서 제외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1A1A"/>
                          </a:solidFill>
                        </a:rPr>
                        <a:t>weather</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강수·노면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r" indent="0" marL="0">
                        <a:buNone/>
                      </a:pPr>
                      <a:r>
                        <a:rPr lang="en-US" sz="1100" dirty="0">
                          <a:solidFill>
                            <a:srgbClr val="1A1A1A"/>
                          </a:solidFill>
                        </a:rPr>
                        <a:t>13,928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90초 안에 연결되지 않는 78랩은 건조 조건 비교에서 제외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384048">
                <a:tc>
                  <a:txBody>
                    <a:bodyPr/>
                    <a:lstStyle/>
                    <a:p>
                      <a:pPr algn="l" indent="0" marL="0">
                        <a:buNone/>
                      </a:pPr>
                      <a:r>
                        <a:rPr lang="en-US" sz="1100" b="1" dirty="0">
                          <a:solidFill>
                            <a:srgbClr val="1A1A1A"/>
                          </a:solidFill>
                        </a:rPr>
                        <a:t>pit</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피트 횟수·시간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rPr>
                        <a:t>3,029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81경기만 원천 있음 — 미수집 6경기를 0회로 채우지 않음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1A1A"/>
                          </a:solidFill>
                        </a:rPr>
                        <a:t>starting_grid</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출발 순위 (예선)</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r" indent="0" marL="0">
                        <a:buNone/>
                      </a:pPr>
                      <a:r>
                        <a:rPr lang="en-US" sz="1100" dirty="0">
                          <a:solidFill>
                            <a:srgbClr val="1A1A1A"/>
                          </a:solidFill>
                        </a:rPr>
                        <a:t>1,770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예선 세션 키라 meeting_key로 본경기에 매핑, 미연결 3건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384048">
                <a:tc>
                  <a:txBody>
                    <a:bodyPr/>
                    <a:lstStyle/>
                    <a:p>
                      <a:pPr algn="l" indent="0" marL="0">
                        <a:buNone/>
                      </a:pPr>
                      <a:r>
                        <a:rPr lang="en-US" sz="1100" b="1" dirty="0">
                          <a:solidFill>
                            <a:srgbClr val="1A1A1A"/>
                          </a:solidFill>
                        </a:rPr>
                        <a:t>session_result</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최종 결과·포인트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rPr>
                        <a:t>1,771</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분류 미확정 4건은 포인트 N/A (0점 처리 안 함)</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A1A1A"/>
                          </a:solidFill>
                        </a:rPr>
                        <a:t>race_control</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SC/VSC·황기</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r" indent="0" marL="0">
                        <a:buNone/>
                      </a:pPr>
                      <a:r>
                        <a:rPr lang="en-US" sz="1100" dirty="0">
                          <a:solidFill>
                            <a:srgbClr val="1A1A1A"/>
                          </a:solidFill>
                        </a:rPr>
                        <a:t>9,499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비교 랩 제외 구간 판정에 사용</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384048">
                <a:tc>
                  <a:txBody>
                    <a:bodyPr/>
                    <a:lstStyle/>
                    <a:p>
                      <a:pPr algn="l" indent="0" marL="0">
                        <a:buNone/>
                      </a:pPr>
                      <a:r>
                        <a:rPr lang="en-US" sz="1100" b="1" dirty="0">
                          <a:solidFill>
                            <a:srgbClr val="1A1A1A"/>
                          </a:solidFill>
                        </a:rPr>
                        <a:t>position · intervals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경기 중 순위·격차</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rPr>
                        <a:t>42,952 · 2,107,568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격차 10초 연결 불가 3,430랩 · position은 품질 점검만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bl>
          </a:graphicData>
        </a:graphic>
      </p:graphicFrame>
      <p:sp>
        <p:nvSpPr>
          <p:cNvPr id="5"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결측을 0이나 평균으로 채우지 않고, 연결되지 않는 기록은 해당 비교에서만 빼서 표본 수와 함께 보여 준다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5종을 추가한 이유: 6종만으로는 답이 안 나왔다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먼저 확보한 오염 6종(경기·선수·랩·스틴트·날씨·피트)을 정제해 비교하다가, 근거가 비는 자리를 분석 도중 보완했다</a:t>
            </a:r>
            <a:endParaRPr lang="en-US" sz="1400" dirty="0"/>
          </a:p>
        </p:txBody>
      </p:sp>
      <p:graphicFrame>
        <p:nvGraphicFramePr>
          <p:cNvPr id="8" name="why-table"/>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514600"/>
                <a:gridCol w="2240280"/>
                <a:gridCol w="2331720"/>
                <a:gridCol w="4023360"/>
              </a:tblGrid>
              <a:tr h="548640">
                <a:tc>
                  <a:txBody>
                    <a:bodyPr/>
                    <a:lstStyle/>
                    <a:p>
                      <a:pPr algn="l" indent="0" marL="0">
                        <a:buNone/>
                      </a:pPr>
                      <a:r>
                        <a:rPr lang="en-US" sz="1100" b="1" dirty="0">
                          <a:solidFill>
                            <a:srgbClr val="FFFFFF"/>
                          </a:solidFill>
                        </a:rPr>
                        <a:t>6종만으로 답할 수 없던 질문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6종의 빈자리</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추가한 데이터</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이 보고서에서 쓴 곳</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548640">
                <a:tc>
                  <a:txBody>
                    <a:bodyPr/>
                    <a:lstStyle/>
                    <a:p>
                      <a:pPr algn="l" indent="0" marL="0">
                        <a:buNone/>
                      </a:pPr>
                      <a:r>
                        <a:rPr lang="en-US" sz="1100" b="1" dirty="0">
                          <a:solidFill>
                            <a:srgbClr val="1A1A1A"/>
                          </a:solidFill>
                        </a:rPr>
                        <a:t>빠른 기록이 실제 성적으로 이어졌나?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최종 순위·완주 여부가 없음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session_result 1,771</a:t>
                      </a:r>
                      <a:endParaRPr lang="en-US" sz="1100" dirty="0"/>
                    </a:p>
                    <a:p>
                      <a:pPr algn="l" indent="0" marL="0">
                        <a:buNone/>
                      </a:pPr>
                      <a:r>
                        <a:rPr lang="en-US" sz="1100" b="1" dirty="0">
                          <a:solidFill>
                            <a:srgbClr val="1A1A1A"/>
                          </a:solidFill>
                        </a:rPr>
                        <a:t>starting_grid 1,770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기본 포인트 1,767건 계산 → 팀 순위·접전 구간, 출발 대비 순위 변화 1,543건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1A1A1A"/>
                          </a:solidFill>
                        </a:rPr>
                        <a:t>비교한 랩이 공정한가?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SC/VSC·황기·적기 구간을 모름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race_control 9,499</a:t>
                      </a:r>
                      <a:endParaRPr lang="en-US" sz="1100" dirty="0"/>
                    </a:p>
                    <a:p>
                      <a:pPr algn="l" indent="0" marL="0">
                        <a:buNone/>
                      </a:pPr>
                      <a:r>
                        <a:rPr lang="en-US" sz="1100" b="1" dirty="0">
                          <a:solidFill>
                            <a:srgbClr val="1A1A1A"/>
                          </a:solidFill>
                        </a:rPr>
                        <a:t>(황기 등 5,142 · SC 215)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해당 구간 랩을 비교에서 제외 · '재시작 추가 제외' 조건(1,229랩 더 제외)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548640">
                <a:tc>
                  <a:txBody>
                    <a:bodyPr/>
                    <a:lstStyle/>
                    <a:p>
                      <a:pPr algn="l" indent="0" marL="0">
                        <a:buNone/>
                      </a:pPr>
                      <a:r>
                        <a:rPr lang="en-US" sz="1100" b="1" dirty="0">
                          <a:solidFill>
                            <a:srgbClr val="1A1A1A"/>
                          </a:solidFill>
                        </a:rPr>
                        <a:t>앞차에 막힌 랩은 아닌가?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차량 간 격차가 없음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intervals 2,107,568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'근접 차량 제한' 조건 — 비교 랩 60,848 → 37,860으로 줄여도 판정 확인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6B6B6B"/>
                          </a:solidFill>
                        </a:rPr>
                        <a:t>경기 중 순위는 어떻게 바뀌었나?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랩 단위 순위가 없음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position 42,952</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품질 점검까지만 — 순위 타임라인은 이번 범위에서 미구현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bl>
          </a:graphicData>
        </a:graphic>
      </p:graphicFrame>
      <p:sp>
        <p:nvSpPr>
          <p:cNvPr id="5" name="why-note"/>
          <p:cNvSpPr/>
          <p:nvPr/>
        </p:nvSpPr>
        <p:spPr>
          <a:xfrm>
            <a:off x="548640" y="4754880"/>
            <a:ext cx="11109960" cy="960120"/>
          </a:xfrm>
          <a:prstGeom prst="roundRect">
            <a:avLst>
              <a:gd name="adj" fmla="val 5714"/>
            </a:avLst>
          </a:prstGeom>
          <a:solidFill>
            <a:srgbClr val="FDECEC"/>
          </a:solidFill>
          <a:ln w="9525">
            <a:solidFill>
              <a:srgbClr val="FDECEC"/>
            </a:solidFill>
            <a:prstDash val="solid"/>
          </a:ln>
        </p:spPr>
      </p:sp>
      <p:sp>
        <p:nvSpPr>
          <p:cNvPr id="6" name="why-note-t"/>
          <p:cNvSpPr txBox="1"/>
          <p:nvPr/>
        </p:nvSpPr>
        <p:spPr>
          <a:xfrm>
            <a:off x="822960" y="4892040"/>
            <a:ext cx="10607040" cy="731520"/>
          </a:xfrm>
          <a:prstGeom prst="rect">
            <a:avLst/>
          </a:prstGeom>
          <a:noFill/>
          <a:ln/>
        </p:spPr>
        <p:txBody>
          <a:bodyPr wrap="square" lIns="0" tIns="0" rIns="0" bIns="0" rtlCol="0" anchor="t"/>
          <a:lstStyle/>
          <a:p>
            <a:pPr indent="0" marL="0">
              <a:buNone/>
            </a:pPr>
            <a:r>
              <a:rPr lang="en-US" sz="1250" b="1" dirty="0">
                <a:solidFill>
                  <a:srgbClr val="E10600"/>
                </a:solidFill>
              </a:rPr>
              <a:t>추가하지 않았다면  </a:t>
            </a:r>
            <a:pPr indent="0" marL="0">
              <a:buNone/>
            </a:pPr>
            <a:r>
              <a:rPr lang="en-US" sz="1250" dirty="0">
                <a:solidFill>
                  <a:srgbClr val="1A1A1A"/>
                </a:solidFill>
              </a:rPr>
              <a:t>결론의 배경인 포인트 경쟁 위치를 계산할 수 없고, SC/VSC 구간이 섞인 불공정한 랩으로 비교했으며, 후보 판정의 11가지 조건 중 두 가지(재시작 추가 제외·근접 차량 제한)를 만들 수 없었다.</a:t>
            </a:r>
            <a:endParaRPr lang="en-US" sz="1250" dirty="0"/>
          </a:p>
        </p:txBody>
      </p:sp>
      <p:sp>
        <p:nvSpPr>
          <p:cNvPr id="7"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5종은 '더 많이 모으려고'가 아니라, 6종으로 내린 판단이 성적·경기 상황과 맞는지 확인하려고 추가했다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탐지 28,071건 중 근거가 있는 1,357셀만 고쳤다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오염 6종을 진단코드 DQ001~DQ027로 검사 · 원본은 수정하지 않고 보존</a:t>
            </a:r>
            <a:endParaRPr lang="en-US" sz="1400" dirty="0"/>
          </a:p>
        </p:txBody>
      </p:sp>
      <p:sp>
        <p:nvSpPr>
          <p:cNvPr id="4" name="clean-kpi-0-card"/>
          <p:cNvSpPr/>
          <p:nvPr/>
        </p:nvSpPr>
        <p:spPr>
          <a:xfrm>
            <a:off x="548640" y="1508760"/>
            <a:ext cx="2075688" cy="1143000"/>
          </a:xfrm>
          <a:prstGeom prst="roundRect">
            <a:avLst>
              <a:gd name="adj" fmla="val 4800"/>
            </a:avLst>
          </a:prstGeom>
          <a:solidFill>
            <a:srgbClr val="F4F4F4"/>
          </a:solidFill>
          <a:ln w="9525">
            <a:solidFill>
              <a:srgbClr val="F4F4F4"/>
            </a:solidFill>
            <a:prstDash val="solid"/>
          </a:ln>
        </p:spPr>
      </p:sp>
      <p:sp>
        <p:nvSpPr>
          <p:cNvPr id="5" name="clean-kpi-0-num"/>
          <p:cNvSpPr txBox="1"/>
          <p:nvPr/>
        </p:nvSpPr>
        <p:spPr>
          <a:xfrm>
            <a:off x="777240" y="1673352"/>
            <a:ext cx="1709928" cy="548640"/>
          </a:xfrm>
          <a:prstGeom prst="rect">
            <a:avLst/>
          </a:prstGeom>
          <a:noFill/>
          <a:ln/>
        </p:spPr>
        <p:txBody>
          <a:bodyPr wrap="square" lIns="0" tIns="0" rIns="0" bIns="0" rtlCol="0" anchor="t"/>
          <a:lstStyle/>
          <a:p>
            <a:pPr indent="0" marL="0">
              <a:buNone/>
            </a:pPr>
            <a:r>
              <a:rPr lang="en-US" sz="2800" b="1" dirty="0">
                <a:solidFill>
                  <a:srgbClr val="1A1A1A"/>
                </a:solidFill>
              </a:rPr>
              <a:t>28,071</a:t>
            </a:r>
            <a:endParaRPr lang="en-US" sz="2800" dirty="0"/>
          </a:p>
        </p:txBody>
      </p:sp>
      <p:sp>
        <p:nvSpPr>
          <p:cNvPr id="6" name="clean-kpi-0-label"/>
          <p:cNvSpPr txBox="1"/>
          <p:nvPr/>
        </p:nvSpPr>
        <p:spPr>
          <a:xfrm>
            <a:off x="777240" y="2240280"/>
            <a:ext cx="1709928" cy="320040"/>
          </a:xfrm>
          <a:prstGeom prst="rect">
            <a:avLst/>
          </a:prstGeom>
          <a:noFill/>
          <a:ln/>
        </p:spPr>
        <p:txBody>
          <a:bodyPr wrap="square" lIns="0" tIns="0" rIns="0" bIns="0" rtlCol="0" anchor="t"/>
          <a:lstStyle/>
          <a:p>
            <a:pPr indent="0" marL="0">
              <a:buNone/>
            </a:pPr>
            <a:r>
              <a:rPr lang="en-US" sz="1100" dirty="0">
                <a:solidFill>
                  <a:srgbClr val="6B6B6B"/>
                </a:solidFill>
              </a:rPr>
              <a:t>탐지 이슈</a:t>
            </a:r>
            <a:endParaRPr lang="en-US" sz="1100" dirty="0"/>
          </a:p>
        </p:txBody>
      </p:sp>
      <p:sp>
        <p:nvSpPr>
          <p:cNvPr id="7" name="clean-kpi-1-card"/>
          <p:cNvSpPr/>
          <p:nvPr/>
        </p:nvSpPr>
        <p:spPr>
          <a:xfrm>
            <a:off x="2807208" y="1508760"/>
            <a:ext cx="2075688" cy="1143000"/>
          </a:xfrm>
          <a:prstGeom prst="roundRect">
            <a:avLst>
              <a:gd name="adj" fmla="val 4800"/>
            </a:avLst>
          </a:prstGeom>
          <a:solidFill>
            <a:srgbClr val="F4F4F4"/>
          </a:solidFill>
          <a:ln w="9525">
            <a:solidFill>
              <a:srgbClr val="F4F4F4"/>
            </a:solidFill>
            <a:prstDash val="solid"/>
          </a:ln>
        </p:spPr>
      </p:sp>
      <p:sp>
        <p:nvSpPr>
          <p:cNvPr id="8" name="clean-kpi-1-num"/>
          <p:cNvSpPr txBox="1"/>
          <p:nvPr/>
        </p:nvSpPr>
        <p:spPr>
          <a:xfrm>
            <a:off x="3035808" y="1673352"/>
            <a:ext cx="1709928" cy="548640"/>
          </a:xfrm>
          <a:prstGeom prst="rect">
            <a:avLst/>
          </a:prstGeom>
          <a:noFill/>
          <a:ln/>
        </p:spPr>
        <p:txBody>
          <a:bodyPr wrap="square" lIns="0" tIns="0" rIns="0" bIns="0" rtlCol="0" anchor="t"/>
          <a:lstStyle/>
          <a:p>
            <a:pPr indent="0" marL="0">
              <a:buNone/>
            </a:pPr>
            <a:r>
              <a:rPr lang="en-US" sz="2800" b="1" dirty="0">
                <a:solidFill>
                  <a:srgbClr val="E10600"/>
                </a:solidFill>
              </a:rPr>
              <a:t>1,357</a:t>
            </a:r>
            <a:endParaRPr lang="en-US" sz="2800" dirty="0"/>
          </a:p>
        </p:txBody>
      </p:sp>
      <p:sp>
        <p:nvSpPr>
          <p:cNvPr id="9" name="clean-kpi-1-label"/>
          <p:cNvSpPr txBox="1"/>
          <p:nvPr/>
        </p:nvSpPr>
        <p:spPr>
          <a:xfrm>
            <a:off x="3035808" y="2240280"/>
            <a:ext cx="1709928" cy="320040"/>
          </a:xfrm>
          <a:prstGeom prst="rect">
            <a:avLst/>
          </a:prstGeom>
          <a:noFill/>
          <a:ln/>
        </p:spPr>
        <p:txBody>
          <a:bodyPr wrap="square" lIns="0" tIns="0" rIns="0" bIns="0" rtlCol="0" anchor="t"/>
          <a:lstStyle/>
          <a:p>
            <a:pPr indent="0" marL="0">
              <a:buNone/>
            </a:pPr>
            <a:r>
              <a:rPr lang="en-US" sz="1100" dirty="0">
                <a:solidFill>
                  <a:srgbClr val="6B6B6B"/>
                </a:solidFill>
              </a:rPr>
              <a:t>자동 복구 셀</a:t>
            </a:r>
            <a:endParaRPr lang="en-US" sz="1100" dirty="0"/>
          </a:p>
        </p:txBody>
      </p:sp>
      <p:sp>
        <p:nvSpPr>
          <p:cNvPr id="10" name="clean-kpi-2-card"/>
          <p:cNvSpPr/>
          <p:nvPr/>
        </p:nvSpPr>
        <p:spPr>
          <a:xfrm>
            <a:off x="5065776" y="1508760"/>
            <a:ext cx="2075688" cy="1143000"/>
          </a:xfrm>
          <a:prstGeom prst="roundRect">
            <a:avLst>
              <a:gd name="adj" fmla="val 4800"/>
            </a:avLst>
          </a:prstGeom>
          <a:solidFill>
            <a:srgbClr val="F4F4F4"/>
          </a:solidFill>
          <a:ln w="9525">
            <a:solidFill>
              <a:srgbClr val="F4F4F4"/>
            </a:solidFill>
            <a:prstDash val="solid"/>
          </a:ln>
        </p:spPr>
      </p:sp>
      <p:sp>
        <p:nvSpPr>
          <p:cNvPr id="11" name="clean-kpi-2-num"/>
          <p:cNvSpPr txBox="1"/>
          <p:nvPr/>
        </p:nvSpPr>
        <p:spPr>
          <a:xfrm>
            <a:off x="5294376" y="1673352"/>
            <a:ext cx="1709928" cy="548640"/>
          </a:xfrm>
          <a:prstGeom prst="rect">
            <a:avLst/>
          </a:prstGeom>
          <a:noFill/>
          <a:ln/>
        </p:spPr>
        <p:txBody>
          <a:bodyPr wrap="square" lIns="0" tIns="0" rIns="0" bIns="0" rtlCol="0" anchor="t"/>
          <a:lstStyle/>
          <a:p>
            <a:pPr indent="0" marL="0">
              <a:buNone/>
            </a:pPr>
            <a:r>
              <a:rPr lang="en-US" sz="2800" b="1" dirty="0">
                <a:solidFill>
                  <a:srgbClr val="1A1A1A"/>
                </a:solidFill>
              </a:rPr>
              <a:t>24,866</a:t>
            </a:r>
            <a:endParaRPr lang="en-US" sz="2800" dirty="0"/>
          </a:p>
        </p:txBody>
      </p:sp>
      <p:sp>
        <p:nvSpPr>
          <p:cNvPr id="12" name="clean-kpi-2-label"/>
          <p:cNvSpPr txBox="1"/>
          <p:nvPr/>
        </p:nvSpPr>
        <p:spPr>
          <a:xfrm>
            <a:off x="5294376" y="2240280"/>
            <a:ext cx="1709928" cy="320040"/>
          </a:xfrm>
          <a:prstGeom prst="rect">
            <a:avLst/>
          </a:prstGeom>
          <a:noFill/>
          <a:ln/>
        </p:spPr>
        <p:txBody>
          <a:bodyPr wrap="square" lIns="0" tIns="0" rIns="0" bIns="0" rtlCol="0" anchor="t"/>
          <a:lstStyle/>
          <a:p>
            <a:pPr indent="0" marL="0">
              <a:buNone/>
            </a:pPr>
            <a:r>
              <a:rPr lang="en-US" sz="1100" dirty="0">
                <a:solidFill>
                  <a:srgbClr val="6B6B6B"/>
                </a:solidFill>
              </a:rPr>
              <a:t>허용 (원천 특성)</a:t>
            </a:r>
            <a:endParaRPr lang="en-US" sz="1100" dirty="0"/>
          </a:p>
        </p:txBody>
      </p:sp>
      <p:sp>
        <p:nvSpPr>
          <p:cNvPr id="13" name="clean-kpi-3-card"/>
          <p:cNvSpPr/>
          <p:nvPr/>
        </p:nvSpPr>
        <p:spPr>
          <a:xfrm>
            <a:off x="7324344" y="1508760"/>
            <a:ext cx="2075688" cy="1143000"/>
          </a:xfrm>
          <a:prstGeom prst="roundRect">
            <a:avLst>
              <a:gd name="adj" fmla="val 4800"/>
            </a:avLst>
          </a:prstGeom>
          <a:solidFill>
            <a:srgbClr val="F4F4F4"/>
          </a:solidFill>
          <a:ln w="9525">
            <a:solidFill>
              <a:srgbClr val="F4F4F4"/>
            </a:solidFill>
            <a:prstDash val="solid"/>
          </a:ln>
        </p:spPr>
      </p:sp>
      <p:sp>
        <p:nvSpPr>
          <p:cNvPr id="14" name="clean-kpi-3-num"/>
          <p:cNvSpPr txBox="1"/>
          <p:nvPr/>
        </p:nvSpPr>
        <p:spPr>
          <a:xfrm>
            <a:off x="7552944" y="1673352"/>
            <a:ext cx="1709928" cy="548640"/>
          </a:xfrm>
          <a:prstGeom prst="rect">
            <a:avLst/>
          </a:prstGeom>
          <a:noFill/>
          <a:ln/>
        </p:spPr>
        <p:txBody>
          <a:bodyPr wrap="square" lIns="0" tIns="0" rIns="0" bIns="0" rtlCol="0" anchor="t"/>
          <a:lstStyle/>
          <a:p>
            <a:pPr indent="0" marL="0">
              <a:buNone/>
            </a:pPr>
            <a:r>
              <a:rPr lang="en-US" sz="2800" b="1" dirty="0">
                <a:solidFill>
                  <a:srgbClr val="1A1A1A"/>
                </a:solidFill>
              </a:rPr>
              <a:t>1,848</a:t>
            </a:r>
            <a:endParaRPr lang="en-US" sz="2800" dirty="0"/>
          </a:p>
        </p:txBody>
      </p:sp>
      <p:sp>
        <p:nvSpPr>
          <p:cNvPr id="15" name="clean-kpi-3-label"/>
          <p:cNvSpPr txBox="1"/>
          <p:nvPr/>
        </p:nvSpPr>
        <p:spPr>
          <a:xfrm>
            <a:off x="7552944" y="2240280"/>
            <a:ext cx="1709928" cy="320040"/>
          </a:xfrm>
          <a:prstGeom prst="rect">
            <a:avLst/>
          </a:prstGeom>
          <a:noFill/>
          <a:ln/>
        </p:spPr>
        <p:txBody>
          <a:bodyPr wrap="square" lIns="0" tIns="0" rIns="0" bIns="0" rtlCol="0" anchor="t"/>
          <a:lstStyle/>
          <a:p>
            <a:pPr indent="0" marL="0">
              <a:buNone/>
            </a:pPr>
            <a:r>
              <a:rPr lang="en-US" sz="1100" dirty="0">
                <a:solidFill>
                  <a:srgbClr val="6B6B6B"/>
                </a:solidFill>
              </a:rPr>
              <a:t>검토 필요</a:t>
            </a:r>
            <a:endParaRPr lang="en-US" sz="1100" dirty="0"/>
          </a:p>
        </p:txBody>
      </p:sp>
      <p:sp>
        <p:nvSpPr>
          <p:cNvPr id="16" name="clean-kpi-4-card"/>
          <p:cNvSpPr/>
          <p:nvPr/>
        </p:nvSpPr>
        <p:spPr>
          <a:xfrm>
            <a:off x="9582912" y="1508760"/>
            <a:ext cx="2075688" cy="1143000"/>
          </a:xfrm>
          <a:prstGeom prst="roundRect">
            <a:avLst>
              <a:gd name="adj" fmla="val 4800"/>
            </a:avLst>
          </a:prstGeom>
          <a:solidFill>
            <a:srgbClr val="F4F4F4"/>
          </a:solidFill>
          <a:ln w="9525">
            <a:solidFill>
              <a:srgbClr val="F4F4F4"/>
            </a:solidFill>
            <a:prstDash val="solid"/>
          </a:ln>
        </p:spPr>
      </p:sp>
      <p:sp>
        <p:nvSpPr>
          <p:cNvPr id="17" name="clean-kpi-4-num"/>
          <p:cNvSpPr txBox="1"/>
          <p:nvPr/>
        </p:nvSpPr>
        <p:spPr>
          <a:xfrm>
            <a:off x="9811512" y="1673352"/>
            <a:ext cx="1709928" cy="548640"/>
          </a:xfrm>
          <a:prstGeom prst="rect">
            <a:avLst/>
          </a:prstGeom>
          <a:noFill/>
          <a:ln/>
        </p:spPr>
        <p:txBody>
          <a:bodyPr wrap="square" lIns="0" tIns="0" rIns="0" bIns="0" rtlCol="0" anchor="t"/>
          <a:lstStyle/>
          <a:p>
            <a:pPr indent="0" marL="0">
              <a:buNone/>
            </a:pPr>
            <a:r>
              <a:rPr lang="en-US" sz="2800" b="1" dirty="0">
                <a:solidFill>
                  <a:srgbClr val="1A1A1A"/>
                </a:solidFill>
              </a:rPr>
              <a:t>4</a:t>
            </a:r>
            <a:endParaRPr lang="en-US" sz="2800" dirty="0"/>
          </a:p>
        </p:txBody>
      </p:sp>
      <p:sp>
        <p:nvSpPr>
          <p:cNvPr id="18" name="clean-kpi-4-label"/>
          <p:cNvSpPr txBox="1"/>
          <p:nvPr/>
        </p:nvSpPr>
        <p:spPr>
          <a:xfrm>
            <a:off x="9811512" y="2240280"/>
            <a:ext cx="1709928" cy="320040"/>
          </a:xfrm>
          <a:prstGeom prst="rect">
            <a:avLst/>
          </a:prstGeom>
          <a:noFill/>
          <a:ln/>
        </p:spPr>
        <p:txBody>
          <a:bodyPr wrap="square" lIns="0" tIns="0" rIns="0" bIns="0" rtlCol="0" anchor="t"/>
          <a:lstStyle/>
          <a:p>
            <a:pPr indent="0" marL="0">
              <a:buNone/>
            </a:pPr>
            <a:r>
              <a:rPr lang="en-US" sz="1100" dirty="0">
                <a:solidFill>
                  <a:srgbClr val="6B6B6B"/>
                </a:solidFill>
              </a:rPr>
              <a:t>격리 행</a:t>
            </a:r>
            <a:endParaRPr lang="en-US" sz="1100" dirty="0"/>
          </a:p>
        </p:txBody>
      </p:sp>
      <p:graphicFrame>
        <p:nvGraphicFramePr>
          <p:cNvPr id="19" name="chart-errtype" descr=""/>
          <p:cNvGraphicFramePr/>
          <p:nvPr/>
        </p:nvGraphicFramePr>
        <p:xfrm>
          <a:off x="548640" y="278892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20" name="clean-principle"/>
          <p:cNvSpPr/>
          <p:nvPr/>
        </p:nvSpPr>
        <p:spPr>
          <a:xfrm>
            <a:off x="7498080" y="2834640"/>
            <a:ext cx="4160520" cy="2926080"/>
          </a:xfrm>
          <a:prstGeom prst="roundRect">
            <a:avLst>
              <a:gd name="adj" fmla="val 1875"/>
            </a:avLst>
          </a:prstGeom>
          <a:solidFill>
            <a:srgbClr val="F4F4F4"/>
          </a:solidFill>
          <a:ln w="9525">
            <a:solidFill>
              <a:srgbClr val="F4F4F4"/>
            </a:solidFill>
            <a:prstDash val="solid"/>
          </a:ln>
        </p:spPr>
      </p:sp>
      <p:sp>
        <p:nvSpPr>
          <p:cNvPr id="21" name="principle-h"/>
          <p:cNvSpPr txBox="1"/>
          <p:nvPr/>
        </p:nvSpPr>
        <p:spPr>
          <a:xfrm>
            <a:off x="7772400" y="3017520"/>
            <a:ext cx="3657600" cy="320040"/>
          </a:xfrm>
          <a:prstGeom prst="rect">
            <a:avLst/>
          </a:prstGeom>
          <a:noFill/>
          <a:ln/>
        </p:spPr>
        <p:txBody>
          <a:bodyPr wrap="square" lIns="0" tIns="0" rIns="0" bIns="0" rtlCol="0" anchor="t"/>
          <a:lstStyle/>
          <a:p>
            <a:pPr indent="0" marL="0">
              <a:buNone/>
            </a:pPr>
            <a:r>
              <a:rPr lang="en-US" sz="1400" b="1" dirty="0">
                <a:solidFill>
                  <a:srgbClr val="E10600"/>
                </a:solidFill>
              </a:rPr>
              <a:t>고치는 원칙</a:t>
            </a:r>
            <a:endParaRPr lang="en-US" sz="1400" dirty="0"/>
          </a:p>
        </p:txBody>
      </p:sp>
      <p:sp>
        <p:nvSpPr>
          <p:cNvPr id="22" name="principle-list"/>
          <p:cNvSpPr txBox="1"/>
          <p:nvPr/>
        </p:nvSpPr>
        <p:spPr>
          <a:xfrm>
            <a:off x="7772400" y="3429000"/>
            <a:ext cx="370332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근거가 있는 규칙으로만 복구 (예: 하위 5개 파일이 모두 같은 meeting_key)</a:t>
            </a:r>
            <a:endParaRPr lang="en-US" sz="1200" dirty="0"/>
          </a:p>
          <a:p>
            <a:pPr marL="342900" indent="-342900">
              <a:spcAft>
                <a:spcPts val="600"/>
              </a:spcAft>
              <a:buSzPct val="100000"/>
              <a:buChar char="•"/>
            </a:pPr>
            <a:r>
              <a:rPr lang="en-US" sz="1200" dirty="0">
                <a:solidFill>
                  <a:srgbClr val="1A1A1A"/>
                </a:solidFill>
              </a:rPr>
              <a:t>중앙값 같은 통계값으로 결측을 채우지 않음</a:t>
            </a:r>
            <a:endParaRPr lang="en-US" sz="1200" dirty="0"/>
          </a:p>
          <a:p>
            <a:pPr marL="342900" indent="-342900">
              <a:spcAft>
                <a:spcPts val="600"/>
              </a:spcAft>
              <a:buSzPct val="100000"/>
              <a:buChar char="•"/>
            </a:pPr>
            <a:r>
              <a:rPr lang="en-US" sz="1200" dirty="0">
                <a:solidFill>
                  <a:srgbClr val="1A1A1A"/>
                </a:solidFill>
              </a:rPr>
              <a:t>1랩 랩타임 결측 등 원천 특성은 '허용'으로 기록</a:t>
            </a:r>
            <a:endParaRPr lang="en-US" sz="1200" dirty="0"/>
          </a:p>
          <a:p>
            <a:pPr marL="342900" indent="-342900">
              <a:spcAft>
                <a:spcPts val="600"/>
              </a:spcAft>
              <a:buSzPct val="100000"/>
              <a:buChar char="•"/>
            </a:pPr>
            <a:r>
              <a:rPr lang="en-US" sz="1200" dirty="0">
                <a:solidFill>
                  <a:srgbClr val="1A1A1A"/>
                </a:solidFill>
              </a:rPr>
              <a:t>복구 후 같은 규칙으로 다시 검사해 잔여 건수 기록</a:t>
            </a:r>
            <a:endParaRPr lang="en-US" sz="1200" dirty="0"/>
          </a:p>
        </p:txBody>
      </p:sp>
      <p:sp>
        <p:nvSpPr>
          <p:cNvPr id="23"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탐지의 98%는 결측이고 그중 90%는 원천 특성 — 고친 것보다 '고치지 않은 이유'를 남기는 것이 핵심이었다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같은 154개 규칙을 두 번 돌려 결과가 같았다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정제 직후 파일은 pandas로, DB 적재 후에는 MySQL로 VC01~VC71 검사</a:t>
            </a:r>
            <a:endParaRPr lang="en-US" sz="1400" dirty="0"/>
          </a:p>
        </p:txBody>
      </p:sp>
      <p:graphicFrame>
        <p:nvGraphicFramePr>
          <p:cNvPr id="4" name="chart-validation" descr=""/>
          <p:cNvGraphicFramePr/>
          <p:nvPr/>
        </p:nvGraphicFramePr>
        <p:xfrm>
          <a:off x="548640" y="1463040"/>
          <a:ext cx="4023360" cy="4206240"/>
        </p:xfrm>
        <a:graphic xmlns:a="http://schemas.openxmlformats.org/drawingml/2006/main">
          <a:graphicData uri="http://schemas.openxmlformats.org/drawingml/2006/chart">
            <c:chart xmlns:c="http://schemas.openxmlformats.org/drawingml/2006/chart" r:id="rId1"/>
          </a:graphicData>
        </a:graphic>
      </p:graphicFrame>
      <p:sp>
        <p:nvSpPr>
          <p:cNvPr id="5" name="donut-center"/>
          <p:cNvSpPr txBox="1"/>
          <p:nvPr/>
        </p:nvSpPr>
        <p:spPr>
          <a:xfrm>
            <a:off x="1417320" y="2880360"/>
            <a:ext cx="2286000" cy="548640"/>
          </a:xfrm>
          <a:prstGeom prst="rect">
            <a:avLst/>
          </a:prstGeom>
          <a:noFill/>
          <a:ln/>
        </p:spPr>
        <p:txBody>
          <a:bodyPr wrap="square" lIns="0" tIns="0" rIns="0" bIns="0" rtlCol="0" anchor="t"/>
          <a:lstStyle/>
          <a:p>
            <a:pPr algn="ctr" indent="0" marL="0">
              <a:buNone/>
            </a:pPr>
            <a:r>
              <a:rPr lang="en-US" sz="2800" b="1" dirty="0">
                <a:solidFill>
                  <a:srgbClr val="1A1A1A"/>
                </a:solidFill>
              </a:rPr>
              <a:t>FAIL 0</a:t>
            </a:r>
            <a:endParaRPr lang="en-US" sz="2800" dirty="0"/>
          </a:p>
        </p:txBody>
      </p:sp>
      <p:sp>
        <p:nvSpPr>
          <p:cNvPr id="6" name="donut-sub"/>
          <p:cNvSpPr txBox="1"/>
          <p:nvPr/>
        </p:nvSpPr>
        <p:spPr>
          <a:xfrm>
            <a:off x="1417320" y="3429000"/>
            <a:ext cx="2286000" cy="320040"/>
          </a:xfrm>
          <a:prstGeom prst="rect">
            <a:avLst/>
          </a:prstGeom>
          <a:noFill/>
          <a:ln/>
        </p:spPr>
        <p:txBody>
          <a:bodyPr wrap="square" lIns="0" tIns="0" rIns="0" bIns="0" rtlCol="0" anchor="t"/>
          <a:lstStyle/>
          <a:p>
            <a:pPr algn="ctr" indent="0" marL="0">
              <a:buNone/>
            </a:pPr>
            <a:r>
              <a:rPr lang="en-US" sz="1200" dirty="0">
                <a:solidFill>
                  <a:srgbClr val="6B6B6B"/>
                </a:solidFill>
              </a:rPr>
              <a:t>정제 전 FAIL 12</a:t>
            </a:r>
            <a:endParaRPr lang="en-US" sz="1200" dirty="0"/>
          </a:p>
        </p:txBody>
      </p:sp>
      <p:sp>
        <p:nvSpPr>
          <p:cNvPr id="7" name="check-0"/>
          <p:cNvSpPr/>
          <p:nvPr/>
        </p:nvSpPr>
        <p:spPr>
          <a:xfrm>
            <a:off x="4937760" y="1508760"/>
            <a:ext cx="6720840" cy="868680"/>
          </a:xfrm>
          <a:prstGeom prst="roundRect">
            <a:avLst>
              <a:gd name="adj" fmla="val 6316"/>
            </a:avLst>
          </a:prstGeom>
          <a:solidFill>
            <a:srgbClr val="F4F4F4"/>
          </a:solidFill>
          <a:ln w="9525">
            <a:solidFill>
              <a:srgbClr val="F4F4F4"/>
            </a:solidFill>
            <a:prstDash val="solid"/>
          </a:ln>
        </p:spPr>
      </p:sp>
      <p:sp>
        <p:nvSpPr>
          <p:cNvPr id="8" name="check-badge-0"/>
          <p:cNvSpPr/>
          <p:nvPr/>
        </p:nvSpPr>
        <p:spPr>
          <a:xfrm>
            <a:off x="5166360" y="1691640"/>
            <a:ext cx="502920" cy="502920"/>
          </a:xfrm>
          <a:prstGeom prst="ellipse">
            <a:avLst/>
          </a:prstGeom>
          <a:solidFill>
            <a:srgbClr val="1A1A1A"/>
          </a:solidFill>
          <a:ln w="12700">
            <a:solidFill>
              <a:srgbClr val="1A1A1A"/>
            </a:solidFill>
            <a:prstDash val="solid"/>
          </a:ln>
        </p:spPr>
      </p:sp>
      <p:sp>
        <p:nvSpPr>
          <p:cNvPr id="9" name="check-badge-0-t"/>
          <p:cNvSpPr txBox="1"/>
          <p:nvPr/>
        </p:nvSpPr>
        <p:spPr>
          <a:xfrm>
            <a:off x="5166360" y="1691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0" name="check-h-0"/>
          <p:cNvSpPr txBox="1"/>
          <p:nvPr/>
        </p:nvSpPr>
        <p:spPr>
          <a:xfrm>
            <a:off x="5897880" y="1627632"/>
            <a:ext cx="5577840" cy="320040"/>
          </a:xfrm>
          <a:prstGeom prst="rect">
            <a:avLst/>
          </a:prstGeom>
          <a:noFill/>
          <a:ln/>
        </p:spPr>
        <p:txBody>
          <a:bodyPr wrap="square" lIns="0" tIns="0" rIns="0" bIns="0" rtlCol="0" anchor="t"/>
          <a:lstStyle/>
          <a:p>
            <a:pPr indent="0" marL="0">
              <a:buNone/>
            </a:pPr>
            <a:r>
              <a:rPr lang="en-US" sz="1400" b="1" dirty="0">
                <a:solidFill>
                  <a:srgbClr val="1A1A1A"/>
                </a:solidFill>
              </a:rPr>
              <a:t>pandas ↔ MySQL</a:t>
            </a:r>
            <a:endParaRPr lang="en-US" sz="1400" dirty="0"/>
          </a:p>
        </p:txBody>
      </p:sp>
      <p:sp>
        <p:nvSpPr>
          <p:cNvPr id="11" name="check-d-0"/>
          <p:cNvSpPr txBox="1"/>
          <p:nvPr/>
        </p:nvSpPr>
        <p:spPr>
          <a:xfrm>
            <a:off x="5897880" y="1965960"/>
            <a:ext cx="5577840" cy="320040"/>
          </a:xfrm>
          <a:prstGeom prst="rect">
            <a:avLst/>
          </a:prstGeom>
          <a:noFill/>
          <a:ln/>
        </p:spPr>
        <p:txBody>
          <a:bodyPr wrap="square" lIns="0" tIns="0" rIns="0" bIns="0" rtlCol="0" anchor="t"/>
          <a:lstStyle/>
          <a:p>
            <a:pPr indent="0" marL="0">
              <a:buNone/>
            </a:pPr>
            <a:r>
              <a:rPr lang="en-US" sz="1200" dirty="0">
                <a:solidFill>
                  <a:srgbClr val="6B6B6B"/>
                </a:solidFill>
              </a:rPr>
              <a:t>같은 검사 ID·대상의 위반 건수가 154개 모두 일치</a:t>
            </a:r>
            <a:endParaRPr lang="en-US" sz="1200" dirty="0"/>
          </a:p>
        </p:txBody>
      </p:sp>
      <p:sp>
        <p:nvSpPr>
          <p:cNvPr id="12" name="check-1"/>
          <p:cNvSpPr/>
          <p:nvPr/>
        </p:nvSpPr>
        <p:spPr>
          <a:xfrm>
            <a:off x="4937760" y="2532888"/>
            <a:ext cx="6720840" cy="868680"/>
          </a:xfrm>
          <a:prstGeom prst="roundRect">
            <a:avLst>
              <a:gd name="adj" fmla="val 6316"/>
            </a:avLst>
          </a:prstGeom>
          <a:solidFill>
            <a:srgbClr val="F4F4F4"/>
          </a:solidFill>
          <a:ln w="9525">
            <a:solidFill>
              <a:srgbClr val="F4F4F4"/>
            </a:solidFill>
            <a:prstDash val="solid"/>
          </a:ln>
        </p:spPr>
      </p:sp>
      <p:sp>
        <p:nvSpPr>
          <p:cNvPr id="13" name="check-badge-1"/>
          <p:cNvSpPr/>
          <p:nvPr/>
        </p:nvSpPr>
        <p:spPr>
          <a:xfrm>
            <a:off x="5166360" y="2715768"/>
            <a:ext cx="502920" cy="502920"/>
          </a:xfrm>
          <a:prstGeom prst="ellipse">
            <a:avLst/>
          </a:prstGeom>
          <a:solidFill>
            <a:srgbClr val="1A1A1A"/>
          </a:solidFill>
          <a:ln w="12700">
            <a:solidFill>
              <a:srgbClr val="1A1A1A"/>
            </a:solidFill>
            <a:prstDash val="solid"/>
          </a:ln>
        </p:spPr>
      </p:sp>
      <p:sp>
        <p:nvSpPr>
          <p:cNvPr id="14" name="check-badge-1-t"/>
          <p:cNvSpPr txBox="1"/>
          <p:nvPr/>
        </p:nvSpPr>
        <p:spPr>
          <a:xfrm>
            <a:off x="516636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check-h-1"/>
          <p:cNvSpPr txBox="1"/>
          <p:nvPr/>
        </p:nvSpPr>
        <p:spPr>
          <a:xfrm>
            <a:off x="5897880" y="2651760"/>
            <a:ext cx="5577840" cy="320040"/>
          </a:xfrm>
          <a:prstGeom prst="rect">
            <a:avLst/>
          </a:prstGeom>
          <a:noFill/>
          <a:ln/>
        </p:spPr>
        <p:txBody>
          <a:bodyPr wrap="square" lIns="0" tIns="0" rIns="0" bIns="0" rtlCol="0" anchor="t"/>
          <a:lstStyle/>
          <a:p>
            <a:pPr indent="0" marL="0">
              <a:buNone/>
            </a:pPr>
            <a:r>
              <a:rPr lang="en-US" sz="1400" b="1" dirty="0">
                <a:solidFill>
                  <a:srgbClr val="1A1A1A"/>
                </a:solidFill>
              </a:rPr>
              <a:t>행 수 대사</a:t>
            </a:r>
            <a:endParaRPr lang="en-US" sz="1400" dirty="0"/>
          </a:p>
        </p:txBody>
      </p:sp>
      <p:sp>
        <p:nvSpPr>
          <p:cNvPr id="16" name="check-d-1"/>
          <p:cNvSpPr txBox="1"/>
          <p:nvPr/>
        </p:nvSpPr>
        <p:spPr>
          <a:xfrm>
            <a:off x="5897880" y="2990088"/>
            <a:ext cx="5577840" cy="320040"/>
          </a:xfrm>
          <a:prstGeom prst="rect">
            <a:avLst/>
          </a:prstGeom>
          <a:noFill/>
          <a:ln/>
        </p:spPr>
        <p:txBody>
          <a:bodyPr wrap="square" lIns="0" tIns="0" rIns="0" bIns="0" rtlCol="0" anchor="t"/>
          <a:lstStyle/>
          <a:p>
            <a:pPr indent="0" marL="0">
              <a:buNone/>
            </a:pPr>
            <a:r>
              <a:rPr lang="en-US" sz="1200" dirty="0">
                <a:solidFill>
                  <a:srgbClr val="6B6B6B"/>
                </a:solidFill>
              </a:rPr>
              <a:t>원본 120,873 = 유지 119,575 + 복구 1,294 + 격리 4 + 제거 0</a:t>
            </a:r>
            <a:endParaRPr lang="en-US" sz="1200" dirty="0"/>
          </a:p>
        </p:txBody>
      </p:sp>
      <p:sp>
        <p:nvSpPr>
          <p:cNvPr id="17" name="check-2"/>
          <p:cNvSpPr/>
          <p:nvPr/>
        </p:nvSpPr>
        <p:spPr>
          <a:xfrm>
            <a:off x="4937760" y="3557016"/>
            <a:ext cx="6720840" cy="868680"/>
          </a:xfrm>
          <a:prstGeom prst="roundRect">
            <a:avLst>
              <a:gd name="adj" fmla="val 6316"/>
            </a:avLst>
          </a:prstGeom>
          <a:solidFill>
            <a:srgbClr val="F4F4F4"/>
          </a:solidFill>
          <a:ln w="9525">
            <a:solidFill>
              <a:srgbClr val="F4F4F4"/>
            </a:solidFill>
            <a:prstDash val="solid"/>
          </a:ln>
        </p:spPr>
      </p:sp>
      <p:sp>
        <p:nvSpPr>
          <p:cNvPr id="18" name="check-badge-2"/>
          <p:cNvSpPr/>
          <p:nvPr/>
        </p:nvSpPr>
        <p:spPr>
          <a:xfrm>
            <a:off x="5166360" y="3739896"/>
            <a:ext cx="502920" cy="502920"/>
          </a:xfrm>
          <a:prstGeom prst="ellipse">
            <a:avLst/>
          </a:prstGeom>
          <a:solidFill>
            <a:srgbClr val="1A1A1A"/>
          </a:solidFill>
          <a:ln w="12700">
            <a:solidFill>
              <a:srgbClr val="1A1A1A"/>
            </a:solidFill>
            <a:prstDash val="solid"/>
          </a:ln>
        </p:spPr>
      </p:sp>
      <p:sp>
        <p:nvSpPr>
          <p:cNvPr id="19" name="check-badge-2-t"/>
          <p:cNvSpPr txBox="1"/>
          <p:nvPr/>
        </p:nvSpPr>
        <p:spPr>
          <a:xfrm>
            <a:off x="5166360" y="373989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0" name="check-h-2"/>
          <p:cNvSpPr txBox="1"/>
          <p:nvPr/>
        </p:nvSpPr>
        <p:spPr>
          <a:xfrm>
            <a:off x="5897880" y="3675888"/>
            <a:ext cx="5577840" cy="320040"/>
          </a:xfrm>
          <a:prstGeom prst="rect">
            <a:avLst/>
          </a:prstGeom>
          <a:noFill/>
          <a:ln/>
        </p:spPr>
        <p:txBody>
          <a:bodyPr wrap="square" lIns="0" tIns="0" rIns="0" bIns="0" rtlCol="0" anchor="t"/>
          <a:lstStyle/>
          <a:p>
            <a:pPr indent="0" marL="0">
              <a:buNone/>
            </a:pPr>
            <a:r>
              <a:rPr lang="en-US" sz="1400" b="1" dirty="0">
                <a:solidFill>
                  <a:srgbClr val="1A1A1A"/>
                </a:solidFill>
              </a:rPr>
              <a:t>적재 대사</a:t>
            </a:r>
            <a:endParaRPr lang="en-US" sz="1400" dirty="0"/>
          </a:p>
        </p:txBody>
      </p:sp>
      <p:sp>
        <p:nvSpPr>
          <p:cNvPr id="21" name="check-d-2"/>
          <p:cNvSpPr txBox="1"/>
          <p:nvPr/>
        </p:nvSpPr>
        <p:spPr>
          <a:xfrm>
            <a:off x="5897880" y="4014216"/>
            <a:ext cx="5577840" cy="320040"/>
          </a:xfrm>
          <a:prstGeom prst="rect">
            <a:avLst/>
          </a:prstGeom>
          <a:noFill/>
          <a:ln/>
        </p:spPr>
        <p:txBody>
          <a:bodyPr wrap="square" lIns="0" tIns="0" rIns="0" bIns="0" rtlCol="0" anchor="t"/>
          <a:lstStyle/>
          <a:p>
            <a:pPr indent="0" marL="0">
              <a:buNone/>
            </a:pPr>
            <a:r>
              <a:rPr lang="en-US" sz="1200" dirty="0">
                <a:solidFill>
                  <a:srgbClr val="6B6B6B"/>
                </a:solidFill>
              </a:rPr>
              <a:t>스테이징 → 정규화 스키마 13개 테이블 차이 0</a:t>
            </a:r>
            <a:endParaRPr lang="en-US" sz="1200" dirty="0"/>
          </a:p>
        </p:txBody>
      </p:sp>
      <p:sp>
        <p:nvSpPr>
          <p:cNvPr id="22" name="check-3"/>
          <p:cNvSpPr/>
          <p:nvPr/>
        </p:nvSpPr>
        <p:spPr>
          <a:xfrm>
            <a:off x="4937760" y="4581144"/>
            <a:ext cx="6720840" cy="868680"/>
          </a:xfrm>
          <a:prstGeom prst="roundRect">
            <a:avLst>
              <a:gd name="adj" fmla="val 6316"/>
            </a:avLst>
          </a:prstGeom>
          <a:solidFill>
            <a:srgbClr val="F4F4F4"/>
          </a:solidFill>
          <a:ln w="9525">
            <a:solidFill>
              <a:srgbClr val="F4F4F4"/>
            </a:solidFill>
            <a:prstDash val="solid"/>
          </a:ln>
        </p:spPr>
      </p:sp>
      <p:sp>
        <p:nvSpPr>
          <p:cNvPr id="23" name="check-badge-3"/>
          <p:cNvSpPr/>
          <p:nvPr/>
        </p:nvSpPr>
        <p:spPr>
          <a:xfrm>
            <a:off x="5166360" y="4764024"/>
            <a:ext cx="502920" cy="502920"/>
          </a:xfrm>
          <a:prstGeom prst="ellipse">
            <a:avLst/>
          </a:prstGeom>
          <a:solidFill>
            <a:srgbClr val="1A1A1A"/>
          </a:solidFill>
          <a:ln w="12700">
            <a:solidFill>
              <a:srgbClr val="1A1A1A"/>
            </a:solidFill>
            <a:prstDash val="solid"/>
          </a:ln>
        </p:spPr>
      </p:sp>
      <p:sp>
        <p:nvSpPr>
          <p:cNvPr id="24" name="check-badge-3-t"/>
          <p:cNvSpPr txBox="1"/>
          <p:nvPr/>
        </p:nvSpPr>
        <p:spPr>
          <a:xfrm>
            <a:off x="5166360" y="476402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5" name="check-h-3"/>
          <p:cNvSpPr txBox="1"/>
          <p:nvPr/>
        </p:nvSpPr>
        <p:spPr>
          <a:xfrm>
            <a:off x="5897880" y="4700016"/>
            <a:ext cx="5577840" cy="320040"/>
          </a:xfrm>
          <a:prstGeom prst="rect">
            <a:avLst/>
          </a:prstGeom>
          <a:noFill/>
          <a:ln/>
        </p:spPr>
        <p:txBody>
          <a:bodyPr wrap="square" lIns="0" tIns="0" rIns="0" bIns="0" rtlCol="0" anchor="t"/>
          <a:lstStyle/>
          <a:p>
            <a:pPr indent="0" marL="0">
              <a:buNone/>
            </a:pPr>
            <a:r>
              <a:rPr lang="en-US" sz="1400" b="1" dirty="0">
                <a:solidFill>
                  <a:srgbClr val="1A1A1A"/>
                </a:solidFill>
              </a:rPr>
              <a:t>포인트 점검</a:t>
            </a:r>
            <a:endParaRPr lang="en-US" sz="1400" dirty="0"/>
          </a:p>
        </p:txBody>
      </p:sp>
      <p:sp>
        <p:nvSpPr>
          <p:cNvPr id="26" name="check-d-3"/>
          <p:cNvSpPr txBox="1"/>
          <p:nvPr/>
        </p:nvSpPr>
        <p:spPr>
          <a:xfrm>
            <a:off x="5897880" y="5038344"/>
            <a:ext cx="5577840" cy="320040"/>
          </a:xfrm>
          <a:prstGeom prst="rect">
            <a:avLst/>
          </a:prstGeom>
          <a:noFill/>
          <a:ln/>
        </p:spPr>
        <p:txBody>
          <a:bodyPr wrap="square" lIns="0" tIns="0" rIns="0" bIns="0" rtlCol="0" anchor="t"/>
          <a:lstStyle/>
          <a:p>
            <a:pPr indent="0" marL="0">
              <a:buNone/>
            </a:pPr>
            <a:r>
              <a:rPr lang="en-US" sz="1200" dirty="0">
                <a:solidFill>
                  <a:srgbClr val="6B6B6B"/>
                </a:solidFill>
              </a:rPr>
              <a:t>2023~2026 시즌별 드라이버 포인트 합 = 팀 합</a:t>
            </a:r>
            <a:endParaRPr lang="en-US" sz="1200" dirty="0"/>
          </a:p>
        </p:txBody>
      </p:sp>
      <p:sp>
        <p:nvSpPr>
          <p:cNvPr id="27"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WARN 7건(스틴트 밖 랩 280건, 섹터 합 불일치 20건 등)은 오류가 아니라 원천 특성 — 분석의 제외·보류 기준으로 관리한다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원본 → 정제 → 지표 → 화면, 단계마다 결과를 남겼다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메달리온 구조 · 저장소 data/01_raw ~ 05_gold, MySQL 스테이징 → 스키마 → Gold</a:t>
            </a:r>
            <a:endParaRPr lang="en-US" sz="1400" dirty="0"/>
          </a:p>
        </p:txBody>
      </p:sp>
      <p:sp>
        <p:nvSpPr>
          <p:cNvPr id="4" name="layer-0"/>
          <p:cNvSpPr/>
          <p:nvPr/>
        </p:nvSpPr>
        <p:spPr>
          <a:xfrm>
            <a:off x="548640" y="1554480"/>
            <a:ext cx="2651760" cy="3611880"/>
          </a:xfrm>
          <a:prstGeom prst="roundRect">
            <a:avLst>
              <a:gd name="adj" fmla="val 2069"/>
            </a:avLst>
          </a:prstGeom>
          <a:solidFill>
            <a:srgbClr val="F4F4F4"/>
          </a:solidFill>
          <a:ln w="9525">
            <a:solidFill>
              <a:srgbClr val="F4F4F4"/>
            </a:solidFill>
            <a:prstDash val="solid"/>
          </a:ln>
        </p:spPr>
      </p:sp>
      <p:sp>
        <p:nvSpPr>
          <p:cNvPr id="5" name="layer-n-0"/>
          <p:cNvSpPr txBox="1"/>
          <p:nvPr/>
        </p:nvSpPr>
        <p:spPr>
          <a:xfrm>
            <a:off x="777240" y="1737360"/>
            <a:ext cx="2194560" cy="411480"/>
          </a:xfrm>
          <a:prstGeom prst="rect">
            <a:avLst/>
          </a:prstGeom>
          <a:noFill/>
          <a:ln/>
        </p:spPr>
        <p:txBody>
          <a:bodyPr wrap="square" lIns="0" tIns="0" rIns="0" bIns="0" rtlCol="0" anchor="t"/>
          <a:lstStyle/>
          <a:p>
            <a:pPr indent="0" marL="0">
              <a:buNone/>
            </a:pPr>
            <a:r>
              <a:rPr lang="en-US" sz="1800" b="1" dirty="0">
                <a:solidFill>
                  <a:srgbClr val="1A1A1A"/>
                </a:solidFill>
              </a:rPr>
              <a:t>BRONZE</a:t>
            </a:r>
            <a:endParaRPr lang="en-US" sz="1800" dirty="0"/>
          </a:p>
        </p:txBody>
      </p:sp>
      <p:sp>
        <p:nvSpPr>
          <p:cNvPr id="6" name="layer-s-0"/>
          <p:cNvSpPr txBox="1"/>
          <p:nvPr/>
        </p:nvSpPr>
        <p:spPr>
          <a:xfrm>
            <a:off x="777240" y="2148840"/>
            <a:ext cx="2194560" cy="320040"/>
          </a:xfrm>
          <a:prstGeom prst="rect">
            <a:avLst/>
          </a:prstGeom>
          <a:noFill/>
          <a:ln/>
        </p:spPr>
        <p:txBody>
          <a:bodyPr wrap="square" lIns="0" tIns="0" rIns="0" bIns="0" rtlCol="0" anchor="t"/>
          <a:lstStyle/>
          <a:p>
            <a:pPr indent="0" marL="0">
              <a:buNone/>
            </a:pPr>
            <a:r>
              <a:rPr lang="en-US" sz="1200" dirty="0">
                <a:solidFill>
                  <a:srgbClr val="6B6B6B"/>
                </a:solidFill>
              </a:rPr>
              <a:t>원본 보존</a:t>
            </a:r>
            <a:endParaRPr lang="en-US" sz="1200" dirty="0"/>
          </a:p>
        </p:txBody>
      </p:sp>
      <p:sp>
        <p:nvSpPr>
          <p:cNvPr id="7" name="layer-i-0"/>
          <p:cNvSpPr txBox="1"/>
          <p:nvPr/>
        </p:nvSpPr>
        <p:spPr>
          <a:xfrm>
            <a:off x="777240" y="265176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data/01_raw — zip 원본, 체크섬·명세 대조</a:t>
            </a:r>
            <a:endParaRPr lang="en-US" sz="1200" dirty="0"/>
          </a:p>
          <a:p>
            <a:pPr marL="342900" indent="-342900">
              <a:spcAft>
                <a:spcPts val="600"/>
              </a:spcAft>
              <a:buSzPct val="100000"/>
              <a:buChar char="•"/>
            </a:pPr>
            <a:r>
              <a:rPr lang="en-US" sz="1200" dirty="0">
                <a:solidFill>
                  <a:srgbClr val="1A1A1A"/>
                </a:solidFill>
              </a:rPr>
              <a:t>MySQL 문자열 스테이징 stg_*</a:t>
            </a:r>
            <a:endParaRPr lang="en-US" sz="1200" dirty="0"/>
          </a:p>
        </p:txBody>
      </p:sp>
      <p:sp>
        <p:nvSpPr>
          <p:cNvPr id="8" name="layer-arrow-0"/>
          <p:cNvSpPr txBox="1"/>
          <p:nvPr/>
        </p:nvSpPr>
        <p:spPr>
          <a:xfrm>
            <a:off x="3218688" y="3017520"/>
            <a:ext cx="164592" cy="457200"/>
          </a:xfrm>
          <a:prstGeom prst="rect">
            <a:avLst/>
          </a:prstGeom>
          <a:noFill/>
          <a:ln/>
        </p:spPr>
        <p:txBody>
          <a:bodyPr wrap="square" lIns="0" tIns="0" rIns="0" bIns="0" rtlCol="0" anchor="t"/>
          <a:lstStyle/>
          <a:p>
            <a:pPr algn="ctr" indent="0" marL="0">
              <a:buNone/>
            </a:pPr>
            <a:r>
              <a:rPr lang="en-US" sz="2200" b="1" dirty="0">
                <a:solidFill>
                  <a:srgbClr val="E10600"/>
                </a:solidFill>
              </a:rPr>
              <a:t>›</a:t>
            </a:r>
            <a:endParaRPr lang="en-US" sz="2200" dirty="0"/>
          </a:p>
        </p:txBody>
      </p:sp>
      <p:sp>
        <p:nvSpPr>
          <p:cNvPr id="9" name="layer-1"/>
          <p:cNvSpPr/>
          <p:nvPr/>
        </p:nvSpPr>
        <p:spPr>
          <a:xfrm>
            <a:off x="3364992" y="1554480"/>
            <a:ext cx="2651760" cy="3611880"/>
          </a:xfrm>
          <a:prstGeom prst="roundRect">
            <a:avLst>
              <a:gd name="adj" fmla="val 2069"/>
            </a:avLst>
          </a:prstGeom>
          <a:solidFill>
            <a:srgbClr val="F4F4F4"/>
          </a:solidFill>
          <a:ln w="9525">
            <a:solidFill>
              <a:srgbClr val="F4F4F4"/>
            </a:solidFill>
            <a:prstDash val="solid"/>
          </a:ln>
        </p:spPr>
      </p:sp>
      <p:sp>
        <p:nvSpPr>
          <p:cNvPr id="10" name="layer-n-1"/>
          <p:cNvSpPr txBox="1"/>
          <p:nvPr/>
        </p:nvSpPr>
        <p:spPr>
          <a:xfrm>
            <a:off x="3593592" y="1737360"/>
            <a:ext cx="2194560" cy="411480"/>
          </a:xfrm>
          <a:prstGeom prst="rect">
            <a:avLst/>
          </a:prstGeom>
          <a:noFill/>
          <a:ln/>
        </p:spPr>
        <p:txBody>
          <a:bodyPr wrap="square" lIns="0" tIns="0" rIns="0" bIns="0" rtlCol="0" anchor="t"/>
          <a:lstStyle/>
          <a:p>
            <a:pPr indent="0" marL="0">
              <a:buNone/>
            </a:pPr>
            <a:r>
              <a:rPr lang="en-US" sz="1800" b="1" dirty="0">
                <a:solidFill>
                  <a:srgbClr val="1A1A1A"/>
                </a:solidFill>
              </a:rPr>
              <a:t>SILVER</a:t>
            </a:r>
            <a:endParaRPr lang="en-US" sz="1800" dirty="0"/>
          </a:p>
        </p:txBody>
      </p:sp>
      <p:sp>
        <p:nvSpPr>
          <p:cNvPr id="11" name="layer-s-1"/>
          <p:cNvSpPr txBox="1"/>
          <p:nvPr/>
        </p:nvSpPr>
        <p:spPr>
          <a:xfrm>
            <a:off x="3593592" y="2148840"/>
            <a:ext cx="2194560" cy="320040"/>
          </a:xfrm>
          <a:prstGeom prst="rect">
            <a:avLst/>
          </a:prstGeom>
          <a:noFill/>
          <a:ln/>
        </p:spPr>
        <p:txBody>
          <a:bodyPr wrap="square" lIns="0" tIns="0" rIns="0" bIns="0" rtlCol="0" anchor="t"/>
          <a:lstStyle/>
          <a:p>
            <a:pPr indent="0" marL="0">
              <a:buNone/>
            </a:pPr>
            <a:r>
              <a:rPr lang="en-US" sz="1200" dirty="0">
                <a:solidFill>
                  <a:srgbClr val="6B6B6B"/>
                </a:solidFill>
              </a:rPr>
              <a:t>정제·연결</a:t>
            </a:r>
            <a:endParaRPr lang="en-US" sz="1200" dirty="0"/>
          </a:p>
        </p:txBody>
      </p:sp>
      <p:sp>
        <p:nvSpPr>
          <p:cNvPr id="12" name="layer-i-1"/>
          <p:cNvSpPr txBox="1"/>
          <p:nvPr/>
        </p:nvSpPr>
        <p:spPr>
          <a:xfrm>
            <a:off x="3593592" y="265176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data/03_cleaned — 복구·격리 CSV</a:t>
            </a:r>
            <a:endParaRPr lang="en-US" sz="1200" dirty="0"/>
          </a:p>
          <a:p>
            <a:pPr marL="342900" indent="-342900">
              <a:spcAft>
                <a:spcPts val="600"/>
              </a:spcAft>
              <a:buSzPct val="100000"/>
              <a:buChar char="•"/>
            </a:pPr>
            <a:r>
              <a:rPr lang="en-US" sz="1200" dirty="0">
                <a:solidFill>
                  <a:srgbClr val="1A1A1A"/>
                </a:solidFill>
              </a:rPr>
              <a:t>data/04_reports — 품질·검증 리포트</a:t>
            </a:r>
            <a:endParaRPr lang="en-US" sz="1200" dirty="0"/>
          </a:p>
          <a:p>
            <a:pPr marL="342900" indent="-342900">
              <a:spcAft>
                <a:spcPts val="600"/>
              </a:spcAft>
              <a:buSzPct val="100000"/>
              <a:buChar char="•"/>
            </a:pPr>
            <a:r>
              <a:rPr lang="en-US" sz="1200" dirty="0">
                <a:solidFill>
                  <a:srgbClr val="1A1A1A"/>
                </a:solidFill>
              </a:rPr>
              <a:t>MySQL 정규화 스키마 13개 테이블</a:t>
            </a:r>
            <a:endParaRPr lang="en-US" sz="1200" dirty="0"/>
          </a:p>
        </p:txBody>
      </p:sp>
      <p:sp>
        <p:nvSpPr>
          <p:cNvPr id="13" name="layer-arrow-1"/>
          <p:cNvSpPr txBox="1"/>
          <p:nvPr/>
        </p:nvSpPr>
        <p:spPr>
          <a:xfrm>
            <a:off x="6035040" y="3017520"/>
            <a:ext cx="164592" cy="457200"/>
          </a:xfrm>
          <a:prstGeom prst="rect">
            <a:avLst/>
          </a:prstGeom>
          <a:noFill/>
          <a:ln/>
        </p:spPr>
        <p:txBody>
          <a:bodyPr wrap="square" lIns="0" tIns="0" rIns="0" bIns="0" rtlCol="0" anchor="t"/>
          <a:lstStyle/>
          <a:p>
            <a:pPr algn="ctr" indent="0" marL="0">
              <a:buNone/>
            </a:pPr>
            <a:r>
              <a:rPr lang="en-US" sz="2200" b="1" dirty="0">
                <a:solidFill>
                  <a:srgbClr val="E10600"/>
                </a:solidFill>
              </a:rPr>
              <a:t>›</a:t>
            </a:r>
            <a:endParaRPr lang="en-US" sz="2200" dirty="0"/>
          </a:p>
        </p:txBody>
      </p:sp>
      <p:sp>
        <p:nvSpPr>
          <p:cNvPr id="14" name="layer-2"/>
          <p:cNvSpPr/>
          <p:nvPr/>
        </p:nvSpPr>
        <p:spPr>
          <a:xfrm>
            <a:off x="6181344" y="1554480"/>
            <a:ext cx="2651760" cy="3611880"/>
          </a:xfrm>
          <a:prstGeom prst="roundRect">
            <a:avLst>
              <a:gd name="adj" fmla="val 2069"/>
            </a:avLst>
          </a:prstGeom>
          <a:solidFill>
            <a:srgbClr val="F4F4F4"/>
          </a:solidFill>
          <a:ln w="9525">
            <a:solidFill>
              <a:srgbClr val="F4F4F4"/>
            </a:solidFill>
            <a:prstDash val="solid"/>
          </a:ln>
        </p:spPr>
      </p:sp>
      <p:sp>
        <p:nvSpPr>
          <p:cNvPr id="15" name="layer-n-2"/>
          <p:cNvSpPr txBox="1"/>
          <p:nvPr/>
        </p:nvSpPr>
        <p:spPr>
          <a:xfrm>
            <a:off x="6409944" y="1737360"/>
            <a:ext cx="2194560" cy="411480"/>
          </a:xfrm>
          <a:prstGeom prst="rect">
            <a:avLst/>
          </a:prstGeom>
          <a:noFill/>
          <a:ln/>
        </p:spPr>
        <p:txBody>
          <a:bodyPr wrap="square" lIns="0" tIns="0" rIns="0" bIns="0" rtlCol="0" anchor="t"/>
          <a:lstStyle/>
          <a:p>
            <a:pPr indent="0" marL="0">
              <a:buNone/>
            </a:pPr>
            <a:r>
              <a:rPr lang="en-US" sz="1800" b="1" dirty="0">
                <a:solidFill>
                  <a:srgbClr val="1A1A1A"/>
                </a:solidFill>
              </a:rPr>
              <a:t>GOLD</a:t>
            </a:r>
            <a:endParaRPr lang="en-US" sz="1800" dirty="0"/>
          </a:p>
        </p:txBody>
      </p:sp>
      <p:sp>
        <p:nvSpPr>
          <p:cNvPr id="16" name="layer-s-2"/>
          <p:cNvSpPr txBox="1"/>
          <p:nvPr/>
        </p:nvSpPr>
        <p:spPr>
          <a:xfrm>
            <a:off x="6409944" y="2148840"/>
            <a:ext cx="2194560" cy="320040"/>
          </a:xfrm>
          <a:prstGeom prst="rect">
            <a:avLst/>
          </a:prstGeom>
          <a:noFill/>
          <a:ln/>
        </p:spPr>
        <p:txBody>
          <a:bodyPr wrap="square" lIns="0" tIns="0" rIns="0" bIns="0" rtlCol="0" anchor="t"/>
          <a:lstStyle/>
          <a:p>
            <a:pPr indent="0" marL="0">
              <a:buNone/>
            </a:pPr>
            <a:r>
              <a:rPr lang="en-US" sz="1200" dirty="0">
                <a:solidFill>
                  <a:srgbClr val="6B6B6B"/>
                </a:solidFill>
              </a:rPr>
              <a:t>의사결정 지표</a:t>
            </a:r>
            <a:endParaRPr lang="en-US" sz="1200" dirty="0"/>
          </a:p>
        </p:txBody>
      </p:sp>
      <p:sp>
        <p:nvSpPr>
          <p:cNvPr id="17" name="layer-i-2"/>
          <p:cNvSpPr txBox="1"/>
          <p:nvPr/>
        </p:nvSpPr>
        <p:spPr>
          <a:xfrm>
            <a:off x="6409944" y="265176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data/05_gold → MySQL gold_board_* 11개</a:t>
            </a:r>
            <a:endParaRPr lang="en-US" sz="1200" dirty="0"/>
          </a:p>
          <a:p>
            <a:pPr marL="342900" indent="-342900">
              <a:spcAft>
                <a:spcPts val="600"/>
              </a:spcAft>
              <a:buSzPct val="100000"/>
              <a:buChar char="•"/>
            </a:pPr>
            <a:r>
              <a:rPr lang="en-US" sz="1200" dirty="0">
                <a:solidFill>
                  <a:srgbClr val="1A1A1A"/>
                </a:solidFill>
              </a:rPr>
              <a:t>프로필·팀·경기 결과·후보 판정·품질</a:t>
            </a:r>
            <a:endParaRPr lang="en-US" sz="1200" dirty="0"/>
          </a:p>
        </p:txBody>
      </p:sp>
      <p:sp>
        <p:nvSpPr>
          <p:cNvPr id="18" name="layer-arrow-2"/>
          <p:cNvSpPr txBox="1"/>
          <p:nvPr/>
        </p:nvSpPr>
        <p:spPr>
          <a:xfrm>
            <a:off x="8851392" y="3017520"/>
            <a:ext cx="164592" cy="457200"/>
          </a:xfrm>
          <a:prstGeom prst="rect">
            <a:avLst/>
          </a:prstGeom>
          <a:noFill/>
          <a:ln/>
        </p:spPr>
        <p:txBody>
          <a:bodyPr wrap="square" lIns="0" tIns="0" rIns="0" bIns="0" rtlCol="0" anchor="t"/>
          <a:lstStyle/>
          <a:p>
            <a:pPr algn="ctr" indent="0" marL="0">
              <a:buNone/>
            </a:pPr>
            <a:r>
              <a:rPr lang="en-US" sz="2200" b="1" dirty="0">
                <a:solidFill>
                  <a:srgbClr val="E10600"/>
                </a:solidFill>
              </a:rPr>
              <a:t>›</a:t>
            </a:r>
            <a:endParaRPr lang="en-US" sz="2200" dirty="0"/>
          </a:p>
        </p:txBody>
      </p:sp>
      <p:sp>
        <p:nvSpPr>
          <p:cNvPr id="19" name="layer-3"/>
          <p:cNvSpPr/>
          <p:nvPr/>
        </p:nvSpPr>
        <p:spPr>
          <a:xfrm>
            <a:off x="8997696" y="1554480"/>
            <a:ext cx="2651760" cy="3611880"/>
          </a:xfrm>
          <a:prstGeom prst="roundRect">
            <a:avLst>
              <a:gd name="adj" fmla="val 2069"/>
            </a:avLst>
          </a:prstGeom>
          <a:solidFill>
            <a:srgbClr val="FDECEC"/>
          </a:solidFill>
          <a:ln w="9525">
            <a:solidFill>
              <a:srgbClr val="FDECEC"/>
            </a:solidFill>
            <a:prstDash val="solid"/>
          </a:ln>
        </p:spPr>
      </p:sp>
      <p:sp>
        <p:nvSpPr>
          <p:cNvPr id="20" name="layer-n-3"/>
          <p:cNvSpPr txBox="1"/>
          <p:nvPr/>
        </p:nvSpPr>
        <p:spPr>
          <a:xfrm>
            <a:off x="9226296" y="1737360"/>
            <a:ext cx="2194560" cy="411480"/>
          </a:xfrm>
          <a:prstGeom prst="rect">
            <a:avLst/>
          </a:prstGeom>
          <a:noFill/>
          <a:ln/>
        </p:spPr>
        <p:txBody>
          <a:bodyPr wrap="square" lIns="0" tIns="0" rIns="0" bIns="0" rtlCol="0" anchor="t"/>
          <a:lstStyle/>
          <a:p>
            <a:pPr indent="0" marL="0">
              <a:buNone/>
            </a:pPr>
            <a:r>
              <a:rPr lang="en-US" sz="1800" b="1" dirty="0">
                <a:solidFill>
                  <a:srgbClr val="E10600"/>
                </a:solidFill>
              </a:rPr>
              <a:t>화면</a:t>
            </a:r>
            <a:endParaRPr lang="en-US" sz="1800" dirty="0"/>
          </a:p>
        </p:txBody>
      </p:sp>
      <p:sp>
        <p:nvSpPr>
          <p:cNvPr id="21" name="layer-s-3"/>
          <p:cNvSpPr txBox="1"/>
          <p:nvPr/>
        </p:nvSpPr>
        <p:spPr>
          <a:xfrm>
            <a:off x="9226296" y="2148840"/>
            <a:ext cx="2194560" cy="320040"/>
          </a:xfrm>
          <a:prstGeom prst="rect">
            <a:avLst/>
          </a:prstGeom>
          <a:noFill/>
          <a:ln/>
        </p:spPr>
        <p:txBody>
          <a:bodyPr wrap="square" lIns="0" tIns="0" rIns="0" bIns="0" rtlCol="0" anchor="t"/>
          <a:lstStyle/>
          <a:p>
            <a:pPr indent="0" marL="0">
              <a:buNone/>
            </a:pPr>
            <a:r>
              <a:rPr lang="en-US" sz="1200" dirty="0">
                <a:solidFill>
                  <a:srgbClr val="6B6B6B"/>
                </a:solidFill>
              </a:rPr>
              <a:t>Django</a:t>
            </a:r>
            <a:endParaRPr lang="en-US" sz="1200" dirty="0"/>
          </a:p>
        </p:txBody>
      </p:sp>
      <p:sp>
        <p:nvSpPr>
          <p:cNvPr id="22" name="layer-i-3"/>
          <p:cNvSpPr txBox="1"/>
          <p:nvPr/>
        </p:nvSpPr>
        <p:spPr>
          <a:xfrm>
            <a:off x="9226296" y="2651760"/>
            <a:ext cx="22860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Decision Board (/)</a:t>
            </a:r>
            <a:endParaRPr lang="en-US" sz="1200" dirty="0"/>
          </a:p>
          <a:p>
            <a:pPr marL="342900" indent="-342900">
              <a:spcAft>
                <a:spcPts val="600"/>
              </a:spcAft>
              <a:buSzPct val="100000"/>
              <a:buChar char="•"/>
            </a:pPr>
            <a:r>
              <a:rPr lang="en-US" sz="1200" dirty="0">
                <a:solidFill>
                  <a:srgbClr val="1A1A1A"/>
                </a:solidFill>
              </a:rPr>
              <a:t>적재 테이블 조회 (/data/)</a:t>
            </a:r>
            <a:endParaRPr lang="en-US" sz="1200" dirty="0"/>
          </a:p>
          <a:p>
            <a:pPr marL="342900" indent="-342900">
              <a:spcAft>
                <a:spcPts val="600"/>
              </a:spcAft>
              <a:buSzPct val="100000"/>
              <a:buChar char="•"/>
            </a:pPr>
            <a:r>
              <a:rPr lang="en-US" sz="1200" dirty="0">
                <a:solidFill>
                  <a:srgbClr val="1A1A1A"/>
                </a:solidFill>
              </a:rPr>
              <a:t>파이프라인 관리 (/ops/)</a:t>
            </a:r>
            <a:endParaRPr lang="en-US" sz="1200" dirty="0"/>
          </a:p>
        </p:txBody>
      </p:sp>
      <p:sp>
        <p:nvSpPr>
          <p:cNvPr id="23"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관리자 화면 '전체 실행' 한 번(약 9분)으로 원본에서 화면까지 다시 만들고, 단계마다 대사 결과를 확인할 수 있다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2"/>
          <p:cNvSpPr/>
          <p:nvPr/>
        </p:nvSpPr>
        <p:spPr>
          <a:xfrm>
            <a:off x="731520" y="2514600"/>
            <a:ext cx="822960" cy="822960"/>
          </a:xfrm>
          <a:prstGeom prst="ellipse">
            <a:avLst/>
          </a:prstGeom>
          <a:solidFill>
            <a:srgbClr val="E10600"/>
          </a:solidFill>
          <a:ln w="12700">
            <a:solidFill>
              <a:srgbClr val="E10600"/>
            </a:solidFill>
            <a:prstDash val="solid"/>
          </a:ln>
        </p:spPr>
      </p:sp>
      <p:sp>
        <p:nvSpPr>
          <p:cNvPr id="3" name="sec-2-t"/>
          <p:cNvSpPr txBox="1"/>
          <p:nvPr/>
        </p:nvSpPr>
        <p:spPr>
          <a:xfrm>
            <a:off x="731520" y="25146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rPr>
              <a:t>2</a:t>
            </a:r>
            <a:endParaRPr lang="en-US" sz="3000" dirty="0"/>
          </a:p>
        </p:txBody>
      </p:sp>
      <p:sp>
        <p:nvSpPr>
          <p:cNvPr id="4" name="Text 0"/>
          <p:cNvSpPr/>
          <p:nvPr>
            <p:ph idx="100" type="title" hasCustomPrompt="1"/>
          </p:nvPr>
        </p:nvSpPr>
        <p:spPr>
          <a:xfrm>
            <a:off x="2011680" y="2514600"/>
            <a:ext cx="9144000" cy="822960"/>
          </a:xfrm>
          <a:prstGeom prst="rect">
            <a:avLst/>
          </a:prstGeom>
          <a:noFill/>
          <a:ln/>
        </p:spPr>
        <p:txBody>
          <a:bodyPr wrap="square" lIns="0" tIns="0" rIns="0" bIns="0" rtlCol="0" anchor="ctr"/>
          <a:lstStyle/>
          <a:p>
            <a:pPr algn="l" indent="0" marL="0">
              <a:buNone/>
            </a:pPr>
            <a:r>
              <a:rPr lang="en-US" sz="3600" b="1" dirty="0">
                <a:solidFill>
                  <a:srgbClr val="FFFFFF"/>
                </a:solidFill>
              </a:rPr>
              <a:t>우리 팀은 어디가 약한가</a:t>
            </a:r>
            <a:endParaRPr lang="en-US" sz="3600" dirty="0"/>
          </a:p>
        </p:txBody>
      </p:sp>
      <p:sp>
        <p:nvSpPr>
          <p:cNvPr id="5" name="Text 0"/>
          <p:cNvSpPr/>
          <p:nvPr>
            <p:ph idx="101" type="body" hasCustomPrompt="1"/>
          </p:nvPr>
        </p:nvSpPr>
        <p:spPr>
          <a:xfrm>
            <a:off x="2011680" y="3474720"/>
            <a:ext cx="8778240" cy="1097280"/>
          </a:xfrm>
          <a:prstGeom prst="rect">
            <a:avLst/>
          </a:prstGeom>
          <a:noFill/>
          <a:ln/>
        </p:spPr>
        <p:txBody>
          <a:bodyPr wrap="square" lIns="0" tIns="0" rIns="0" bIns="0" rtlCol="0" anchor="t"/>
          <a:lstStyle/>
          <a:p>
            <a:pPr indent="0" marL="0">
              <a:buNone/>
            </a:pPr>
            <a:r>
              <a:rPr lang="en-US" sz="1600" dirty="0">
                <a:solidFill>
                  <a:srgbClr val="D0D0D0"/>
                </a:solidFill>
              </a:rPr>
              <a:t>사례: 2025 Aston Martin, 비교 기준 Lance STROLL 자리. 처음 생각을 가설로 놓고, 데이터가 같은 방향인지 하나씩 확인합니다.</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Aston Martin은 10팀 중 페이스 7위 — 중간보다 느리다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2025 필드 상대 페이스 · 21개 유효 경기 · 1,462개 참조 연결 랩</a:t>
            </a:r>
            <a:endParaRPr lang="en-US" sz="1400" dirty="0"/>
          </a:p>
        </p:txBody>
      </p:sp>
      <p:graphicFrame>
        <p:nvGraphicFramePr>
          <p:cNvPr id="4" name="chart-pace" descr=""/>
          <p:cNvGraphicFramePr/>
          <p:nvPr/>
        </p:nvGraphicFramePr>
        <p:xfrm>
          <a:off x="548640" y="14630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5" name="pace-rank-card"/>
          <p:cNvSpPr/>
          <p:nvPr/>
        </p:nvSpPr>
        <p:spPr>
          <a:xfrm>
            <a:off x="8183880" y="1554480"/>
            <a:ext cx="3474720" cy="1143000"/>
          </a:xfrm>
          <a:prstGeom prst="roundRect">
            <a:avLst>
              <a:gd name="adj" fmla="val 4800"/>
            </a:avLst>
          </a:prstGeom>
          <a:solidFill>
            <a:srgbClr val="F4F4F4"/>
          </a:solidFill>
          <a:ln w="9525">
            <a:solidFill>
              <a:srgbClr val="F4F4F4"/>
            </a:solidFill>
            <a:prstDash val="solid"/>
          </a:ln>
        </p:spPr>
      </p:sp>
      <p:sp>
        <p:nvSpPr>
          <p:cNvPr id="6" name="pace-rank-num"/>
          <p:cNvSpPr txBox="1"/>
          <p:nvPr/>
        </p:nvSpPr>
        <p:spPr>
          <a:xfrm>
            <a:off x="8412480" y="1719072"/>
            <a:ext cx="3108960" cy="548640"/>
          </a:xfrm>
          <a:prstGeom prst="rect">
            <a:avLst/>
          </a:prstGeom>
          <a:noFill/>
          <a:ln/>
        </p:spPr>
        <p:txBody>
          <a:bodyPr wrap="square" lIns="0" tIns="0" rIns="0" bIns="0" rtlCol="0" anchor="t"/>
          <a:lstStyle/>
          <a:p>
            <a:pPr indent="0" marL="0">
              <a:buNone/>
            </a:pPr>
            <a:r>
              <a:rPr lang="en-US" sz="2800" b="1" dirty="0">
                <a:solidFill>
                  <a:srgbClr val="E10600"/>
                </a:solidFill>
              </a:rPr>
              <a:t>7 / 10</a:t>
            </a:r>
            <a:endParaRPr lang="en-US" sz="2800" dirty="0"/>
          </a:p>
        </p:txBody>
      </p:sp>
      <p:sp>
        <p:nvSpPr>
          <p:cNvPr id="7" name="pace-rank-label"/>
          <p:cNvSpPr txBox="1"/>
          <p:nvPr/>
        </p:nvSpPr>
        <p:spPr>
          <a:xfrm>
            <a:off x="8412480" y="2286000"/>
            <a:ext cx="3108960" cy="320040"/>
          </a:xfrm>
          <a:prstGeom prst="rect">
            <a:avLst/>
          </a:prstGeom>
          <a:noFill/>
          <a:ln/>
        </p:spPr>
        <p:txBody>
          <a:bodyPr wrap="square" lIns="0" tIns="0" rIns="0" bIns="0" rtlCol="0" anchor="t"/>
          <a:lstStyle/>
          <a:p>
            <a:pPr indent="0" marL="0">
              <a:buNone/>
            </a:pPr>
            <a:r>
              <a:rPr lang="en-US" sz="1100" dirty="0">
                <a:solidFill>
                  <a:srgbClr val="6B6B6B"/>
                </a:solidFill>
              </a:rPr>
              <a:t>같은 시즌 유효 팀 중 빠른 순서</a:t>
            </a:r>
            <a:endParaRPr lang="en-US" sz="1100" dirty="0"/>
          </a:p>
        </p:txBody>
      </p:sp>
      <p:sp>
        <p:nvSpPr>
          <p:cNvPr id="8" name="pace-pct-card"/>
          <p:cNvSpPr/>
          <p:nvPr/>
        </p:nvSpPr>
        <p:spPr>
          <a:xfrm>
            <a:off x="8183880" y="2834640"/>
            <a:ext cx="3474720" cy="1143000"/>
          </a:xfrm>
          <a:prstGeom prst="roundRect">
            <a:avLst>
              <a:gd name="adj" fmla="val 4800"/>
            </a:avLst>
          </a:prstGeom>
          <a:solidFill>
            <a:srgbClr val="F4F4F4"/>
          </a:solidFill>
          <a:ln w="9525">
            <a:solidFill>
              <a:srgbClr val="F4F4F4"/>
            </a:solidFill>
            <a:prstDash val="solid"/>
          </a:ln>
        </p:spPr>
      </p:sp>
      <p:sp>
        <p:nvSpPr>
          <p:cNvPr id="9" name="pace-pct-num"/>
          <p:cNvSpPr txBox="1"/>
          <p:nvPr/>
        </p:nvSpPr>
        <p:spPr>
          <a:xfrm>
            <a:off x="8412480" y="2999232"/>
            <a:ext cx="3108960" cy="548640"/>
          </a:xfrm>
          <a:prstGeom prst="rect">
            <a:avLst/>
          </a:prstGeom>
          <a:noFill/>
          <a:ln/>
        </p:spPr>
        <p:txBody>
          <a:bodyPr wrap="square" lIns="0" tIns="0" rIns="0" bIns="0" rtlCol="0" anchor="t"/>
          <a:lstStyle/>
          <a:p>
            <a:pPr indent="0" marL="0">
              <a:buNone/>
            </a:pPr>
            <a:r>
              <a:rPr lang="en-US" sz="2800" b="1" dirty="0">
                <a:solidFill>
                  <a:srgbClr val="1A1A1A"/>
                </a:solidFill>
              </a:rPr>
              <a:t>+0.46%</a:t>
            </a:r>
            <a:endParaRPr lang="en-US" sz="2800" dirty="0"/>
          </a:p>
        </p:txBody>
      </p:sp>
      <p:sp>
        <p:nvSpPr>
          <p:cNvPr id="10" name="pace-pct-label"/>
          <p:cNvSpPr txBox="1"/>
          <p:nvPr/>
        </p:nvSpPr>
        <p:spPr>
          <a:xfrm>
            <a:off x="8412480" y="3566160"/>
            <a:ext cx="3108960" cy="320040"/>
          </a:xfrm>
          <a:prstGeom prst="rect">
            <a:avLst/>
          </a:prstGeom>
          <a:noFill/>
          <a:ln/>
        </p:spPr>
        <p:txBody>
          <a:bodyPr wrap="square" lIns="0" tIns="0" rIns="0" bIns="0" rtlCol="0" anchor="t"/>
          <a:lstStyle/>
          <a:p>
            <a:pPr indent="0" marL="0">
              <a:buNone/>
            </a:pPr>
            <a:r>
              <a:rPr lang="en-US" sz="1100" dirty="0">
                <a:solidFill>
                  <a:srgbClr val="6B6B6B"/>
                </a:solidFill>
              </a:rPr>
              <a:t>필드 대비 상대 페이스 (중앙값보다 느림)</a:t>
            </a:r>
            <a:endParaRPr lang="en-US" sz="1100" dirty="0"/>
          </a:p>
        </p:txBody>
      </p:sp>
      <p:sp>
        <p:nvSpPr>
          <p:cNvPr id="11" name="pace-note"/>
          <p:cNvSpPr txBox="1"/>
          <p:nvPr/>
        </p:nvSpPr>
        <p:spPr>
          <a:xfrm>
            <a:off x="8183880" y="4160520"/>
            <a:ext cx="3474720" cy="1097280"/>
          </a:xfrm>
          <a:prstGeom prst="rect">
            <a:avLst/>
          </a:prstGeom>
          <a:noFill/>
          <a:ln/>
        </p:spPr>
        <p:txBody>
          <a:bodyPr wrap="square" lIns="0" tIns="0" rIns="0" bIns="0" rtlCol="0" anchor="t"/>
          <a:lstStyle/>
          <a:p>
            <a:pPr indent="0" marL="0">
              <a:buNone/>
            </a:pPr>
            <a:r>
              <a:rPr lang="en-US" sz="1200" dirty="0">
                <a:solidFill>
                  <a:srgbClr val="6B6B6B"/>
                </a:solidFill>
              </a:rPr>
              <a:t>차량 때문인지 선수 때문인지는 이 숫자만으로 가를 수 없다 — 그래서 팀 동료 비교를 함께 본다.</a:t>
            </a:r>
            <a:endParaRPr lang="en-US" sz="1200" dirty="0"/>
          </a:p>
        </p:txBody>
      </p:sp>
      <p:sp>
        <p:nvSpPr>
          <p:cNvPr id="12"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주행 경쟁력 격차는 관측된다. 상위 4팀과는 0.7%p 이상 벌어져 있다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처음 생각 여섯 개 중 다섯은 데이터와 같은 방향, 하나는 보류</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O = 관측값이 가설과 같은 방향 (좋은 성적·원인 입증 아님)  ·  ? = 표본·근거 부족으로 보류</a:t>
            </a:r>
            <a:endParaRPr lang="en-US" sz="1400" dirty="0"/>
          </a:p>
        </p:txBody>
      </p:sp>
      <p:sp>
        <p:nvSpPr>
          <p:cNvPr id="4" name="hyp-0"/>
          <p:cNvSpPr/>
          <p:nvPr/>
        </p:nvSpPr>
        <p:spPr>
          <a:xfrm>
            <a:off x="548640" y="1508760"/>
            <a:ext cx="3566160" cy="1965960"/>
          </a:xfrm>
          <a:prstGeom prst="roundRect">
            <a:avLst>
              <a:gd name="adj" fmla="val 2791"/>
            </a:avLst>
          </a:prstGeom>
          <a:solidFill>
            <a:srgbClr val="F4F4F4"/>
          </a:solidFill>
          <a:ln w="9525">
            <a:solidFill>
              <a:srgbClr val="F4F4F4"/>
            </a:solidFill>
            <a:prstDash val="solid"/>
          </a:ln>
        </p:spPr>
        <p:txBody>
          <a:bodyPr/>
          <a:p/>
        </p:txBody>
      </p:sp>
      <p:sp>
        <p:nvSpPr>
          <p:cNvPr id="5" name="hyp-badge-0"/>
          <p:cNvSpPr/>
          <p:nvPr/>
        </p:nvSpPr>
        <p:spPr>
          <a:xfrm>
            <a:off x="777240" y="1737360"/>
            <a:ext cx="502920" cy="502920"/>
          </a:xfrm>
          <a:prstGeom prst="ellipse">
            <a:avLst/>
          </a:prstGeom>
          <a:solidFill>
            <a:srgbClr val="1A1A1A"/>
          </a:solidFill>
          <a:ln w="12700">
            <a:solidFill>
              <a:srgbClr val="1A1A1A"/>
            </a:solidFill>
            <a:prstDash val="solid"/>
          </a:ln>
        </p:spPr>
        <p:txBody>
          <a:bodyPr/>
          <a:p/>
        </p:txBody>
      </p:sp>
      <p:sp>
        <p:nvSpPr>
          <p:cNvPr id="6" name="hyp-badge-0-t"/>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O</a:t>
            </a:r>
            <a:endParaRPr lang="en-US" sz="1500" dirty="0"/>
          </a:p>
        </p:txBody>
      </p:sp>
      <p:sp>
        <p:nvSpPr>
          <p:cNvPr id="7" name="hyp-k-0"/>
          <p:cNvSpPr txBox="1"/>
          <p:nvPr/>
        </p:nvSpPr>
        <p:spPr>
          <a:xfrm>
            <a:off x="1463040" y="182880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1 · 팀 진단</a:t>
            </a:r>
            <a:endParaRPr lang="en-US" sz="1100" dirty="0"/>
          </a:p>
        </p:txBody>
      </p:sp>
      <p:sp>
        <p:nvSpPr>
          <p:cNvPr id="8" name="hyp-h-0"/>
          <p:cNvSpPr txBox="1"/>
          <p:nvPr/>
        </p:nvSpPr>
        <p:spPr>
          <a:xfrm>
            <a:off x="777240" y="237744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“주행 페이스는 팀들 중 중간보다 느릴 것”</a:t>
            </a:r>
            <a:endParaRPr lang="en-US" sz="1300" dirty="0"/>
          </a:p>
        </p:txBody>
      </p:sp>
      <p:sp>
        <p:nvSpPr>
          <p:cNvPr id="9" name="hyp-n-0"/>
          <p:cNvSpPr txBox="1"/>
          <p:nvPr/>
        </p:nvSpPr>
        <p:spPr>
          <a:xfrm>
            <a:off x="777240" y="3017520"/>
            <a:ext cx="3200400" cy="320040"/>
          </a:xfrm>
          <a:prstGeom prst="rect">
            <a:avLst/>
          </a:prstGeom>
          <a:noFill/>
          <a:ln/>
        </p:spPr>
        <p:txBody>
          <a:bodyPr wrap="square" lIns="0" tIns="0" rIns="0" bIns="0" rtlCol="0" anchor="t"/>
          <a:lstStyle/>
          <a:p>
            <a:pPr indent="0" marL="0">
              <a:buNone/>
            </a:pPr>
            <a:r>
              <a:rPr lang="en-US" sz="1200" dirty="0">
                <a:solidFill>
                  <a:srgbClr val="1A1A1A"/>
                </a:solidFill>
              </a:rPr>
              <a:t>7/10위 · +0.460%</a:t>
            </a:r>
            <a:endParaRPr lang="en-US" sz="1200" dirty="0"/>
          </a:p>
        </p:txBody>
      </p:sp>
      <p:sp>
        <p:nvSpPr>
          <p:cNvPr id="10" name="hyp-1"/>
          <p:cNvSpPr/>
          <p:nvPr/>
        </p:nvSpPr>
        <p:spPr>
          <a:xfrm>
            <a:off x="4297680" y="1508760"/>
            <a:ext cx="3566160" cy="1965960"/>
          </a:xfrm>
          <a:prstGeom prst="roundRect">
            <a:avLst>
              <a:gd name="adj" fmla="val 2791"/>
            </a:avLst>
          </a:prstGeom>
          <a:solidFill>
            <a:srgbClr val="F4F4F4"/>
          </a:solidFill>
          <a:ln w="9525">
            <a:solidFill>
              <a:srgbClr val="F4F4F4"/>
            </a:solidFill>
            <a:prstDash val="solid"/>
          </a:ln>
        </p:spPr>
        <p:txBody>
          <a:bodyPr/>
          <a:p/>
        </p:txBody>
      </p:sp>
      <p:sp>
        <p:nvSpPr>
          <p:cNvPr id="11" name="hyp-badge-1"/>
          <p:cNvSpPr/>
          <p:nvPr/>
        </p:nvSpPr>
        <p:spPr>
          <a:xfrm>
            <a:off x="4526280" y="1737360"/>
            <a:ext cx="502920" cy="502920"/>
          </a:xfrm>
          <a:prstGeom prst="ellipse">
            <a:avLst/>
          </a:prstGeom>
          <a:solidFill>
            <a:srgbClr val="1A1A1A"/>
          </a:solidFill>
          <a:ln w="12700">
            <a:solidFill>
              <a:srgbClr val="1A1A1A"/>
            </a:solidFill>
            <a:prstDash val="solid"/>
          </a:ln>
        </p:spPr>
        <p:txBody>
          <a:bodyPr/>
          <a:p/>
        </p:txBody>
      </p:sp>
      <p:sp>
        <p:nvSpPr>
          <p:cNvPr id="12" name="hyp-badge-1-t"/>
          <p:cNvSpPr txBox="1"/>
          <p:nvPr/>
        </p:nvSpPr>
        <p:spPr>
          <a:xfrm>
            <a:off x="452628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O</a:t>
            </a:r>
            <a:endParaRPr lang="en-US" sz="1500" dirty="0"/>
          </a:p>
        </p:txBody>
      </p:sp>
      <p:sp>
        <p:nvSpPr>
          <p:cNvPr id="13" name="hyp-k-1"/>
          <p:cNvSpPr txBox="1"/>
          <p:nvPr/>
        </p:nvSpPr>
        <p:spPr>
          <a:xfrm>
            <a:off x="5212080" y="182880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2 · 타이어</a:t>
            </a:r>
            <a:endParaRPr lang="en-US" sz="1100" dirty="0"/>
          </a:p>
        </p:txBody>
      </p:sp>
      <p:sp>
        <p:nvSpPr>
          <p:cNvPr id="14" name="hyp-h-1"/>
          <p:cNvSpPr txBox="1"/>
          <p:nvPr/>
        </p:nvSpPr>
        <p:spPr>
          <a:xfrm>
            <a:off x="4526280" y="237744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“오래 쓸수록 다른 차량보다 더 떨어질 것”</a:t>
            </a:r>
            <a:endParaRPr lang="en-US" sz="1300" dirty="0"/>
          </a:p>
        </p:txBody>
      </p:sp>
      <p:sp>
        <p:nvSpPr>
          <p:cNvPr id="15" name="hyp-n-1"/>
          <p:cNvSpPr txBox="1"/>
          <p:nvPr/>
        </p:nvSpPr>
        <p:spPr>
          <a:xfrm>
            <a:off x="4526280" y="3017520"/>
            <a:ext cx="3200400" cy="320040"/>
          </a:xfrm>
          <a:prstGeom prst="rect">
            <a:avLst/>
          </a:prstGeom>
          <a:noFill/>
          <a:ln/>
        </p:spPr>
        <p:txBody>
          <a:bodyPr wrap="square" lIns="0" tIns="0" rIns="0" bIns="0" rtlCol="0" anchor="t"/>
          <a:lstStyle/>
          <a:p>
            <a:pPr indent="0" marL="0">
              <a:buNone/>
            </a:pPr>
            <a:r>
              <a:rPr lang="en-US" sz="1200" dirty="0">
                <a:solidFill>
                  <a:srgbClr val="1A1A1A"/>
                </a:solidFill>
              </a:rPr>
              <a:t>+2.8ms/랩 저하 방향 (10팀 중 가장 작음)</a:t>
            </a:r>
            <a:endParaRPr lang="en-US" sz="1200" dirty="0"/>
          </a:p>
        </p:txBody>
      </p:sp>
      <p:sp>
        <p:nvSpPr>
          <p:cNvPr id="16" name="hyp-2"/>
          <p:cNvSpPr/>
          <p:nvPr/>
        </p:nvSpPr>
        <p:spPr>
          <a:xfrm>
            <a:off x="8046720" y="1508760"/>
            <a:ext cx="3566160" cy="1965960"/>
          </a:xfrm>
          <a:prstGeom prst="roundRect">
            <a:avLst>
              <a:gd name="adj" fmla="val 2791"/>
            </a:avLst>
          </a:prstGeom>
          <a:solidFill>
            <a:srgbClr val="FDECEC"/>
          </a:solidFill>
          <a:ln w="9525">
            <a:solidFill>
              <a:srgbClr val="FDECEC"/>
            </a:solidFill>
            <a:prstDash val="solid"/>
          </a:ln>
        </p:spPr>
        <p:txBody>
          <a:bodyPr/>
          <a:p/>
        </p:txBody>
      </p:sp>
      <p:sp>
        <p:nvSpPr>
          <p:cNvPr id="17" name="hyp-badge-2"/>
          <p:cNvSpPr/>
          <p:nvPr/>
        </p:nvSpPr>
        <p:spPr>
          <a:xfrm>
            <a:off x="8275320" y="1737360"/>
            <a:ext cx="502920" cy="502920"/>
          </a:xfrm>
          <a:prstGeom prst="ellipse">
            <a:avLst/>
          </a:prstGeom>
          <a:solidFill>
            <a:srgbClr val="E10600"/>
          </a:solidFill>
          <a:ln w="12700">
            <a:solidFill>
              <a:srgbClr val="E10600"/>
            </a:solidFill>
            <a:prstDash val="solid"/>
          </a:ln>
        </p:spPr>
        <p:txBody>
          <a:bodyPr/>
          <a:p/>
        </p:txBody>
      </p:sp>
      <p:sp>
        <p:nvSpPr>
          <p:cNvPr id="18" name="hyp-badge-2-t"/>
          <p:cNvSpPr txBox="1"/>
          <p:nvPr/>
        </p:nvSpPr>
        <p:spPr>
          <a:xfrm>
            <a:off x="827532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9" name="hyp-k-2"/>
          <p:cNvSpPr txBox="1"/>
          <p:nvPr/>
        </p:nvSpPr>
        <p:spPr>
          <a:xfrm>
            <a:off x="8961120" y="182880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3 · 라인업</a:t>
            </a:r>
            <a:endParaRPr lang="en-US" sz="1100" dirty="0"/>
          </a:p>
        </p:txBody>
      </p:sp>
      <p:sp>
        <p:nvSpPr>
          <p:cNvPr id="20" name="hyp-h-2"/>
          <p:cNvSpPr txBox="1"/>
          <p:nvPr/>
        </p:nvSpPr>
        <p:spPr>
          <a:xfrm>
            <a:off x="8275320" y="237744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“STROLL이 팀 동료보다 느릴 것”</a:t>
            </a:r>
            <a:endParaRPr lang="en-US" sz="1300" dirty="0"/>
          </a:p>
        </p:txBody>
      </p:sp>
      <p:sp>
        <p:nvSpPr>
          <p:cNvPr id="21" name="hyp-n-2"/>
          <p:cNvSpPr txBox="1"/>
          <p:nvPr/>
        </p:nvSpPr>
        <p:spPr>
          <a:xfrm>
            <a:off x="8275320" y="3017520"/>
            <a:ext cx="3200400" cy="320040"/>
          </a:xfrm>
          <a:prstGeom prst="rect">
            <a:avLst/>
          </a:prstGeom>
          <a:noFill/>
          <a:ln/>
        </p:spPr>
        <p:txBody>
          <a:bodyPr wrap="square" lIns="0" tIns="0" rIns="0" bIns="0" rtlCol="0" anchor="t"/>
          <a:lstStyle/>
          <a:p>
            <a:pPr indent="0" marL="0">
              <a:buNone/>
            </a:pPr>
            <a:r>
              <a:rPr lang="en-US" sz="1200" dirty="0">
                <a:solidFill>
                  <a:srgbClr val="E10600"/>
                </a:solidFill>
              </a:rPr>
              <a:t>+0.220초 · 95% 구간이 0 포함</a:t>
            </a:r>
            <a:endParaRPr lang="en-US" sz="1200" dirty="0"/>
          </a:p>
        </p:txBody>
      </p:sp>
      <p:sp>
        <p:nvSpPr>
          <p:cNvPr id="22" name="hyp-3"/>
          <p:cNvSpPr/>
          <p:nvPr/>
        </p:nvSpPr>
        <p:spPr>
          <a:xfrm>
            <a:off x="548640" y="3657600"/>
            <a:ext cx="3566160" cy="1965960"/>
          </a:xfrm>
          <a:prstGeom prst="roundRect">
            <a:avLst>
              <a:gd name="adj" fmla="val 2791"/>
            </a:avLst>
          </a:prstGeom>
          <a:solidFill>
            <a:srgbClr val="F4F4F4"/>
          </a:solidFill>
          <a:ln w="9525">
            <a:solidFill>
              <a:srgbClr val="F4F4F4"/>
            </a:solidFill>
            <a:prstDash val="solid"/>
          </a:ln>
        </p:spPr>
        <p:txBody>
          <a:bodyPr/>
          <a:p/>
        </p:txBody>
      </p:sp>
      <p:sp>
        <p:nvSpPr>
          <p:cNvPr id="23" name="hyp-badge-3"/>
          <p:cNvSpPr/>
          <p:nvPr/>
        </p:nvSpPr>
        <p:spPr>
          <a:xfrm>
            <a:off x="777240" y="3886200"/>
            <a:ext cx="502920" cy="502920"/>
          </a:xfrm>
          <a:prstGeom prst="ellipse">
            <a:avLst/>
          </a:prstGeom>
          <a:solidFill>
            <a:srgbClr val="1A1A1A"/>
          </a:solidFill>
          <a:ln w="12700">
            <a:solidFill>
              <a:srgbClr val="1A1A1A"/>
            </a:solidFill>
            <a:prstDash val="solid"/>
          </a:ln>
        </p:spPr>
        <p:txBody>
          <a:bodyPr/>
          <a:p/>
        </p:txBody>
      </p:sp>
      <p:sp>
        <p:nvSpPr>
          <p:cNvPr id="24" name="hyp-badge-3-t"/>
          <p:cNvSpPr txBox="1"/>
          <p:nvPr/>
        </p:nvSpPr>
        <p:spPr>
          <a:xfrm>
            <a:off x="777240" y="3886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O</a:t>
            </a:r>
            <a:endParaRPr lang="en-US" sz="1500" dirty="0"/>
          </a:p>
        </p:txBody>
      </p:sp>
      <p:sp>
        <p:nvSpPr>
          <p:cNvPr id="25" name="hyp-k-3"/>
          <p:cNvSpPr txBox="1"/>
          <p:nvPr/>
        </p:nvSpPr>
        <p:spPr>
          <a:xfrm>
            <a:off x="1463040" y="397764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4 · 피트 운영</a:t>
            </a:r>
            <a:endParaRPr lang="en-US" sz="1100" dirty="0"/>
          </a:p>
        </p:txBody>
      </p:sp>
      <p:sp>
        <p:nvSpPr>
          <p:cNvPr id="26" name="hyp-h-3"/>
          <p:cNvSpPr txBox="1"/>
          <p:nvPr/>
        </p:nvSpPr>
        <p:spPr>
          <a:xfrm>
            <a:off x="777240" y="452628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“피트레인 이용시간이 다른 팀보다 길 것”</a:t>
            </a:r>
            <a:endParaRPr lang="en-US" sz="1300" dirty="0"/>
          </a:p>
        </p:txBody>
      </p:sp>
      <p:sp>
        <p:nvSpPr>
          <p:cNvPr id="27" name="hyp-n-3"/>
          <p:cNvSpPr txBox="1"/>
          <p:nvPr/>
        </p:nvSpPr>
        <p:spPr>
          <a:xfrm>
            <a:off x="777240" y="5166360"/>
            <a:ext cx="3200400" cy="320040"/>
          </a:xfrm>
          <a:prstGeom prst="rect">
            <a:avLst/>
          </a:prstGeom>
          <a:noFill/>
          <a:ln/>
        </p:spPr>
        <p:txBody>
          <a:bodyPr wrap="square" lIns="0" tIns="0" rIns="0" bIns="0" rtlCol="0" anchor="t"/>
          <a:lstStyle/>
          <a:p>
            <a:pPr indent="0" marL="0">
              <a:buNone/>
            </a:pPr>
            <a:r>
              <a:rPr lang="en-US" sz="1200" dirty="0">
                <a:solidFill>
                  <a:srgbClr val="1A1A1A"/>
                </a:solidFill>
              </a:rPr>
              <a:t>+0.282초 · 1초 초과 24.4%</a:t>
            </a:r>
            <a:endParaRPr lang="en-US" sz="1200" dirty="0"/>
          </a:p>
        </p:txBody>
      </p:sp>
      <p:sp>
        <p:nvSpPr>
          <p:cNvPr id="28" name="hyp-4"/>
          <p:cNvSpPr/>
          <p:nvPr/>
        </p:nvSpPr>
        <p:spPr>
          <a:xfrm>
            <a:off x="4297680" y="3657600"/>
            <a:ext cx="3566160" cy="1965960"/>
          </a:xfrm>
          <a:prstGeom prst="roundRect">
            <a:avLst>
              <a:gd name="adj" fmla="val 2791"/>
            </a:avLst>
          </a:prstGeom>
          <a:solidFill>
            <a:srgbClr val="F4F4F4"/>
          </a:solidFill>
          <a:ln w="9525">
            <a:solidFill>
              <a:srgbClr val="F4F4F4"/>
            </a:solidFill>
            <a:prstDash val="solid"/>
          </a:ln>
        </p:spPr>
        <p:txBody>
          <a:bodyPr/>
          <a:p/>
        </p:txBody>
      </p:sp>
      <p:sp>
        <p:nvSpPr>
          <p:cNvPr id="29" name="hyp-badge-4"/>
          <p:cNvSpPr/>
          <p:nvPr/>
        </p:nvSpPr>
        <p:spPr>
          <a:xfrm>
            <a:off x="4526280" y="3886200"/>
            <a:ext cx="502920" cy="502920"/>
          </a:xfrm>
          <a:prstGeom prst="ellipse">
            <a:avLst/>
          </a:prstGeom>
          <a:solidFill>
            <a:srgbClr val="1A1A1A"/>
          </a:solidFill>
          <a:ln w="12700">
            <a:solidFill>
              <a:srgbClr val="1A1A1A"/>
            </a:solidFill>
            <a:prstDash val="solid"/>
          </a:ln>
        </p:spPr>
        <p:txBody>
          <a:bodyPr/>
          <a:p/>
        </p:txBody>
      </p:sp>
      <p:sp>
        <p:nvSpPr>
          <p:cNvPr id="30" name="hyp-badge-4-t"/>
          <p:cNvSpPr txBox="1"/>
          <p:nvPr/>
        </p:nvSpPr>
        <p:spPr>
          <a:xfrm>
            <a:off x="4526280" y="3886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O</a:t>
            </a:r>
            <a:endParaRPr lang="en-US" sz="1500" dirty="0"/>
          </a:p>
        </p:txBody>
      </p:sp>
      <p:sp>
        <p:nvSpPr>
          <p:cNvPr id="31" name="hyp-k-4"/>
          <p:cNvSpPr txBox="1"/>
          <p:nvPr/>
        </p:nvSpPr>
        <p:spPr>
          <a:xfrm>
            <a:off x="5212080" y="397764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5 · 포인트</a:t>
            </a:r>
            <a:endParaRPr lang="en-US" sz="1100" dirty="0"/>
          </a:p>
        </p:txBody>
      </p:sp>
      <p:sp>
        <p:nvSpPr>
          <p:cNvPr id="32" name="hyp-h-4"/>
          <p:cNvSpPr txBox="1"/>
          <p:nvPr/>
        </p:nvSpPr>
        <p:spPr>
          <a:xfrm>
            <a:off x="4526280" y="452628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“페이스 순위와 기본 포인트 순위가 같을 것”</a:t>
            </a:r>
            <a:endParaRPr lang="en-US" sz="1300" dirty="0"/>
          </a:p>
        </p:txBody>
      </p:sp>
      <p:sp>
        <p:nvSpPr>
          <p:cNvPr id="33" name="hyp-n-4"/>
          <p:cNvSpPr txBox="1"/>
          <p:nvPr/>
        </p:nvSpPr>
        <p:spPr>
          <a:xfrm>
            <a:off x="4526280" y="5166360"/>
            <a:ext cx="3200400" cy="320040"/>
          </a:xfrm>
          <a:prstGeom prst="rect">
            <a:avLst/>
          </a:prstGeom>
          <a:noFill/>
          <a:ln/>
        </p:spPr>
        <p:txBody>
          <a:bodyPr wrap="square" lIns="0" tIns="0" rIns="0" bIns="0" rtlCol="0" anchor="t"/>
          <a:lstStyle/>
          <a:p>
            <a:pPr indent="0" marL="0">
              <a:buNone/>
            </a:pPr>
            <a:r>
              <a:rPr lang="en-US" sz="1200" dirty="0">
                <a:solidFill>
                  <a:srgbClr val="1A1A1A"/>
                </a:solidFill>
              </a:rPr>
              <a:t>둘 다 7위 · 80점</a:t>
            </a:r>
            <a:endParaRPr lang="en-US" sz="1200" dirty="0"/>
          </a:p>
        </p:txBody>
      </p:sp>
      <p:sp>
        <p:nvSpPr>
          <p:cNvPr id="34" name="hyp-5"/>
          <p:cNvSpPr/>
          <p:nvPr/>
        </p:nvSpPr>
        <p:spPr>
          <a:xfrm>
            <a:off x="8046720" y="3657600"/>
            <a:ext cx="3566160" cy="1965960"/>
          </a:xfrm>
          <a:prstGeom prst="roundRect">
            <a:avLst>
              <a:gd name="adj" fmla="val 2791"/>
            </a:avLst>
          </a:prstGeom>
          <a:solidFill>
            <a:srgbClr val="F4F4F4"/>
          </a:solidFill>
          <a:ln w="9525">
            <a:solidFill>
              <a:srgbClr val="F4F4F4"/>
            </a:solidFill>
            <a:prstDash val="solid"/>
          </a:ln>
        </p:spPr>
        <p:txBody>
          <a:bodyPr/>
          <a:p/>
        </p:txBody>
      </p:sp>
      <p:sp>
        <p:nvSpPr>
          <p:cNvPr id="35" name="hyp-badge-5"/>
          <p:cNvSpPr/>
          <p:nvPr/>
        </p:nvSpPr>
        <p:spPr>
          <a:xfrm>
            <a:off x="8275320" y="3886200"/>
            <a:ext cx="502920" cy="502920"/>
          </a:xfrm>
          <a:prstGeom prst="ellipse">
            <a:avLst/>
          </a:prstGeom>
          <a:solidFill>
            <a:srgbClr val="1A1A1A"/>
          </a:solidFill>
          <a:ln w="12700">
            <a:solidFill>
              <a:srgbClr val="1A1A1A"/>
            </a:solidFill>
            <a:prstDash val="solid"/>
          </a:ln>
        </p:spPr>
        <p:txBody>
          <a:bodyPr/>
          <a:p/>
        </p:txBody>
      </p:sp>
      <p:sp>
        <p:nvSpPr>
          <p:cNvPr id="36" name="hyp-badge-5-t"/>
          <p:cNvSpPr txBox="1"/>
          <p:nvPr/>
        </p:nvSpPr>
        <p:spPr>
          <a:xfrm>
            <a:off x="8275320" y="3886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O</a:t>
            </a:r>
            <a:endParaRPr lang="en-US" sz="1500" dirty="0"/>
          </a:p>
        </p:txBody>
      </p:sp>
      <p:sp>
        <p:nvSpPr>
          <p:cNvPr id="37" name="hyp-k-5"/>
          <p:cNvSpPr txBox="1"/>
          <p:nvPr/>
        </p:nvSpPr>
        <p:spPr>
          <a:xfrm>
            <a:off x="8961120" y="3977640"/>
            <a:ext cx="2468880" cy="320040"/>
          </a:xfrm>
          <a:prstGeom prst="rect">
            <a:avLst/>
          </a:prstGeom>
          <a:noFill/>
          <a:ln/>
        </p:spPr>
        <p:txBody>
          <a:bodyPr wrap="square" lIns="0" tIns="0" rIns="0" bIns="0" rtlCol="0" anchor="t"/>
          <a:lstStyle/>
          <a:p>
            <a:pPr indent="0" marL="0">
              <a:buNone/>
            </a:pPr>
            <a:r>
              <a:rPr lang="en-US" sz="1100" dirty="0">
                <a:solidFill>
                  <a:srgbClr val="6B6B6B"/>
                </a:solidFill>
              </a:rPr>
              <a:t>처음 생각 6 · 결론 안정성</a:t>
            </a:r>
            <a:endParaRPr lang="en-US" sz="1100" dirty="0"/>
          </a:p>
        </p:txBody>
      </p:sp>
      <p:sp>
        <p:nvSpPr>
          <p:cNvPr id="38" name="hyp-h-5"/>
          <p:cNvSpPr txBox="1"/>
          <p:nvPr/>
        </p:nvSpPr>
        <p:spPr>
          <a:xfrm>
            <a:off x="8275320" y="4526280"/>
            <a:ext cx="3154680" cy="594360"/>
          </a:xfrm>
          <a:prstGeom prst="rect">
            <a:avLst/>
          </a:prstGeom>
          <a:noFill/>
          <a:ln/>
        </p:spPr>
        <p:txBody>
          <a:bodyPr wrap="square" lIns="0" tIns="0" rIns="0" bIns="0" rtlCol="0" anchor="t"/>
          <a:lstStyle/>
          <a:p>
            <a:pPr indent="0" marL="0">
              <a:buNone/>
            </a:pPr>
            <a:r>
              <a:rPr lang="en-US" sz="1300" b="1" dirty="0">
                <a:solidFill>
                  <a:srgbClr val="1A1A1A"/>
                </a:solidFill>
              </a:rPr>
              <a:t>“정제 기준을 바꿔도 후보 비교 결과가 유지될 것”</a:t>
            </a:r>
            <a:endParaRPr lang="en-US" sz="1300" dirty="0"/>
          </a:p>
        </p:txBody>
      </p:sp>
      <p:sp>
        <p:nvSpPr>
          <p:cNvPr id="39" name="hyp-n-5"/>
          <p:cNvSpPr txBox="1"/>
          <p:nvPr/>
        </p:nvSpPr>
        <p:spPr>
          <a:xfrm>
            <a:off x="8275320" y="5166360"/>
            <a:ext cx="3200400" cy="320040"/>
          </a:xfrm>
          <a:prstGeom prst="rect">
            <a:avLst/>
          </a:prstGeom>
          <a:noFill/>
          <a:ln/>
        </p:spPr>
        <p:txBody>
          <a:bodyPr wrap="square" lIns="0" tIns="0" rIns="0" bIns="0" rtlCol="0" anchor="t"/>
          <a:lstStyle/>
          <a:p>
            <a:pPr indent="0" marL="0">
              <a:buNone/>
            </a:pPr>
            <a:r>
              <a:rPr lang="en-US" sz="1200" dirty="0">
                <a:solidFill>
                  <a:srgbClr val="1A1A1A"/>
                </a:solidFill>
              </a:rPr>
              <a:t>11가지 조건으로 재계산 · 결과는 ③에서</a:t>
            </a:r>
            <a:endParaRPr lang="en-US" sz="1200" dirty="0"/>
          </a:p>
        </p:txBody>
      </p:sp>
      <p:sp>
        <p:nvSpPr>
          <p:cNvPr id="40"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타이어 저하는 같은 방향이지만 크기는 10팀 중 가장 작다 — 약점은 타이어가 아니라 기본 페이스와 피트 쪽이다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피트가 같은 경기 타 팀보다 0.28초 늦다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2025 피트레인 시간 차이 · 같은 경기의 타 팀 기준 대비 · 17경기</a:t>
            </a:r>
            <a:endParaRPr lang="en-US" sz="1400" dirty="0"/>
          </a:p>
        </p:txBody>
      </p:sp>
      <p:graphicFrame>
        <p:nvGraphicFramePr>
          <p:cNvPr id="4" name="chart-pit" descr=""/>
          <p:cNvGraphicFramePr/>
          <p:nvPr/>
        </p:nvGraphicFramePr>
        <p:xfrm>
          <a:off x="548640" y="14630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5" name="pit-0-card"/>
          <p:cNvSpPr/>
          <p:nvPr/>
        </p:nvSpPr>
        <p:spPr>
          <a:xfrm>
            <a:off x="8183880" y="1554480"/>
            <a:ext cx="3474720" cy="1143000"/>
          </a:xfrm>
          <a:prstGeom prst="roundRect">
            <a:avLst>
              <a:gd name="adj" fmla="val 4800"/>
            </a:avLst>
          </a:prstGeom>
          <a:solidFill>
            <a:srgbClr val="F4F4F4"/>
          </a:solidFill>
          <a:ln w="9525">
            <a:solidFill>
              <a:srgbClr val="F4F4F4"/>
            </a:solidFill>
            <a:prstDash val="solid"/>
          </a:ln>
        </p:spPr>
      </p:sp>
      <p:sp>
        <p:nvSpPr>
          <p:cNvPr id="6" name="pit-0-num"/>
          <p:cNvSpPr txBox="1"/>
          <p:nvPr/>
        </p:nvSpPr>
        <p:spPr>
          <a:xfrm>
            <a:off x="8412480" y="1719072"/>
            <a:ext cx="3108960" cy="548640"/>
          </a:xfrm>
          <a:prstGeom prst="rect">
            <a:avLst/>
          </a:prstGeom>
          <a:noFill/>
          <a:ln/>
        </p:spPr>
        <p:txBody>
          <a:bodyPr wrap="square" lIns="0" tIns="0" rIns="0" bIns="0" rtlCol="0" anchor="t"/>
          <a:lstStyle/>
          <a:p>
            <a:pPr indent="0" marL="0">
              <a:buNone/>
            </a:pPr>
            <a:r>
              <a:rPr lang="en-US" sz="2800" b="1" dirty="0">
                <a:solidFill>
                  <a:srgbClr val="E10600"/>
                </a:solidFill>
              </a:rPr>
              <a:t>+0.282초</a:t>
            </a:r>
            <a:endParaRPr lang="en-US" sz="2800" dirty="0"/>
          </a:p>
        </p:txBody>
      </p:sp>
      <p:sp>
        <p:nvSpPr>
          <p:cNvPr id="7" name="pit-0-label"/>
          <p:cNvSpPr txBox="1"/>
          <p:nvPr/>
        </p:nvSpPr>
        <p:spPr>
          <a:xfrm>
            <a:off x="8412480" y="2286000"/>
            <a:ext cx="3108960" cy="320040"/>
          </a:xfrm>
          <a:prstGeom prst="rect">
            <a:avLst/>
          </a:prstGeom>
          <a:noFill/>
          <a:ln/>
        </p:spPr>
        <p:txBody>
          <a:bodyPr wrap="square" lIns="0" tIns="0" rIns="0" bIns="0" rtlCol="0" anchor="t"/>
          <a:lstStyle/>
          <a:p>
            <a:pPr indent="0" marL="0">
              <a:buNone/>
            </a:pPr>
            <a:r>
              <a:rPr lang="en-US" sz="1100" dirty="0">
                <a:solidFill>
                  <a:srgbClr val="6B6B6B"/>
                </a:solidFill>
              </a:rPr>
              <a:t>피트레인 차이 (17경기)</a:t>
            </a:r>
            <a:endParaRPr lang="en-US" sz="1100" dirty="0"/>
          </a:p>
        </p:txBody>
      </p:sp>
      <p:sp>
        <p:nvSpPr>
          <p:cNvPr id="8" name="pit-1-card"/>
          <p:cNvSpPr/>
          <p:nvPr/>
        </p:nvSpPr>
        <p:spPr>
          <a:xfrm>
            <a:off x="8183880" y="2834640"/>
            <a:ext cx="3474720" cy="1143000"/>
          </a:xfrm>
          <a:prstGeom prst="roundRect">
            <a:avLst>
              <a:gd name="adj" fmla="val 4800"/>
            </a:avLst>
          </a:prstGeom>
          <a:solidFill>
            <a:srgbClr val="F4F4F4"/>
          </a:solidFill>
          <a:ln w="9525">
            <a:solidFill>
              <a:srgbClr val="F4F4F4"/>
            </a:solidFill>
            <a:prstDash val="solid"/>
          </a:ln>
        </p:spPr>
      </p:sp>
      <p:sp>
        <p:nvSpPr>
          <p:cNvPr id="9" name="pit-1-num"/>
          <p:cNvSpPr txBox="1"/>
          <p:nvPr/>
        </p:nvSpPr>
        <p:spPr>
          <a:xfrm>
            <a:off x="8412480" y="2999232"/>
            <a:ext cx="3108960" cy="548640"/>
          </a:xfrm>
          <a:prstGeom prst="rect">
            <a:avLst/>
          </a:prstGeom>
          <a:noFill/>
          <a:ln/>
        </p:spPr>
        <p:txBody>
          <a:bodyPr wrap="square" lIns="0" tIns="0" rIns="0" bIns="0" rtlCol="0" anchor="t"/>
          <a:lstStyle/>
          <a:p>
            <a:pPr indent="0" marL="0">
              <a:buNone/>
            </a:pPr>
            <a:r>
              <a:rPr lang="en-US" sz="2800" b="1" dirty="0">
                <a:solidFill>
                  <a:srgbClr val="1A1A1A"/>
                </a:solidFill>
              </a:rPr>
              <a:t>24.4%</a:t>
            </a:r>
            <a:endParaRPr lang="en-US" sz="2800" dirty="0"/>
          </a:p>
        </p:txBody>
      </p:sp>
      <p:sp>
        <p:nvSpPr>
          <p:cNvPr id="10" name="pit-1-label"/>
          <p:cNvSpPr txBox="1"/>
          <p:nvPr/>
        </p:nvSpPr>
        <p:spPr>
          <a:xfrm>
            <a:off x="8412480" y="3566160"/>
            <a:ext cx="3108960" cy="320040"/>
          </a:xfrm>
          <a:prstGeom prst="rect">
            <a:avLst/>
          </a:prstGeom>
          <a:noFill/>
          <a:ln/>
        </p:spPr>
        <p:txBody>
          <a:bodyPr wrap="square" lIns="0" tIns="0" rIns="0" bIns="0" rtlCol="0" anchor="t"/>
          <a:lstStyle/>
          <a:p>
            <a:pPr indent="0" marL="0">
              <a:buNone/>
            </a:pPr>
            <a:r>
              <a:rPr lang="en-US" sz="1100" dirty="0">
                <a:solidFill>
                  <a:srgbClr val="6B6B6B"/>
                </a:solidFill>
              </a:rPr>
              <a:t>타 팀보다 1초 넘게 긴 피트 (11/45건)</a:t>
            </a:r>
            <a:endParaRPr lang="en-US" sz="1100" dirty="0"/>
          </a:p>
        </p:txBody>
      </p:sp>
      <p:sp>
        <p:nvSpPr>
          <p:cNvPr id="11" name="pit-2-card"/>
          <p:cNvSpPr/>
          <p:nvPr/>
        </p:nvSpPr>
        <p:spPr>
          <a:xfrm>
            <a:off x="8183880" y="4114800"/>
            <a:ext cx="3474720" cy="1143000"/>
          </a:xfrm>
          <a:prstGeom prst="roundRect">
            <a:avLst>
              <a:gd name="adj" fmla="val 4800"/>
            </a:avLst>
          </a:prstGeom>
          <a:solidFill>
            <a:srgbClr val="F4F4F4"/>
          </a:solidFill>
          <a:ln w="9525">
            <a:solidFill>
              <a:srgbClr val="F4F4F4"/>
            </a:solidFill>
            <a:prstDash val="solid"/>
          </a:ln>
        </p:spPr>
      </p:sp>
      <p:sp>
        <p:nvSpPr>
          <p:cNvPr id="12" name="pit-2-num"/>
          <p:cNvSpPr txBox="1"/>
          <p:nvPr/>
        </p:nvSpPr>
        <p:spPr>
          <a:xfrm>
            <a:off x="8412480" y="4279392"/>
            <a:ext cx="3108960" cy="548640"/>
          </a:xfrm>
          <a:prstGeom prst="rect">
            <a:avLst/>
          </a:prstGeom>
          <a:noFill/>
          <a:ln/>
        </p:spPr>
        <p:txBody>
          <a:bodyPr wrap="square" lIns="0" tIns="0" rIns="0" bIns="0" rtlCol="0" anchor="t"/>
          <a:lstStyle/>
          <a:p>
            <a:pPr indent="0" marL="0">
              <a:buNone/>
            </a:pPr>
            <a:r>
              <a:rPr lang="en-US" sz="2800" b="1" dirty="0">
                <a:solidFill>
                  <a:srgbClr val="1A1A1A"/>
                </a:solidFill>
              </a:rPr>
              <a:t>1.77회 · 25랩</a:t>
            </a:r>
            <a:endParaRPr lang="en-US" sz="2800" dirty="0"/>
          </a:p>
        </p:txBody>
      </p:sp>
      <p:sp>
        <p:nvSpPr>
          <p:cNvPr id="13" name="pit-2-label"/>
          <p:cNvSpPr txBox="1"/>
          <p:nvPr/>
        </p:nvSpPr>
        <p:spPr>
          <a:xfrm>
            <a:off x="8412480" y="4846320"/>
            <a:ext cx="3108960" cy="320040"/>
          </a:xfrm>
          <a:prstGeom prst="rect">
            <a:avLst/>
          </a:prstGeom>
          <a:noFill/>
          <a:ln/>
        </p:spPr>
        <p:txBody>
          <a:bodyPr wrap="square" lIns="0" tIns="0" rIns="0" bIns="0" rtlCol="0" anchor="t"/>
          <a:lstStyle/>
          <a:p>
            <a:pPr indent="0" marL="0">
              <a:buNone/>
            </a:pPr>
            <a:r>
              <a:rPr lang="en-US" sz="1100" dirty="0">
                <a:solidFill>
                  <a:srgbClr val="6B6B6B"/>
                </a:solidFill>
              </a:rPr>
              <a:t>경기당 피트 · 스틴트 길이 중앙값</a:t>
            </a:r>
            <a:endParaRPr lang="en-US" sz="1100" dirty="0"/>
          </a:p>
        </p:txBody>
      </p:sp>
      <p:sp>
        <p:nvSpPr>
          <p:cNvPr id="14"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평균보다 '가끔 크게 길어지는 피트'가 문제 — 혼잡·정비·경기 상황이 섞여 있어 크루나 선수 실력으로 바로 귀속하지 않는다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6~9위 4팀이 18점 안 — 몇 점이 순위를 바꾸는 자리다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2025 팀별 본경기 기본 포인트 · 당시 소속팀 합산 · Sprint·보너스 제외</a:t>
            </a:r>
            <a:endParaRPr lang="en-US" sz="1400" dirty="0"/>
          </a:p>
        </p:txBody>
      </p:sp>
      <p:graphicFrame>
        <p:nvGraphicFramePr>
          <p:cNvPr id="4" name="chart-points" descr=""/>
          <p:cNvGraphicFramePr/>
          <p:nvPr/>
        </p:nvGraphicFramePr>
        <p:xfrm>
          <a:off x="548640" y="14630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5" name="pt-0-card"/>
          <p:cNvSpPr/>
          <p:nvPr/>
        </p:nvSpPr>
        <p:spPr>
          <a:xfrm>
            <a:off x="8183880" y="1554480"/>
            <a:ext cx="3474720" cy="1143000"/>
          </a:xfrm>
          <a:prstGeom prst="roundRect">
            <a:avLst>
              <a:gd name="adj" fmla="val 4800"/>
            </a:avLst>
          </a:prstGeom>
          <a:solidFill>
            <a:srgbClr val="F4F4F4"/>
          </a:solidFill>
          <a:ln w="9525">
            <a:solidFill>
              <a:srgbClr val="F4F4F4"/>
            </a:solidFill>
            <a:prstDash val="solid"/>
          </a:ln>
        </p:spPr>
      </p:sp>
      <p:sp>
        <p:nvSpPr>
          <p:cNvPr id="6" name="pt-0-num"/>
          <p:cNvSpPr txBox="1"/>
          <p:nvPr/>
        </p:nvSpPr>
        <p:spPr>
          <a:xfrm>
            <a:off x="8412480" y="1719072"/>
            <a:ext cx="3108960" cy="548640"/>
          </a:xfrm>
          <a:prstGeom prst="rect">
            <a:avLst/>
          </a:prstGeom>
          <a:noFill/>
          <a:ln/>
        </p:spPr>
        <p:txBody>
          <a:bodyPr wrap="square" lIns="0" tIns="0" rIns="0" bIns="0" rtlCol="0" anchor="t"/>
          <a:lstStyle/>
          <a:p>
            <a:pPr indent="0" marL="0">
              <a:buNone/>
            </a:pPr>
            <a:r>
              <a:rPr lang="en-US" sz="2800" b="1" dirty="0">
                <a:solidFill>
                  <a:srgbClr val="E10600"/>
                </a:solidFill>
              </a:rPr>
              <a:t>7위 · 80점</a:t>
            </a:r>
            <a:endParaRPr lang="en-US" sz="2800" dirty="0"/>
          </a:p>
        </p:txBody>
      </p:sp>
      <p:sp>
        <p:nvSpPr>
          <p:cNvPr id="7" name="pt-0-label"/>
          <p:cNvSpPr txBox="1"/>
          <p:nvPr/>
        </p:nvSpPr>
        <p:spPr>
          <a:xfrm>
            <a:off x="8412480" y="2286000"/>
            <a:ext cx="3108960" cy="320040"/>
          </a:xfrm>
          <a:prstGeom prst="rect">
            <a:avLst/>
          </a:prstGeom>
          <a:noFill/>
          <a:ln/>
        </p:spPr>
        <p:txBody>
          <a:bodyPr wrap="square" lIns="0" tIns="0" rIns="0" bIns="0" rtlCol="0" anchor="t"/>
          <a:lstStyle/>
          <a:p>
            <a:pPr indent="0" marL="0">
              <a:buNone/>
            </a:pPr>
            <a:r>
              <a:rPr lang="en-US" sz="1100" dirty="0">
                <a:solidFill>
                  <a:srgbClr val="6B6B6B"/>
                </a:solidFill>
              </a:rPr>
              <a:t>기본 포인트 순위 (10개 관측 팀)</a:t>
            </a:r>
            <a:endParaRPr lang="en-US" sz="1100" dirty="0"/>
          </a:p>
        </p:txBody>
      </p:sp>
      <p:sp>
        <p:nvSpPr>
          <p:cNvPr id="8" name="pt-1-card"/>
          <p:cNvSpPr/>
          <p:nvPr/>
        </p:nvSpPr>
        <p:spPr>
          <a:xfrm>
            <a:off x="8183880" y="2834640"/>
            <a:ext cx="3474720" cy="1143000"/>
          </a:xfrm>
          <a:prstGeom prst="roundRect">
            <a:avLst>
              <a:gd name="adj" fmla="val 4800"/>
            </a:avLst>
          </a:prstGeom>
          <a:solidFill>
            <a:srgbClr val="F4F4F4"/>
          </a:solidFill>
          <a:ln w="9525">
            <a:solidFill>
              <a:srgbClr val="F4F4F4"/>
            </a:solidFill>
            <a:prstDash val="solid"/>
          </a:ln>
        </p:spPr>
      </p:sp>
      <p:sp>
        <p:nvSpPr>
          <p:cNvPr id="9" name="pt-1-num"/>
          <p:cNvSpPr txBox="1"/>
          <p:nvPr/>
        </p:nvSpPr>
        <p:spPr>
          <a:xfrm>
            <a:off x="8412480" y="2999232"/>
            <a:ext cx="3108960" cy="548640"/>
          </a:xfrm>
          <a:prstGeom prst="rect">
            <a:avLst/>
          </a:prstGeom>
          <a:noFill/>
          <a:ln/>
        </p:spPr>
        <p:txBody>
          <a:bodyPr wrap="square" lIns="0" tIns="0" rIns="0" bIns="0" rtlCol="0" anchor="t"/>
          <a:lstStyle/>
          <a:p>
            <a:pPr indent="0" marL="0">
              <a:buNone/>
            </a:pPr>
            <a:r>
              <a:rPr lang="en-US" sz="2800" b="1" dirty="0">
                <a:solidFill>
                  <a:srgbClr val="1A1A1A"/>
                </a:solidFill>
              </a:rPr>
              <a:t>−8점</a:t>
            </a:r>
            <a:endParaRPr lang="en-US" sz="2800" dirty="0"/>
          </a:p>
        </p:txBody>
      </p:sp>
      <p:sp>
        <p:nvSpPr>
          <p:cNvPr id="10" name="pt-1-label"/>
          <p:cNvSpPr txBox="1"/>
          <p:nvPr/>
        </p:nvSpPr>
        <p:spPr>
          <a:xfrm>
            <a:off x="8412480" y="3566160"/>
            <a:ext cx="3108960" cy="320040"/>
          </a:xfrm>
          <a:prstGeom prst="rect">
            <a:avLst/>
          </a:prstGeom>
          <a:noFill/>
          <a:ln/>
        </p:spPr>
        <p:txBody>
          <a:bodyPr wrap="square" lIns="0" tIns="0" rIns="0" bIns="0" rtlCol="0" anchor="t"/>
          <a:lstStyle/>
          <a:p>
            <a:pPr indent="0" marL="0">
              <a:buNone/>
            </a:pPr>
            <a:r>
              <a:rPr lang="en-US" sz="1100" dirty="0">
                <a:solidFill>
                  <a:srgbClr val="6B6B6B"/>
                </a:solidFill>
              </a:rPr>
              <a:t>6위 Racing Bulls와의 차이</a:t>
            </a:r>
            <a:endParaRPr lang="en-US" sz="1100" dirty="0"/>
          </a:p>
        </p:txBody>
      </p:sp>
      <p:sp>
        <p:nvSpPr>
          <p:cNvPr id="11" name="pt-2-card"/>
          <p:cNvSpPr/>
          <p:nvPr/>
        </p:nvSpPr>
        <p:spPr>
          <a:xfrm>
            <a:off x="8183880" y="4114800"/>
            <a:ext cx="3474720" cy="1143000"/>
          </a:xfrm>
          <a:prstGeom prst="roundRect">
            <a:avLst>
              <a:gd name="adj" fmla="val 4800"/>
            </a:avLst>
          </a:prstGeom>
          <a:solidFill>
            <a:srgbClr val="F4F4F4"/>
          </a:solidFill>
          <a:ln w="9525">
            <a:solidFill>
              <a:srgbClr val="F4F4F4"/>
            </a:solidFill>
            <a:prstDash val="solid"/>
          </a:ln>
        </p:spPr>
      </p:sp>
      <p:sp>
        <p:nvSpPr>
          <p:cNvPr id="12" name="pt-2-num"/>
          <p:cNvSpPr txBox="1"/>
          <p:nvPr/>
        </p:nvSpPr>
        <p:spPr>
          <a:xfrm>
            <a:off x="8412480" y="4279392"/>
            <a:ext cx="3108960" cy="548640"/>
          </a:xfrm>
          <a:prstGeom prst="rect">
            <a:avLst/>
          </a:prstGeom>
          <a:noFill/>
          <a:ln/>
        </p:spPr>
        <p:txBody>
          <a:bodyPr wrap="square" lIns="0" tIns="0" rIns="0" bIns="0" rtlCol="0" anchor="t"/>
          <a:lstStyle/>
          <a:p>
            <a:pPr indent="0" marL="0">
              <a:buNone/>
            </a:pPr>
            <a:r>
              <a:rPr lang="en-US" sz="2800" b="1" dirty="0">
                <a:solidFill>
                  <a:srgbClr val="1A1A1A"/>
                </a:solidFill>
              </a:rPr>
              <a:t>+7점</a:t>
            </a:r>
            <a:endParaRPr lang="en-US" sz="2800" dirty="0"/>
          </a:p>
        </p:txBody>
      </p:sp>
      <p:sp>
        <p:nvSpPr>
          <p:cNvPr id="13" name="pt-2-label"/>
          <p:cNvSpPr txBox="1"/>
          <p:nvPr/>
        </p:nvSpPr>
        <p:spPr>
          <a:xfrm>
            <a:off x="8412480" y="4846320"/>
            <a:ext cx="3108960" cy="320040"/>
          </a:xfrm>
          <a:prstGeom prst="rect">
            <a:avLst/>
          </a:prstGeom>
          <a:noFill/>
          <a:ln/>
        </p:spPr>
        <p:txBody>
          <a:bodyPr wrap="square" lIns="0" tIns="0" rIns="0" bIns="0" rtlCol="0" anchor="t"/>
          <a:lstStyle/>
          <a:p>
            <a:pPr indent="0" marL="0">
              <a:buNone/>
            </a:pPr>
            <a:r>
              <a:rPr lang="en-US" sz="1100" dirty="0">
                <a:solidFill>
                  <a:srgbClr val="6B6B6B"/>
                </a:solidFill>
              </a:rPr>
              <a:t>8위 Haas F1 Team과의 차이</a:t>
            </a:r>
            <a:endParaRPr lang="en-US" sz="1100" dirty="0"/>
          </a:p>
        </p:txBody>
      </p:sp>
      <p:sp>
        <p:nvSpPr>
          <p:cNvPr id="14"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성적은 팀 배분금·스폰서십 기회와 연결해 해석할 수 있는 배경 — 다만 금액이나 영입 후 포인트 증가는 추정하지 않는다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3"/>
          <p:cNvSpPr/>
          <p:nvPr/>
        </p:nvSpPr>
        <p:spPr>
          <a:xfrm>
            <a:off x="731520" y="2514600"/>
            <a:ext cx="822960" cy="822960"/>
          </a:xfrm>
          <a:prstGeom prst="ellipse">
            <a:avLst/>
          </a:prstGeom>
          <a:solidFill>
            <a:srgbClr val="E10600"/>
          </a:solidFill>
          <a:ln w="12700">
            <a:solidFill>
              <a:srgbClr val="E10600"/>
            </a:solidFill>
            <a:prstDash val="solid"/>
          </a:ln>
        </p:spPr>
      </p:sp>
      <p:sp>
        <p:nvSpPr>
          <p:cNvPr id="3" name="sec-3-t"/>
          <p:cNvSpPr txBox="1"/>
          <p:nvPr/>
        </p:nvSpPr>
        <p:spPr>
          <a:xfrm>
            <a:off x="731520" y="25146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rPr>
              <a:t>3</a:t>
            </a:r>
            <a:endParaRPr lang="en-US" sz="3000" dirty="0"/>
          </a:p>
        </p:txBody>
      </p:sp>
      <p:sp>
        <p:nvSpPr>
          <p:cNvPr id="4" name="Text 0"/>
          <p:cNvSpPr/>
          <p:nvPr>
            <p:ph idx="100" type="title" hasCustomPrompt="1"/>
          </p:nvPr>
        </p:nvSpPr>
        <p:spPr>
          <a:xfrm>
            <a:off x="2011680" y="2514600"/>
            <a:ext cx="9144000" cy="822960"/>
          </a:xfrm>
          <a:prstGeom prst="rect">
            <a:avLst/>
          </a:prstGeom>
          <a:noFill/>
          <a:ln/>
        </p:spPr>
        <p:txBody>
          <a:bodyPr wrap="square" lIns="0" tIns="0" rIns="0" bIns="0" rtlCol="0" anchor="ctr"/>
          <a:lstStyle/>
          <a:p>
            <a:pPr algn="l" indent="0" marL="0">
              <a:buNone/>
            </a:pPr>
            <a:r>
              <a:rPr lang="en-US" sz="3600" b="1" dirty="0">
                <a:solidFill>
                  <a:srgbClr val="FFFFFF"/>
                </a:solidFill>
              </a:rPr>
              <a:t>누가 그 약점을 메울 수 있나</a:t>
            </a:r>
            <a:endParaRPr lang="en-US" sz="3600" dirty="0"/>
          </a:p>
        </p:txBody>
      </p:sp>
      <p:sp>
        <p:nvSpPr>
          <p:cNvPr id="5" name="Text 0"/>
          <p:cNvSpPr/>
          <p:nvPr>
            <p:ph idx="101" type="body" hasCustomPrompt="1"/>
          </p:nvPr>
        </p:nvSpPr>
        <p:spPr>
          <a:xfrm>
            <a:off x="2011680" y="3474720"/>
            <a:ext cx="8778240" cy="1097280"/>
          </a:xfrm>
          <a:prstGeom prst="rect">
            <a:avLst/>
          </a:prstGeom>
          <a:noFill/>
          <a:ln/>
        </p:spPr>
        <p:txBody>
          <a:bodyPr wrap="square" lIns="0" tIns="0" rIns="0" bIns="0" rtlCol="0" anchor="t"/>
          <a:lstStyle/>
          <a:p>
            <a:pPr indent="0" marL="0">
              <a:buNone/>
            </a:pPr>
            <a:r>
              <a:rPr lang="en-US" sz="1600" dirty="0">
                <a:solidFill>
                  <a:srgbClr val="D0D0D0"/>
                </a:solidFill>
              </a:rPr>
              <a:t>먼저 같은 환경을 두 단계(같은 경기 · 같은 차)로 나눠 비교하고, 우리 약점에서 출발한 기준으로 후보를 고릅니다. 점수 하나로 줄 세우지 않습니다.</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점수를 합치지 않으면 후보마다 강점이 다르게 보인다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괄호 = 2025 선수 20명 중 상위 % (작을수록 좋음) · 기준 선수보다 빠른 상위 후보 5명</a:t>
            </a:r>
            <a:endParaRPr lang="en-US" sz="1400" dirty="0"/>
          </a:p>
        </p:txBody>
      </p:sp>
      <p:graphicFrame>
        <p:nvGraphicFramePr>
          <p:cNvPr id="18" name="cand-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691640"/>
                <a:gridCol w="1463040"/>
                <a:gridCol w="1371600"/>
                <a:gridCol w="1371600"/>
                <a:gridCol w="1280160"/>
                <a:gridCol w="1325880"/>
                <a:gridCol w="1051560"/>
                <a:gridCol w="1554480"/>
              </a:tblGrid>
              <a:tr h="512064">
                <a:tc>
                  <a:txBody>
                    <a:bodyPr/>
                    <a:lstStyle/>
                    <a:p>
                      <a:pPr algn="l" indent="0" marL="0">
                        <a:buNone/>
                      </a:pPr>
                      <a:r>
                        <a:rPr lang="en-US" sz="1100" b="1" dirty="0">
                          <a:solidFill>
                            <a:srgbClr val="FFFFFF"/>
                          </a:solidFill>
                        </a:rPr>
                        <a:t>선수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전체 페이스</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동료 대비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일관성</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타이어 유지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포인트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최종 판정</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512064">
                <a:tc>
                  <a:txBody>
                    <a:bodyPr/>
                    <a:lstStyle/>
                    <a:p>
                      <a:pPr algn="l" indent="0" marL="0">
                        <a:buNone/>
                      </a:pPr>
                      <a:r>
                        <a:rPr lang="en-US" sz="1100" b="1" dirty="0">
                          <a:solidFill>
                            <a:srgbClr val="1A1A1A"/>
                          </a:solidFill>
                        </a:rPr>
                        <a:t>Lance STROLL</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Aston Martin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+0.417% (70%)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+0.220초 (90%)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0.664초 (60%)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+20.4ms (55%)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29 (80%)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기준 선수</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r>
              <a:tr h="512064">
                <a:tc>
                  <a:txBody>
                    <a:bodyPr/>
                    <a:lstStyle/>
                    <a:p>
                      <a:pPr algn="l" indent="0" marL="0">
                        <a:buNone/>
                      </a:pPr>
                      <a:r>
                        <a:rPr lang="en-US" sz="1100" b="1" dirty="0">
                          <a:solidFill>
                            <a:srgbClr val="1A1A1A"/>
                          </a:solidFill>
                        </a:rPr>
                        <a:t>George RUSSELL</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Mercedes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−0.539% (25%)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−0.138초 (40%)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0.561초 (10%)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+21.1ms (60%)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289 (20%)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E10600"/>
                          </a:solidFill>
                        </a:rPr>
                        <a:t>동료 비교까지 반복</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512064">
                <a:tc>
                  <a:txBody>
                    <a:bodyPr/>
                    <a:lstStyle/>
                    <a:p>
                      <a:pPr algn="l" indent="0" marL="0">
                        <a:buNone/>
                      </a:pPr>
                      <a:r>
                        <a:rPr lang="en-US" sz="1100" b="1" dirty="0">
                          <a:solidFill>
                            <a:srgbClr val="1A1A1A"/>
                          </a:solidFill>
                        </a:rPr>
                        <a:t>Charles LECLERC</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Ferrari</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−0.814% (20%)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−0.202초 (25%)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0.658초 (55%)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+39.1ms (95%)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225 (25%)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E10600"/>
                          </a:solidFill>
                        </a:rPr>
                        <a:t>동료 비교까지 반복</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1A1A1A"/>
                          </a:solidFill>
                        </a:rPr>
                        <a:t>Lando NORRIS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McLaren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−1.172% (5%)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−0.020초 (50%)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0.576초 (20%)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+14.7ms (30%)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394 (5%)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페이스 우위만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512064">
                <a:tc>
                  <a:txBody>
                    <a:bodyPr/>
                    <a:lstStyle/>
                    <a:p>
                      <a:pPr algn="l" indent="0" marL="0">
                        <a:buNone/>
                      </a:pPr>
                      <a:r>
                        <a:rPr lang="en-US" sz="1100" b="1" dirty="0">
                          <a:solidFill>
                            <a:srgbClr val="1A1A1A"/>
                          </a:solidFill>
                        </a:rPr>
                        <a:t>Max VERSTAPPEN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Red Bull Racing</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−0.952% (15%)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−0.842초 (5%)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0.595초 (30%)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+21.3ms (70%)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389 (10%)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B6B6B"/>
                          </a:solidFill>
                        </a:rPr>
                        <a:t>페이스 우위만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1A1A1A"/>
                          </a:solidFill>
                        </a:rPr>
                        <a:t>Oscar PIASTRI</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McLaren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−1.087% (10%)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+0.020초 (55%)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0.690초 (70%)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+17.1ms (50%)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381 (15%)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페이스 우위만</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bl>
          </a:graphicData>
        </a:graphic>
      </p:graphicFrame>
      <p:sp>
        <p:nvSpPr>
          <p:cNvPr id="5" name="cand-note"/>
          <p:cNvSpPr txBox="1"/>
          <p:nvPr/>
        </p:nvSpPr>
        <p:spPr>
          <a:xfrm>
            <a:off x="548640" y="5257800"/>
            <a:ext cx="11109960" cy="365760"/>
          </a:xfrm>
          <a:prstGeom prst="rect">
            <a:avLst/>
          </a:prstGeom>
          <a:noFill/>
          <a:ln/>
        </p:spPr>
        <p:txBody>
          <a:bodyPr wrap="square" lIns="0" tIns="0" rIns="0" bIns="0" rtlCol="0" anchor="t"/>
          <a:lstStyle/>
          <a:p>
            <a:pPr indent="0" marL="0">
              <a:buNone/>
            </a:pPr>
            <a:r>
              <a:rPr lang="en-US" sz="1100" dirty="0">
                <a:solidFill>
                  <a:srgbClr val="6B6B6B"/>
                </a:solidFill>
              </a:rPr>
              <a:t>최종 판정 = 같은 경기 비교 · 정제 조건 11가지 · 시즌 전·후반 · 후보 자신의 동료 비교, 네 조건이 모두 반복되면 '동료 비교까지 반복' · 계약 가능성은 판단하지 않음</a:t>
            </a:r>
            <a:endParaRPr lang="en-US" sz="1100" dirty="0"/>
          </a:p>
        </p:txBody>
      </p:sp>
      <p:sp>
        <p:nvSpPr>
          <p:cNvPr id="6"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가장 빠른 세 명이 아니라 LECLERC·RUSSELL이 끝까지 남았다 — 빠른 선수와 팀에 맞는 선수는 다르다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같은 환경 두 단계로 비교하면 남는 선수는 둘이다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같은 경기 비교 × 같은 차 동료 비교 · 2025 STROLL 자리 후보 18명(DOOHAN 표본 부족 제외)</a:t>
            </a:r>
            <a:endParaRPr lang="en-US" sz="1400" dirty="0"/>
          </a:p>
        </p:txBody>
      </p:sp>
      <p:sp>
        <p:nvSpPr>
          <p:cNvPr id="5" name="cand-note"/>
          <p:cNvSpPr txBox="1"/>
          <p:nvPr/>
        </p:nvSpPr>
        <p:spPr>
          <a:xfrm>
            <a:off x="8167865" y="1554480"/>
            <a:ext cx="3490735" cy="4100000"/>
          </a:xfrm>
          <a:prstGeom prst="rect">
            <a:avLst/>
          </a:prstGeom>
          <a:noFill/>
          <a:ln/>
        </p:spPr>
        <p:txBody>
          <a:bodyPr wrap="square" lIns="0" tIns="0" rIns="0" bIns="0" rtlCol="0" anchor="t"/>
          <a:lstStyle/>
          <a:p>
            <a:pPr indent="0" marL="0">
              <a:buNone/>
            </a:pPr>
            <a:r>
              <a:rPr lang="en-US" sz="1100" dirty="0" b="1">
                <a:solidFill>
                  <a:srgbClr val="1A1A1A"/>
                </a:solidFill>
              </a:rPr>
              <a:t>① 같은 경기 비교</a:t>
            </a:r>
          </a:p>
          <a:p>
            <a:pPr indent="0" marL="0">
              <a:buNone/>
            </a:pPr>
            <a:r>
              <a:rPr lang="en-US" sz="1100" dirty="0" b="0">
                <a:solidFill>
                  <a:srgbClr val="6B6B6B"/>
                </a:solidFill>
              </a:rPr>
              <a:t>같은 경기·컴파운드·5랩 구간 필드 기준 대비 페이스를 STROLL과 나란히. 차량 차이는 남는다.</a:t>
            </a:r>
          </a:p>
          <a:p>
            <a:pPr indent="0" marL="0">
              <a:buNone/>
            </a:pPr>
            <a:r>
              <a:rPr lang="en-US" sz="1100" dirty="0">
                <a:solidFill>
                  <a:srgbClr val="6B6B6B"/>
                </a:solidFill>
              </a:rPr>
              <a:t/>
            </a:r>
          </a:p>
          <a:p>
            <a:pPr indent="0" marL="0">
              <a:buNone/>
            </a:pPr>
            <a:r>
              <a:rPr lang="en-US" sz="1100" dirty="0" b="1">
                <a:solidFill>
                  <a:srgbClr val="1A1A1A"/>
                </a:solidFill>
              </a:rPr>
              <a:t>② 같은 차 비교</a:t>
            </a:r>
          </a:p>
          <a:p>
            <a:pPr indent="0" marL="0">
              <a:buNone/>
            </a:pPr>
            <a:r>
              <a:rPr lang="en-US" sz="1100" dirty="0" b="0">
                <a:solidFill>
                  <a:srgbClr val="6B6B6B"/>
                </a:solidFill>
              </a:rPr>
              <a:t>같은 팀 동료와 같은 랩·컴파운드, 타이어 나이 차 3랩·시각 차 90초 이내 랩 쌍만. 차가 같아 선수 차이만 남는다.</a:t>
            </a:r>
          </a:p>
          <a:p>
            <a:pPr indent="0" marL="0">
              <a:buNone/>
            </a:pPr>
            <a:r>
              <a:rPr lang="en-US" sz="1100" dirty="0">
                <a:solidFill>
                  <a:srgbClr val="6B6B6B"/>
                </a:solidFill>
              </a:rPr>
              <a:t/>
            </a:r>
          </a:p>
          <a:p>
            <a:pPr indent="0" marL="0">
              <a:buNone/>
            </a:pPr>
            <a:r>
              <a:rPr lang="en-US" sz="1100" dirty="0" b="1">
                <a:solidFill>
                  <a:srgbClr val="E10600"/>
                </a:solidFill>
              </a:rPr>
              <a:t>오른쪽 위 = 차도 빠르고 실력도 빠름</a:t>
            </a:r>
          </a:p>
          <a:p>
            <a:pPr indent="0" marL="0">
              <a:buNone/>
            </a:pPr>
            <a:r>
              <a:rPr lang="en-US" sz="1100" dirty="0" b="0">
                <a:solidFill>
                  <a:srgbClr val="1A1A1A"/>
                </a:solidFill>
              </a:rPr>
              <a:t>11/11 조건까지 반복된 선수는 LECLERC·RUSSELL뿐</a:t>
            </a:r>
          </a:p>
          <a:p>
            <a:pPr indent="0" marL="0">
              <a:buNone/>
            </a:pPr>
            <a:r>
              <a:rPr lang="en-US" sz="1100" dirty="0">
                <a:solidFill>
                  <a:srgbClr val="6B6B6B"/>
                </a:solidFill>
              </a:rPr>
              <a:t/>
            </a:r>
          </a:p>
          <a:p>
            <a:pPr indent="0" marL="0">
              <a:buNone/>
            </a:pPr>
            <a:r>
              <a:rPr lang="en-US" sz="1100" dirty="0" b="0">
                <a:solidFill>
                  <a:srgbClr val="6B6B6B"/>
                </a:solidFill>
              </a:rPr>
              <a:t>NORRIS·PIASTRI: 서로 ±0.02초 → 차의 몫일 수 있음</a:t>
            </a:r>
          </a:p>
          <a:p>
            <a:pPr indent="0" marL="0">
              <a:buNone/>
            </a:pPr>
            <a:r>
              <a:rPr lang="en-US" sz="1100" dirty="0" b="0">
                <a:solidFill>
                  <a:srgbClr val="6B6B6B"/>
                </a:solidFill>
              </a:rPr>
              <a:t>VERSTAPPEN: 10/11 조건 → 기준 미달</a:t>
            </a:r>
          </a:p>
          <a:p>
            <a:pPr indent="0" marL="0">
              <a:buNone/>
            </a:pPr>
            <a:r>
              <a:rPr lang="en-US" sz="1100" dirty="0" b="0">
                <a:solidFill>
                  <a:srgbClr val="6B6B6B"/>
                </a:solidFill>
              </a:rPr>
              <a:t>HAMILTON·ANTONELLI: 동료에게 0/11</a:t>
            </a:r>
          </a:p>
        </p:txBody>
      </p:sp>
      <p:sp>
        <p:nvSpPr>
          <p:cNvPr id="6"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차를 빼고 같은 차 동료와 비교해도 빠른 선수는 LECLERC·RUSSELL 둘뿐이다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17</a:t>
            </a:fld>
            <a:endParaRPr lang="en-US"/>
          </a:p>
        </p:txBody>
      </p:sp>
      <p:pic>
        <p:nvPicPr>
          <p:cNvPr id="26" name="Picture 25" descr="selection_scatter.png"/>
          <p:cNvPicPr>
            <a:picLocks noChangeAspect="1"/>
          </p:cNvPicPr>
          <p:nvPr/>
        </p:nvPicPr>
        <p:blipFill>
          <a:blip r:embed="rId2"/>
          <a:stretch>
            <a:fillRect/>
          </a:stretch>
        </p:blipFill>
        <p:spPr>
          <a:xfrm>
            <a:off x="548640" y="1463040"/>
            <a:ext cx="7390625" cy="4300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선정 기준: 약점은 메우고, 강점은 지킨다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② 진단에서 출발 · 선수가 바꿀 수 있는 것만 기준으로 · 상위 % = 2025 선수 20명 중 (작을수록 좋음)</a:t>
            </a:r>
            <a:endParaRPr lang="en-US" sz="1400" dirty="0"/>
          </a:p>
        </p:txBody>
      </p:sp>
      <p:graphicFrame>
        <p:nvGraphicFramePr>
          <p:cNvPr id="18" name="cand-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3657600"/>
        </p:xfrm>
        <a:graphic>
          <a:graphicData uri="http://schemas.openxmlformats.org/drawingml/2006/table">
            <a:tbl>
              <a:tblPr/>
              <a:tblGrid>
                <a:gridCol w="1700000"/>
                <a:gridCol w="1250000"/>
                <a:gridCol w="1350000"/>
                <a:gridCol w="2050000"/>
                <a:gridCol w="1250000"/>
                <a:gridCol w="1250000"/>
                <a:gridCol w="1150000"/>
                <a:gridCol w="1109960"/>
              </a:tblGrid>
              <a:tr h="457200">
                <a:tc>
                  <a:txBody>
                    <a:bodyPr/>
                    <a:lstStyle/>
                    <a:p>
                      <a:pPr algn="l" indent="0" marL="0">
                        <a:buNone/>
                      </a:pPr>
                      <a:r>
                        <a:rPr lang="en-US" sz="1100" b="1" dirty="0">
                          <a:solidFill>
                            <a:srgbClr val="FFFFFF"/>
                          </a:solidFill>
                        </a:rPr>
                        <a:t>우리 팀 상태 (②)</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바꿀 수 있나</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판단 지표</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통과 기준</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RUSSELL</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LECLERC</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NORRIS</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VERSTAPPEN</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640080">
                <a:tc>
                  <a:txBody>
                    <a:bodyPr/>
                    <a:lstStyle/>
                    <a:p>
                      <a:pPr algn="l" indent="0" marL="0">
                        <a:buNone/>
                      </a:pPr>
                      <a:r>
                        <a:rPr lang="en-US" sz="1100" b="1" dirty="0">
                          <a:solidFill>
                            <a:srgbClr val="1A1A1A"/>
                          </a:solidFill>
                        </a:rPr>
                        <a:t>기본 페이스 약함</a:t>
                      </a:r>
                    </a:p>
                    <a:p>
                      <a:pPr algn="l" indent="0" marL="0">
                        <a:buNone/>
                      </a:pPr>
                      <a:r>
                        <a:rPr lang="en-US" sz="1100" b="1" dirty="0">
                          <a:solidFill>
                            <a:srgbClr val="1A1A1A"/>
                          </a:solidFill>
                        </a:rPr>
                        <a:t>+0.46% · 7위</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0" dirty="0">
                          <a:solidFill>
                            <a:srgbClr val="6B6B6B"/>
                          </a:solidFill>
                        </a:rPr>
                        <a:t>예 → 메운다</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0" dirty="0">
                          <a:solidFill>
                            <a:srgbClr val="6B6B6B"/>
                          </a:solidFill>
                        </a:rPr>
                        <a:t>① 같은 경기 비교</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0" dirty="0">
                          <a:solidFill>
                            <a:srgbClr val="6B6B6B"/>
                          </a:solidFill>
                        </a:rPr>
                        <a:t>11/11 조건 · 구간 0 미만</a:t>
                      </a:r>
                    </a:p>
                    <a:p>
                      <a:pPr algn="l" indent="0" marL="0">
                        <a:buNone/>
                      </a:pPr>
                      <a:r>
                        <a:rPr lang="en-US" sz="1100" b="0" dirty="0">
                          <a:solidFill>
                            <a:srgbClr val="6B6B6B"/>
                          </a:solidFill>
                        </a:rPr>
                        <a:t>전·후반 모두 빠름</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E10600"/>
                          </a:solidFill>
                        </a:rPr>
                        <a:t>통과 −1.03%p</a:t>
                      </a:r>
                    </a:p>
                    <a:p>
                      <a:pPr algn="l" indent="0" marL="0">
                        <a:buNone/>
                      </a:pPr>
                      <a:r>
                        <a:rPr lang="en-US" sz="1100" b="1" dirty="0">
                          <a:solidFill>
                            <a:srgbClr val="E10600"/>
                          </a:solidFill>
                        </a:rPr>
                        <a:t>18/18경기</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E10600"/>
                          </a:solidFill>
                        </a:rPr>
                        <a:t>통과 −1.12%p</a:t>
                      </a:r>
                    </a:p>
                    <a:p>
                      <a:pPr algn="l" indent="0" marL="0">
                        <a:buNone/>
                      </a:pPr>
                      <a:r>
                        <a:rPr lang="en-US" sz="1100" b="1" dirty="0">
                          <a:solidFill>
                            <a:srgbClr val="E10600"/>
                          </a:solidFill>
                        </a:rPr>
                        <a:t>16/17경기</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0" dirty="0">
                          <a:solidFill>
                            <a:srgbClr val="1A1A1A"/>
                          </a:solidFill>
                        </a:rPr>
                        <a:t>통과 −1.47%p</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0" dirty="0">
                          <a:solidFill>
                            <a:srgbClr val="1A1A1A"/>
                          </a:solidFill>
                        </a:rPr>
                        <a:t>통과 −1.48%p</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640080">
                <a:tc>
                  <a:txBody>
                    <a:bodyPr/>
                    <a:lstStyle/>
                    <a:p>
                      <a:pPr algn="l" indent="0" marL="0">
                        <a:buNone/>
                      </a:pPr>
                      <a:r>
                        <a:rPr lang="en-US" sz="1100" b="1" dirty="0">
                          <a:solidFill>
                            <a:srgbClr val="1A1A1A"/>
                          </a:solidFill>
                        </a:rPr>
                        <a:t>그 빠름이 차 때문인가</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0" dirty="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0" dirty="0">
                          <a:solidFill>
                            <a:srgbClr val="6B6B6B"/>
                          </a:solidFill>
                        </a:rPr>
                        <a:t>② 같은 차 동료 비교</a:t>
                      </a:r>
                    </a:p>
                    <a:p>
                      <a:pPr algn="l" indent="0" marL="0">
                        <a:buNone/>
                      </a:pPr>
                      <a:r>
                        <a:rPr lang="en-US" sz="1100" b="0" dirty="0">
                          <a:solidFill>
                            <a:srgbClr val="6B6B6B"/>
                          </a:solidFill>
                        </a:rPr>
                        <a:t>Gold 2025</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0" dirty="0">
                          <a:solidFill>
                            <a:srgbClr val="6B6B6B"/>
                          </a:solidFill>
                        </a:rPr>
                        <a:t>11/11 조건에서</a:t>
                      </a:r>
                    </a:p>
                    <a:p>
                      <a:pPr algn="l" indent="0" marL="0">
                        <a:buNone/>
                      </a:pPr>
                      <a:r>
                        <a:rPr lang="en-US" sz="1100" b="0" dirty="0">
                          <a:solidFill>
                            <a:srgbClr val="6B6B6B"/>
                          </a:solidFill>
                        </a:rPr>
                        <a:t>동료보다 빠름</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E10600"/>
                          </a:solidFill>
                        </a:rPr>
                        <a:t>통과 −0.138초</a:t>
                      </a:r>
                    </a:p>
                    <a:p>
                      <a:pPr algn="l" indent="0" marL="0">
                        <a:buNone/>
                      </a:pPr>
                      <a:r>
                        <a:rPr lang="en-US" sz="1100" b="1" dirty="0">
                          <a:solidFill>
                            <a:srgbClr val="E10600"/>
                          </a:solidFill>
                        </a:rPr>
                        <a:t>신인 ANTONELLI</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E10600"/>
                          </a:solidFill>
                        </a:rPr>
                        <a:t>통과 −0.202초</a:t>
                      </a:r>
                    </a:p>
                    <a:p>
                      <a:pPr algn="l" indent="0" marL="0">
                        <a:buNone/>
                      </a:pPr>
                      <a:r>
                        <a:rPr lang="en-US" sz="1100" b="1" dirty="0">
                          <a:solidFill>
                            <a:srgbClr val="E10600"/>
                          </a:solidFill>
                        </a:rPr>
                        <a:t>HAMILTON</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0" dirty="0">
                          <a:solidFill>
                            <a:srgbClr val="6B6B6B"/>
                          </a:solidFill>
                        </a:rPr>
                        <a:t>미달 8/11</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0" dirty="0">
                          <a:solidFill>
                            <a:srgbClr val="6B6B6B"/>
                          </a:solidFill>
                        </a:rPr>
                        <a:t>미달 10/11</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640080">
                <a:tc>
                  <a:txBody>
                    <a:bodyPr/>
                    <a:lstStyle/>
                    <a:p>
                      <a:pPr algn="l" indent="0" marL="0">
                        <a:buNone/>
                      </a:pPr>
                      <a:r>
                        <a:rPr lang="en-US" sz="1100" b="1" dirty="0">
                          <a:solidFill>
                            <a:srgbClr val="1A1A1A"/>
                          </a:solidFill>
                        </a:rPr>
                        <a:t>같은 자로 재면</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같은 동료 HAMILTON 대비</a:t>
                      </a:r>
                    </a:p>
                    <a:p>
                      <a:pPr algn="l" indent="0" marL="0">
                        <a:buNone/>
                      </a:pPr>
                      <a:r>
                        <a:rPr lang="en-US" sz="1100" dirty="0" b="0">
                          <a:solidFill>
                            <a:srgbClr val="6B6B6B"/>
                          </a:solidFill>
                        </a:rPr>
                        <a:t>Silver 재계산</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95% 구간 0 미만</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미달 +0.037초</a:t>
                      </a:r>
                    </a:p>
                    <a:p>
                      <a:pPr algn="l" indent="0" marL="0">
                        <a:buNone/>
                      </a:pPr>
                      <a:r>
                        <a:rPr lang="en-US" sz="1100" dirty="0" b="0">
                          <a:solidFill>
                            <a:srgbClr val="6B6B6B"/>
                          </a:solidFill>
                        </a:rPr>
                        <a:t>8/21경기 (2023~24)</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1">
                          <a:solidFill>
                            <a:srgbClr val="E10600"/>
                          </a:solidFill>
                        </a:rPr>
                        <a:t>통과 −0.217초</a:t>
                      </a:r>
                    </a:p>
                    <a:p>
                      <a:pPr algn="l" indent="0" marL="0">
                        <a:buNone/>
                      </a:pPr>
                      <a:r>
                        <a:rPr lang="en-US" sz="1100" dirty="0" b="1">
                          <a:solidFill>
                            <a:srgbClr val="E10600"/>
                          </a:solidFill>
                        </a:rPr>
                        <a:t>9/9경기 (2025)</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640080">
                <a:tc>
                  <a:txBody>
                    <a:bodyPr/>
                    <a:lstStyle/>
                    <a:p>
                      <a:pPr algn="l" indent="0" marL="0">
                        <a:buNone/>
                      </a:pPr>
                      <a:r>
                        <a:rPr lang="en-US" sz="1100" b="1" dirty="0">
                          <a:solidFill>
                            <a:srgbClr val="1A1A1A"/>
                          </a:solidFill>
                        </a:rPr>
                        <a:t>타이어 유지 강함</a:t>
                      </a:r>
                    </a:p>
                    <a:p>
                      <a:pPr algn="l" indent="0" marL="0">
                        <a:buNone/>
                      </a:pPr>
                      <a:r>
                        <a:rPr lang="en-US" sz="1100" b="1" dirty="0">
                          <a:solidFill>
                            <a:srgbClr val="1A1A1A"/>
                          </a:solidFill>
                        </a:rPr>
                        <a:t>10팀 중 1위</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6B6B6B"/>
                          </a:solidFill>
                        </a:rPr>
                        <a:t>예 → 잃지 않는다</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6B6B6B"/>
                          </a:solidFill>
                        </a:rPr>
                        <a:t>타이어 유지</a:t>
                      </a:r>
                    </a:p>
                    <a:p>
                      <a:pPr algn="l" indent="0" marL="0">
                        <a:buNone/>
                      </a:pPr>
                      <a:r>
                        <a:rPr lang="en-US" sz="1100" dirty="0" b="0">
                          <a:solidFill>
                            <a:srgbClr val="6B6B6B"/>
                          </a:solidFill>
                        </a:rPr>
                        <a:t>상위 %</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6B6B6B"/>
                          </a:solidFill>
                        </a:rPr>
                        <a:t>STROLL 55%에</a:t>
                      </a:r>
                    </a:p>
                    <a:p>
                      <a:pPr algn="l" indent="0" marL="0">
                        <a:buNone/>
                      </a:pPr>
                      <a:r>
                        <a:rPr lang="en-US" sz="1100" dirty="0" b="0">
                          <a:solidFill>
                            <a:srgbClr val="6B6B6B"/>
                          </a:solidFill>
                        </a:rPr>
                        <a:t>가까울수록 좋음</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1A1A1A"/>
                          </a:solidFill>
                        </a:rPr>
                        <a:t>60%</a:t>
                      </a:r>
                    </a:p>
                    <a:p>
                      <a:pPr algn="l" indent="0" marL="0">
                        <a:buNone/>
                      </a:pPr>
                      <a:r>
                        <a:rPr lang="en-US" sz="1100" dirty="0" b="0">
                          <a:solidFill>
                            <a:srgbClr val="1A1A1A"/>
                          </a:solidFill>
                        </a:rPr>
                        <a:t>2023~25: 46%</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1A1A1A"/>
                          </a:solidFill>
                        </a:rPr>
                        <a:t>95%</a:t>
                      </a:r>
                    </a:p>
                    <a:p>
                      <a:pPr algn="l" indent="0" marL="0">
                        <a:buNone/>
                      </a:pPr>
                      <a:r>
                        <a:rPr lang="en-US" sz="1100" dirty="0" b="0">
                          <a:solidFill>
                            <a:srgbClr val="1A1A1A"/>
                          </a:solidFill>
                        </a:rPr>
                        <a:t>2023~25: 65%</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1A1A1A"/>
                          </a:solidFill>
                        </a:rPr>
                        <a:t>30%</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b="0">
                          <a:solidFill>
                            <a:srgbClr val="1A1A1A"/>
                          </a:solidFill>
                        </a:rPr>
                        <a:t>70%</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640080">
                <a:tc>
                  <a:txBody>
                    <a:bodyPr/>
                    <a:lstStyle/>
                    <a:p>
                      <a:pPr algn="l" indent="0" marL="0">
                        <a:buNone/>
                      </a:pPr>
                      <a:r>
                        <a:rPr lang="en-US" sz="1100" b="1" dirty="0">
                          <a:solidFill>
                            <a:srgbClr val="1A1A1A"/>
                          </a:solidFill>
                        </a:rPr>
                        <a:t>피트 +0.28초</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아니오</a:t>
                      </a:r>
                    </a:p>
                    <a:p>
                      <a:pPr algn="l" indent="0" marL="0">
                        <a:buNone/>
                      </a:pPr>
                      <a:r>
                        <a:rPr lang="en-US" sz="1100" dirty="0" b="0">
                          <a:solidFill>
                            <a:srgbClr val="6B6B6B"/>
                          </a:solidFill>
                        </a:rPr>
                        <a:t>팀 운영</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영입과 별도 과제</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b="0">
                          <a:solidFill>
                            <a:srgbClr val="6B6B6B"/>
                          </a:solidFill>
                        </a:rPr>
                        <a:t>—</a:t>
                      </a:r>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bl>
          </a:graphicData>
        </a:graphic>
      </p:graphicFrame>
      <p:sp>
        <p:nvSpPr>
          <p:cNvPr id="5" name="cand-note"/>
          <p:cNvSpPr txBox="1"/>
          <p:nvPr/>
        </p:nvSpPr>
        <p:spPr>
          <a:xfrm>
            <a:off x="548640" y="5303520"/>
            <a:ext cx="11109960" cy="365760"/>
          </a:xfrm>
          <a:prstGeom prst="rect">
            <a:avLst/>
          </a:prstGeom>
          <a:noFill/>
          <a:ln/>
        </p:spPr>
        <p:txBody>
          <a:bodyPr wrap="square" lIns="0" tIns="0" rIns="0" bIns="0" rtlCol="0" anchor="t"/>
          <a:lstStyle/>
          <a:p>
            <a:pPr indent="0" marL="0">
              <a:buNone/>
            </a:pPr>
            <a:r>
              <a:rPr lang="en-US" sz="1100" dirty="0">
                <a:solidFill>
                  <a:srgbClr val="6B6B6B"/>
                </a:solidFill>
              </a:rPr>
              <a:t>같은 자 = 두 후보를 같은 차에서 같은 동료 HAMILTON과 비교(pipeline/driver_check.py) · HAMILTON은 2025가 Ferrari 첫해라 LECLERC가 유리할 수 있음 · 타이어 유지 차이(−1.2ms/랩)는 95% 구간 −8.8~+3.5로 구분되지 않아 확인 과제로 둔다</a:t>
            </a:r>
          </a:p>
        </p:txBody>
      </p:sp>
      <p:sp>
        <p:nvSpPr>
          <p:cNvPr id="6"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둘 다 페이스를 메운다 · 같은 자(HAMILTON)로 재면 LECLERC가 앞서 1순위 · 타이어 유지 차이는 오차 범위 안이라 확인 과제</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결과: 우선 검토 후보는 LECLERC와 RUSSELL</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2025 Aston Martin · 비교 기준 Lance STROLL 자리 · 타 팀 후보 19명</a:t>
            </a:r>
            <a:endParaRPr lang="en-US" sz="1400" dirty="0"/>
          </a:p>
        </p:txBody>
      </p:sp>
      <p:sp>
        <p:nvSpPr>
          <p:cNvPr id="4" name="funnel-0"/>
          <p:cNvSpPr/>
          <p:nvPr/>
        </p:nvSpPr>
        <p:spPr>
          <a:xfrm>
            <a:off x="548640" y="1554480"/>
            <a:ext cx="3566160" cy="1143000"/>
          </a:xfrm>
          <a:prstGeom prst="rect">
            <a:avLst/>
          </a:prstGeom>
          <a:solidFill>
            <a:srgbClr val="B5B5B5"/>
          </a:solidFill>
          <a:ln w="12700">
            <a:solidFill>
              <a:srgbClr val="B5B5B5"/>
            </a:solidFill>
            <a:prstDash val="solid"/>
          </a:ln>
        </p:spPr>
        <p:txBody>
          <a:bodyPr/>
          <a:p/>
        </p:txBody>
      </p:sp>
      <p:sp>
        <p:nvSpPr>
          <p:cNvPr id="5" name="funnel-n-0"/>
          <p:cNvSpPr txBox="1"/>
          <p:nvPr/>
        </p:nvSpPr>
        <p:spPr>
          <a:xfrm>
            <a:off x="731520" y="1664208"/>
            <a:ext cx="3200400" cy="548640"/>
          </a:xfrm>
          <a:prstGeom prst="rect">
            <a:avLst/>
          </a:prstGeom>
          <a:noFill/>
          <a:ln/>
        </p:spPr>
        <p:txBody>
          <a:bodyPr wrap="square" lIns="0" tIns="0" rIns="0" bIns="0" rtlCol="0" anchor="t"/>
          <a:lstStyle/>
          <a:p>
            <a:pPr indent="0" marL="0">
              <a:buNone/>
            </a:pPr>
            <a:r>
              <a:rPr lang="en-US" sz="2800" b="1" dirty="0">
                <a:solidFill>
                  <a:srgbClr val="1A1A1A"/>
                </a:solidFill>
              </a:rPr>
              <a:t>19명</a:t>
            </a:r>
            <a:endParaRPr lang="en-US" sz="2800" dirty="0"/>
          </a:p>
        </p:txBody>
      </p:sp>
      <p:sp>
        <p:nvSpPr>
          <p:cNvPr id="6" name="funnel-l-0"/>
          <p:cNvSpPr txBox="1"/>
          <p:nvPr/>
        </p:nvSpPr>
        <p:spPr>
          <a:xfrm>
            <a:off x="731520" y="2212848"/>
            <a:ext cx="3291840" cy="411480"/>
          </a:xfrm>
          <a:prstGeom prst="rect">
            <a:avLst/>
          </a:prstGeom>
          <a:noFill/>
          <a:ln/>
        </p:spPr>
        <p:txBody>
          <a:bodyPr wrap="square" lIns="0" tIns="0" rIns="0" bIns="0" rtlCol="0" anchor="t"/>
          <a:lstStyle/>
          <a:p>
            <a:pPr indent="0" marL="0">
              <a:buNone/>
            </a:pPr>
            <a:r>
              <a:rPr lang="en-US" sz="1100" dirty="0">
                <a:solidFill>
                  <a:srgbClr val="1A1A1A"/>
                </a:solidFill>
              </a:rPr>
              <a:t>타 팀 전체 후보</a:t>
            </a:r>
            <a:endParaRPr lang="en-US" sz="1100" dirty="0"/>
          </a:p>
        </p:txBody>
      </p:sp>
      <p:sp>
        <p:nvSpPr>
          <p:cNvPr id="7" name="funnel-1"/>
          <p:cNvSpPr/>
          <p:nvPr/>
        </p:nvSpPr>
        <p:spPr>
          <a:xfrm>
            <a:off x="891540" y="2926080"/>
            <a:ext cx="2880360" cy="1143000"/>
          </a:xfrm>
          <a:prstGeom prst="rect">
            <a:avLst/>
          </a:prstGeom>
          <a:solidFill>
            <a:srgbClr val="8C8C8C"/>
          </a:solidFill>
          <a:ln w="12700">
            <a:solidFill>
              <a:srgbClr val="8C8C8C"/>
            </a:solidFill>
            <a:prstDash val="solid"/>
          </a:ln>
        </p:spPr>
        <p:txBody>
          <a:bodyPr/>
          <a:p/>
        </p:txBody>
      </p:sp>
      <p:sp>
        <p:nvSpPr>
          <p:cNvPr id="8" name="funnel-n-1"/>
          <p:cNvSpPr txBox="1"/>
          <p:nvPr/>
        </p:nvSpPr>
        <p:spPr>
          <a:xfrm>
            <a:off x="1074420" y="3035808"/>
            <a:ext cx="2514600" cy="548640"/>
          </a:xfrm>
          <a:prstGeom prst="rect">
            <a:avLst/>
          </a:prstGeom>
          <a:noFill/>
          <a:ln/>
        </p:spPr>
        <p:txBody>
          <a:bodyPr wrap="square" lIns="0" tIns="0" rIns="0" bIns="0" rtlCol="0" anchor="t"/>
          <a:lstStyle/>
          <a:p>
            <a:pPr indent="0" marL="0">
              <a:buNone/>
            </a:pPr>
            <a:r>
              <a:rPr lang="en-US" sz="2800" b="1" dirty="0">
                <a:solidFill>
                  <a:srgbClr val="FFFFFF"/>
                </a:solidFill>
              </a:rPr>
              <a:t>7명</a:t>
            </a:r>
            <a:endParaRPr lang="en-US" sz="2800" dirty="0"/>
          </a:p>
        </p:txBody>
      </p:sp>
      <p:sp>
        <p:nvSpPr>
          <p:cNvPr id="9" name="funnel-l-1"/>
          <p:cNvSpPr txBox="1"/>
          <p:nvPr/>
        </p:nvSpPr>
        <p:spPr>
          <a:xfrm>
            <a:off x="1074420" y="3584448"/>
            <a:ext cx="2606040" cy="411480"/>
          </a:xfrm>
          <a:prstGeom prst="rect">
            <a:avLst/>
          </a:prstGeom>
          <a:noFill/>
          <a:ln/>
        </p:spPr>
        <p:txBody>
          <a:bodyPr wrap="square" lIns="0" tIns="0" rIns="0" bIns="0" rtlCol="0" anchor="t"/>
          <a:lstStyle/>
          <a:p>
            <a:pPr indent="0" marL="0">
              <a:buNone/>
            </a:pPr>
            <a:r>
              <a:rPr lang="en-US" sz="1100" dirty="0">
                <a:solidFill>
                  <a:srgbClr val="FFFFFF"/>
                </a:solidFill>
              </a:rPr>
              <a:t>같은 경기 비교: 11/11 조건 · 95% 구간 · 전·후반</a:t>
            </a:r>
            <a:endParaRPr lang="en-US" sz="1100" dirty="0"/>
          </a:p>
        </p:txBody>
      </p:sp>
      <p:sp>
        <p:nvSpPr>
          <p:cNvPr id="10" name="funnel-2"/>
          <p:cNvSpPr/>
          <p:nvPr/>
        </p:nvSpPr>
        <p:spPr>
          <a:xfrm>
            <a:off x="1234440" y="4297680"/>
            <a:ext cx="2194560" cy="1143000"/>
          </a:xfrm>
          <a:prstGeom prst="rect">
            <a:avLst/>
          </a:prstGeom>
          <a:solidFill>
            <a:srgbClr val="E10600"/>
          </a:solidFill>
          <a:ln w="12700">
            <a:solidFill>
              <a:srgbClr val="E10600"/>
            </a:solidFill>
            <a:prstDash val="solid"/>
          </a:ln>
        </p:spPr>
        <p:txBody>
          <a:bodyPr/>
          <a:p/>
        </p:txBody>
      </p:sp>
      <p:sp>
        <p:nvSpPr>
          <p:cNvPr id="11" name="funnel-n-2"/>
          <p:cNvSpPr txBox="1"/>
          <p:nvPr/>
        </p:nvSpPr>
        <p:spPr>
          <a:xfrm>
            <a:off x="1417320" y="4407408"/>
            <a:ext cx="1828800" cy="548640"/>
          </a:xfrm>
          <a:prstGeom prst="rect">
            <a:avLst/>
          </a:prstGeom>
          <a:noFill/>
          <a:ln/>
        </p:spPr>
        <p:txBody>
          <a:bodyPr wrap="square" lIns="0" tIns="0" rIns="0" bIns="0" rtlCol="0" anchor="t"/>
          <a:lstStyle/>
          <a:p>
            <a:pPr indent="0" marL="0">
              <a:buNone/>
            </a:pPr>
            <a:r>
              <a:rPr lang="en-US" sz="2800" b="1" dirty="0">
                <a:solidFill>
                  <a:srgbClr val="FFFFFF"/>
                </a:solidFill>
              </a:rPr>
              <a:t>2명</a:t>
            </a:r>
            <a:endParaRPr lang="en-US" sz="2800" dirty="0"/>
          </a:p>
        </p:txBody>
      </p:sp>
      <p:sp>
        <p:nvSpPr>
          <p:cNvPr id="12" name="funnel-l-2"/>
          <p:cNvSpPr txBox="1"/>
          <p:nvPr/>
        </p:nvSpPr>
        <p:spPr>
          <a:xfrm>
            <a:off x="1417320" y="4956048"/>
            <a:ext cx="1920240" cy="411480"/>
          </a:xfrm>
          <a:prstGeom prst="rect">
            <a:avLst/>
          </a:prstGeom>
          <a:noFill/>
          <a:ln/>
        </p:spPr>
        <p:txBody>
          <a:bodyPr wrap="square" lIns="0" tIns="0" rIns="0" bIns="0" rtlCol="0" anchor="t"/>
          <a:lstStyle/>
          <a:p>
            <a:pPr indent="0" marL="0">
              <a:buNone/>
            </a:pPr>
            <a:r>
              <a:rPr lang="en-US" sz="1100" dirty="0">
                <a:solidFill>
                  <a:srgbClr val="FFFFFF"/>
                </a:solidFill>
              </a:rPr>
              <a:t>같은 차 동료 비교까지 11/11</a:t>
            </a:r>
            <a:endParaRPr lang="en-US" sz="1100" dirty="0"/>
          </a:p>
        </p:txBody>
      </p:sp>
      <p:sp>
        <p:nvSpPr>
          <p:cNvPr id="13" name="res-0"/>
          <p:cNvSpPr/>
          <p:nvPr/>
        </p:nvSpPr>
        <p:spPr>
          <a:xfrm>
            <a:off x="4572000" y="1554480"/>
            <a:ext cx="3429000" cy="4160520"/>
          </a:xfrm>
          <a:prstGeom prst="roundRect">
            <a:avLst>
              <a:gd name="adj" fmla="val 1600"/>
            </a:avLst>
          </a:prstGeom>
          <a:solidFill>
            <a:srgbClr val="FDECEC"/>
          </a:solidFill>
          <a:ln w="15875">
            <a:solidFill>
              <a:srgbClr val="E10600"/>
            </a:solidFill>
            <a:prstDash val="solid"/>
          </a:ln>
        </p:spPr>
        <p:txBody>
          <a:bodyPr/>
          <a:p/>
        </p:txBody>
      </p:sp>
      <p:sp>
        <p:nvSpPr>
          <p:cNvPr id="14" name="res-rank-0"/>
          <p:cNvSpPr txBox="1"/>
          <p:nvPr/>
        </p:nvSpPr>
        <p:spPr>
          <a:xfrm>
            <a:off x="4800600" y="1719072"/>
            <a:ext cx="1097280" cy="274320"/>
          </a:xfrm>
          <a:prstGeom prst="rect">
            <a:avLst/>
          </a:prstGeom>
          <a:noFill/>
          <a:ln/>
        </p:spPr>
        <p:txBody>
          <a:bodyPr wrap="square" lIns="0" tIns="0" rIns="0" bIns="0" rtlCol="0" anchor="t"/>
          <a:lstStyle/>
          <a:p>
            <a:pPr indent="0" marL="0">
              <a:buNone/>
            </a:pPr>
            <a:r>
              <a:rPr lang="en-US" sz="1200" b="1" dirty="0">
                <a:solidFill>
                  <a:srgbClr val="E10600"/>
                </a:solidFill>
              </a:rPr>
              <a:t>1순위</a:t>
            </a:r>
            <a:endParaRPr lang="en-US" sz="1200" dirty="0"/>
          </a:p>
        </p:txBody>
      </p:sp>
      <p:sp>
        <p:nvSpPr>
          <p:cNvPr id="15" name="res-name-0"/>
          <p:cNvSpPr txBox="1"/>
          <p:nvPr/>
        </p:nvSpPr>
        <p:spPr>
          <a:xfrm>
            <a:off x="4800600" y="1993392"/>
            <a:ext cx="3017520" cy="411480"/>
          </a:xfrm>
          <a:prstGeom prst="rect">
            <a:avLst/>
          </a:prstGeom>
          <a:noFill/>
          <a:ln/>
        </p:spPr>
        <p:txBody>
          <a:bodyPr wrap="square" lIns="0" tIns="0" rIns="0" bIns="0" rtlCol="0" anchor="t"/>
          <a:lstStyle/>
          <a:p>
            <a:pPr indent="0" marL="0">
              <a:buNone/>
            </a:pPr>
            <a:r>
              <a:rPr lang="en-US" sz="1900" b="1" dirty="0">
                <a:solidFill>
                  <a:srgbClr val="1A1A1A"/>
                </a:solidFill>
              </a:rPr>
              <a:t>Charles LECLERC</a:t>
            </a:r>
            <a:endParaRPr lang="en-US" sz="1900" dirty="0"/>
          </a:p>
        </p:txBody>
      </p:sp>
      <p:sp>
        <p:nvSpPr>
          <p:cNvPr id="16" name="res-team-0"/>
          <p:cNvSpPr txBox="1"/>
          <p:nvPr/>
        </p:nvSpPr>
        <p:spPr>
          <a:xfrm>
            <a:off x="4800600" y="2395728"/>
            <a:ext cx="3017520" cy="274320"/>
          </a:xfrm>
          <a:prstGeom prst="rect">
            <a:avLst/>
          </a:prstGeom>
          <a:noFill/>
          <a:ln/>
        </p:spPr>
        <p:txBody>
          <a:bodyPr wrap="square" lIns="0" tIns="0" rIns="0" bIns="0" rtlCol="0" anchor="t"/>
          <a:lstStyle/>
          <a:p>
            <a:pPr indent="0" marL="0">
              <a:buNone/>
            </a:pPr>
            <a:r>
              <a:rPr lang="en-US" sz="1100" dirty="0">
                <a:solidFill>
                  <a:srgbClr val="6B6B6B"/>
                </a:solidFill>
              </a:rPr>
              <a:t>Ferrari</a:t>
            </a:r>
            <a:endParaRPr lang="en-US" sz="1100" dirty="0"/>
          </a:p>
        </p:txBody>
      </p:sp>
      <p:sp>
        <p:nvSpPr>
          <p:cNvPr id="17" name="res-k-0-0"/>
          <p:cNvSpPr txBox="1"/>
          <p:nvPr/>
        </p:nvSpPr>
        <p:spPr>
          <a:xfrm>
            <a:off x="4800600" y="2788920"/>
            <a:ext cx="1554480" cy="274320"/>
          </a:xfrm>
          <a:prstGeom prst="rect">
            <a:avLst/>
          </a:prstGeom>
          <a:noFill/>
          <a:ln/>
        </p:spPr>
        <p:txBody>
          <a:bodyPr wrap="square" lIns="0" tIns="0" rIns="0" bIns="0" rtlCol="0" anchor="t"/>
          <a:lstStyle/>
          <a:p>
            <a:pPr indent="0" marL="0">
              <a:buNone/>
            </a:pPr>
            <a:r>
              <a:rPr lang="en-US" sz="1000" dirty="0">
                <a:solidFill>
                  <a:srgbClr val="6B6B6B"/>
                </a:solidFill>
              </a:rPr>
              <a:t>기준 선수 대비 페이스</a:t>
            </a:r>
            <a:endParaRPr lang="en-US" sz="1000" dirty="0"/>
          </a:p>
        </p:txBody>
      </p:sp>
      <p:sp>
        <p:nvSpPr>
          <p:cNvPr id="18" name="res-v-0-0"/>
          <p:cNvSpPr txBox="1"/>
          <p:nvPr/>
        </p:nvSpPr>
        <p:spPr>
          <a:xfrm>
            <a:off x="6263640" y="2752344"/>
            <a:ext cx="1554480" cy="320040"/>
          </a:xfrm>
          <a:prstGeom prst="rect">
            <a:avLst/>
          </a:prstGeom>
          <a:noFill/>
          <a:ln/>
        </p:spPr>
        <p:txBody>
          <a:bodyPr wrap="square" lIns="0" tIns="0" rIns="0" bIns="0" rtlCol="0" anchor="t"/>
          <a:lstStyle/>
          <a:p>
            <a:pPr algn="r" indent="0" marL="0">
              <a:buNone/>
            </a:pPr>
            <a:r>
              <a:rPr lang="en-US" sz="1400" b="1" dirty="0">
                <a:solidFill>
                  <a:srgbClr val="1A1A1A"/>
                </a:solidFill>
              </a:rPr>
              <a:t>−1.12%p</a:t>
            </a:r>
            <a:endParaRPr lang="en-US" sz="1400" dirty="0"/>
          </a:p>
        </p:txBody>
      </p:sp>
      <p:sp>
        <p:nvSpPr>
          <p:cNvPr id="19" name="res-d-0-0"/>
          <p:cNvSpPr txBox="1"/>
          <p:nvPr/>
        </p:nvSpPr>
        <p:spPr>
          <a:xfrm>
            <a:off x="4800600" y="3090672"/>
            <a:ext cx="3017520" cy="274320"/>
          </a:xfrm>
          <a:prstGeom prst="rect">
            <a:avLst/>
          </a:prstGeom>
          <a:noFill/>
          <a:ln/>
        </p:spPr>
        <p:txBody>
          <a:bodyPr wrap="square" lIns="0" tIns="0" rIns="0" bIns="0" rtlCol="0" anchor="t"/>
          <a:lstStyle/>
          <a:p>
            <a:pPr indent="0" marL="0">
              <a:buNone/>
            </a:pPr>
            <a:r>
              <a:rPr lang="en-US" sz="950" dirty="0">
                <a:solidFill>
                  <a:srgbClr val="6B6B6B"/>
                </a:solidFill>
              </a:rPr>
              <a:t>95% 구간 −1.60 ~ −1.00 · 공통 17경기</a:t>
            </a:r>
            <a:endParaRPr lang="en-US" sz="950" dirty="0"/>
          </a:p>
        </p:txBody>
      </p:sp>
      <p:sp>
        <p:nvSpPr>
          <p:cNvPr id="20" name="res-k-0-1"/>
          <p:cNvSpPr txBox="1"/>
          <p:nvPr/>
        </p:nvSpPr>
        <p:spPr>
          <a:xfrm>
            <a:off x="4800600" y="3575304"/>
            <a:ext cx="1554480" cy="274320"/>
          </a:xfrm>
          <a:prstGeom prst="rect">
            <a:avLst/>
          </a:prstGeom>
          <a:noFill/>
          <a:ln/>
        </p:spPr>
        <p:txBody>
          <a:bodyPr wrap="square" lIns="0" tIns="0" rIns="0" bIns="0" rtlCol="0" anchor="t"/>
          <a:lstStyle/>
          <a:p>
            <a:pPr indent="0" marL="0">
              <a:buNone/>
            </a:pPr>
            <a:r>
              <a:rPr lang="en-US" sz="1000" dirty="0">
                <a:solidFill>
                  <a:srgbClr val="6B6B6B"/>
                </a:solidFill>
              </a:rPr>
              <a:t>자기 팀 동료 대비</a:t>
            </a:r>
            <a:endParaRPr lang="en-US" sz="1000" dirty="0"/>
          </a:p>
        </p:txBody>
      </p:sp>
      <p:sp>
        <p:nvSpPr>
          <p:cNvPr id="21" name="res-v-0-1"/>
          <p:cNvSpPr txBox="1"/>
          <p:nvPr/>
        </p:nvSpPr>
        <p:spPr>
          <a:xfrm>
            <a:off x="6263640" y="3538728"/>
            <a:ext cx="1554480" cy="320040"/>
          </a:xfrm>
          <a:prstGeom prst="rect">
            <a:avLst/>
          </a:prstGeom>
          <a:noFill/>
          <a:ln/>
        </p:spPr>
        <p:txBody>
          <a:bodyPr wrap="square" lIns="0" tIns="0" rIns="0" bIns="0" rtlCol="0" anchor="t"/>
          <a:lstStyle/>
          <a:p>
            <a:pPr algn="r" indent="0" marL="0">
              <a:buNone/>
            </a:pPr>
            <a:r>
              <a:rPr lang="en-US" sz="1400" b="1" dirty="0">
                <a:solidFill>
                  <a:srgbClr val="1A1A1A"/>
                </a:solidFill>
              </a:rPr>
              <a:t>−0.202초/랩</a:t>
            </a:r>
            <a:endParaRPr lang="en-US" sz="1400" dirty="0"/>
          </a:p>
        </p:txBody>
      </p:sp>
      <p:sp>
        <p:nvSpPr>
          <p:cNvPr id="22" name="res-d-0-1"/>
          <p:cNvSpPr txBox="1"/>
          <p:nvPr/>
        </p:nvSpPr>
        <p:spPr>
          <a:xfrm>
            <a:off x="4800600" y="3877056"/>
            <a:ext cx="3017520" cy="274320"/>
          </a:xfrm>
          <a:prstGeom prst="rect">
            <a:avLst/>
          </a:prstGeom>
          <a:noFill/>
          <a:ln/>
        </p:spPr>
        <p:txBody>
          <a:bodyPr wrap="square" lIns="0" tIns="0" rIns="0" bIns="0" rtlCol="0" anchor="t"/>
          <a:lstStyle/>
          <a:p>
            <a:pPr indent="0" marL="0">
              <a:buNone/>
            </a:pPr>
            <a:r>
              <a:rPr lang="en-US" sz="950" dirty="0">
                <a:solidFill>
                  <a:srgbClr val="6B6B6B"/>
                </a:solidFill>
              </a:rPr>
              <a:t>95% 구간 −0.35 ~ −0.11 · 11/11 조건</a:t>
            </a:r>
            <a:endParaRPr lang="en-US" sz="950" dirty="0"/>
          </a:p>
        </p:txBody>
      </p:sp>
      <p:sp>
        <p:nvSpPr>
          <p:cNvPr id="23" name="res-k-0-2"/>
          <p:cNvSpPr txBox="1"/>
          <p:nvPr/>
        </p:nvSpPr>
        <p:spPr>
          <a:xfrm>
            <a:off x="4800600" y="4361688"/>
            <a:ext cx="1554480" cy="274320"/>
          </a:xfrm>
          <a:prstGeom prst="rect">
            <a:avLst/>
          </a:prstGeom>
          <a:noFill/>
          <a:ln/>
        </p:spPr>
        <p:txBody>
          <a:bodyPr wrap="square" lIns="0" tIns="0" rIns="0" bIns="0" rtlCol="0" anchor="t"/>
          <a:lstStyle/>
          <a:p>
            <a:pPr indent="0" marL="0">
              <a:buNone/>
            </a:pPr>
            <a:r>
              <a:rPr lang="en-US" sz="1000" dirty="0">
                <a:solidFill>
                  <a:srgbClr val="6B6B6B"/>
                </a:solidFill>
              </a:rPr>
              <a:t>같은 자: HAMILTON 대비</a:t>
            </a:r>
            <a:endParaRPr lang="en-US" sz="1000" dirty="0"/>
          </a:p>
        </p:txBody>
      </p:sp>
      <p:sp>
        <p:nvSpPr>
          <p:cNvPr id="24" name="res-v-0-2"/>
          <p:cNvSpPr txBox="1"/>
          <p:nvPr/>
        </p:nvSpPr>
        <p:spPr>
          <a:xfrm>
            <a:off x="6263640" y="4325112"/>
            <a:ext cx="1554480" cy="320040"/>
          </a:xfrm>
          <a:prstGeom prst="rect">
            <a:avLst/>
          </a:prstGeom>
          <a:noFill/>
          <a:ln/>
        </p:spPr>
        <p:txBody>
          <a:bodyPr wrap="square" lIns="0" tIns="0" rIns="0" bIns="0" rtlCol="0" anchor="t"/>
          <a:lstStyle/>
          <a:p>
            <a:pPr algn="r" indent="0" marL="0">
              <a:buNone/>
            </a:pPr>
            <a:r>
              <a:rPr lang="en-US" sz="1400" b="1" dirty="0">
                <a:solidFill>
                  <a:srgbClr val="E10600"/>
                </a:solidFill>
              </a:rPr>
              <a:t>−0.217초/랩</a:t>
            </a:r>
            <a:endParaRPr lang="en-US" sz="1400" dirty="0"/>
          </a:p>
        </p:txBody>
      </p:sp>
      <p:sp>
        <p:nvSpPr>
          <p:cNvPr id="25" name="res-d-0-2"/>
          <p:cNvSpPr txBox="1"/>
          <p:nvPr/>
        </p:nvSpPr>
        <p:spPr>
          <a:xfrm>
            <a:off x="4800600" y="4663440"/>
            <a:ext cx="3017520" cy="274320"/>
          </a:xfrm>
          <a:prstGeom prst="rect">
            <a:avLst/>
          </a:prstGeom>
          <a:noFill/>
          <a:ln/>
        </p:spPr>
        <p:txBody>
          <a:bodyPr wrap="square" lIns="0" tIns="0" rIns="0" bIns="0" rtlCol="0" anchor="t"/>
          <a:lstStyle/>
          <a:p>
            <a:pPr indent="0" marL="0">
              <a:buNone/>
            </a:pPr>
            <a:r>
              <a:rPr lang="en-US" sz="950" dirty="0">
                <a:solidFill>
                  <a:srgbClr val="6B6B6B"/>
                </a:solidFill>
              </a:rPr>
              <a:t>2025 · 9/9경기 빠름 · Silver 재계산</a:t>
            </a:r>
            <a:endParaRPr lang="en-US" sz="950" dirty="0"/>
          </a:p>
        </p:txBody>
      </p:sp>
      <p:sp>
        <p:nvSpPr>
          <p:cNvPr id="26" name="res-tag-0"/>
          <p:cNvSpPr txBox="1"/>
          <p:nvPr/>
        </p:nvSpPr>
        <p:spPr>
          <a:xfrm>
            <a:off x="4800600" y="5212080"/>
            <a:ext cx="3017520" cy="320040"/>
          </a:xfrm>
          <a:prstGeom prst="rect">
            <a:avLst/>
          </a:prstGeom>
          <a:noFill/>
          <a:ln/>
        </p:spPr>
        <p:txBody>
          <a:bodyPr wrap="square" lIns="0" tIns="0" rIns="0" bIns="0" rtlCol="0" anchor="t"/>
          <a:lstStyle/>
          <a:p>
            <a:pPr indent="0" marL="0">
              <a:buNone/>
            </a:pPr>
            <a:r>
              <a:rPr lang="en-US" sz="1200" b="1" dirty="0">
                <a:solidFill>
                  <a:srgbClr val="E10600"/>
                </a:solidFill>
              </a:rPr>
              <a:t>같은 자로 재도 우위 · 타이어는 확인 과제</a:t>
            </a:r>
            <a:endParaRPr lang="en-US" sz="1200" dirty="0"/>
          </a:p>
        </p:txBody>
      </p:sp>
      <p:sp>
        <p:nvSpPr>
          <p:cNvPr id="27" name="res-1"/>
          <p:cNvSpPr/>
          <p:nvPr/>
        </p:nvSpPr>
        <p:spPr>
          <a:xfrm>
            <a:off x="8156448" y="1554480"/>
            <a:ext cx="3429000" cy="4160520"/>
          </a:xfrm>
          <a:prstGeom prst="roundRect">
            <a:avLst>
              <a:gd name="adj" fmla="val 1600"/>
            </a:avLst>
          </a:prstGeom>
          <a:solidFill>
            <a:srgbClr val="F4F4F4"/>
          </a:solidFill>
          <a:ln w="9525">
            <a:solidFill>
              <a:srgbClr val="F4F4F4"/>
            </a:solidFill>
            <a:prstDash val="solid"/>
          </a:ln>
        </p:spPr>
        <p:txBody>
          <a:bodyPr/>
          <a:p/>
        </p:txBody>
      </p:sp>
      <p:sp>
        <p:nvSpPr>
          <p:cNvPr id="28" name="res-rank-1"/>
          <p:cNvSpPr txBox="1"/>
          <p:nvPr/>
        </p:nvSpPr>
        <p:spPr>
          <a:xfrm>
            <a:off x="8385048" y="1719072"/>
            <a:ext cx="1097280" cy="274320"/>
          </a:xfrm>
          <a:prstGeom prst="rect">
            <a:avLst/>
          </a:prstGeom>
          <a:noFill/>
          <a:ln/>
        </p:spPr>
        <p:txBody>
          <a:bodyPr wrap="square" lIns="0" tIns="0" rIns="0" bIns="0" rtlCol="0" anchor="t"/>
          <a:lstStyle/>
          <a:p>
            <a:pPr indent="0" marL="0">
              <a:buNone/>
            </a:pPr>
            <a:r>
              <a:rPr lang="en-US" sz="1200" b="1" dirty="0">
                <a:solidFill>
                  <a:srgbClr val="E10600"/>
                </a:solidFill>
              </a:rPr>
              <a:t>2순위</a:t>
            </a:r>
            <a:endParaRPr lang="en-US" sz="1200" dirty="0"/>
          </a:p>
        </p:txBody>
      </p:sp>
      <p:sp>
        <p:nvSpPr>
          <p:cNvPr id="29" name="res-name-1"/>
          <p:cNvSpPr txBox="1"/>
          <p:nvPr/>
        </p:nvSpPr>
        <p:spPr>
          <a:xfrm>
            <a:off x="8385048" y="1993392"/>
            <a:ext cx="3017520" cy="411480"/>
          </a:xfrm>
          <a:prstGeom prst="rect">
            <a:avLst/>
          </a:prstGeom>
          <a:noFill/>
          <a:ln/>
        </p:spPr>
        <p:txBody>
          <a:bodyPr wrap="square" lIns="0" tIns="0" rIns="0" bIns="0" rtlCol="0" anchor="t"/>
          <a:lstStyle/>
          <a:p>
            <a:pPr indent="0" marL="0">
              <a:buNone/>
            </a:pPr>
            <a:r>
              <a:rPr lang="en-US" sz="1900" b="1" dirty="0">
                <a:solidFill>
                  <a:srgbClr val="1A1A1A"/>
                </a:solidFill>
              </a:rPr>
              <a:t>George RUSSELL</a:t>
            </a:r>
            <a:endParaRPr lang="en-US" sz="1900" dirty="0"/>
          </a:p>
        </p:txBody>
      </p:sp>
      <p:sp>
        <p:nvSpPr>
          <p:cNvPr id="30" name="res-team-1"/>
          <p:cNvSpPr txBox="1"/>
          <p:nvPr/>
        </p:nvSpPr>
        <p:spPr>
          <a:xfrm>
            <a:off x="8385048" y="2395728"/>
            <a:ext cx="3017520" cy="274320"/>
          </a:xfrm>
          <a:prstGeom prst="rect">
            <a:avLst/>
          </a:prstGeom>
          <a:noFill/>
          <a:ln/>
        </p:spPr>
        <p:txBody>
          <a:bodyPr wrap="square" lIns="0" tIns="0" rIns="0" bIns="0" rtlCol="0" anchor="t"/>
          <a:lstStyle/>
          <a:p>
            <a:pPr indent="0" marL="0">
              <a:buNone/>
            </a:pPr>
            <a:r>
              <a:rPr lang="en-US" sz="1100" dirty="0">
                <a:solidFill>
                  <a:srgbClr val="6B6B6B"/>
                </a:solidFill>
              </a:rPr>
              <a:t>Mercedes</a:t>
            </a:r>
            <a:endParaRPr lang="en-US" sz="1100" dirty="0"/>
          </a:p>
        </p:txBody>
      </p:sp>
      <p:sp>
        <p:nvSpPr>
          <p:cNvPr id="31" name="res-k-1-0"/>
          <p:cNvSpPr txBox="1"/>
          <p:nvPr/>
        </p:nvSpPr>
        <p:spPr>
          <a:xfrm>
            <a:off x="8385048" y="2788920"/>
            <a:ext cx="1554480" cy="274320"/>
          </a:xfrm>
          <a:prstGeom prst="rect">
            <a:avLst/>
          </a:prstGeom>
          <a:noFill/>
          <a:ln/>
        </p:spPr>
        <p:txBody>
          <a:bodyPr wrap="square" lIns="0" tIns="0" rIns="0" bIns="0" rtlCol="0" anchor="t"/>
          <a:lstStyle/>
          <a:p>
            <a:pPr indent="0" marL="0">
              <a:buNone/>
            </a:pPr>
            <a:r>
              <a:rPr lang="en-US" sz="1000" dirty="0">
                <a:solidFill>
                  <a:srgbClr val="6B6B6B"/>
                </a:solidFill>
              </a:rPr>
              <a:t>기준 선수 대비 페이스</a:t>
            </a:r>
            <a:endParaRPr lang="en-US" sz="1000" dirty="0"/>
          </a:p>
        </p:txBody>
      </p:sp>
      <p:sp>
        <p:nvSpPr>
          <p:cNvPr id="32" name="res-v-1-0"/>
          <p:cNvSpPr txBox="1"/>
          <p:nvPr/>
        </p:nvSpPr>
        <p:spPr>
          <a:xfrm>
            <a:off x="9848088" y="2752344"/>
            <a:ext cx="1554480" cy="320040"/>
          </a:xfrm>
          <a:prstGeom prst="rect">
            <a:avLst/>
          </a:prstGeom>
          <a:noFill/>
          <a:ln/>
        </p:spPr>
        <p:txBody>
          <a:bodyPr wrap="square" lIns="0" tIns="0" rIns="0" bIns="0" rtlCol="0" anchor="t"/>
          <a:lstStyle/>
          <a:p>
            <a:pPr algn="r" indent="0" marL="0">
              <a:buNone/>
            </a:pPr>
            <a:r>
              <a:rPr lang="en-US" sz="1400" b="1" dirty="0">
                <a:solidFill>
                  <a:srgbClr val="1A1A1A"/>
                </a:solidFill>
              </a:rPr>
              <a:t>−1.03%p</a:t>
            </a:r>
            <a:endParaRPr lang="en-US" sz="1400" dirty="0"/>
          </a:p>
        </p:txBody>
      </p:sp>
      <p:sp>
        <p:nvSpPr>
          <p:cNvPr id="33" name="res-d-1-0"/>
          <p:cNvSpPr txBox="1"/>
          <p:nvPr/>
        </p:nvSpPr>
        <p:spPr>
          <a:xfrm>
            <a:off x="8385048" y="3090672"/>
            <a:ext cx="3017520" cy="274320"/>
          </a:xfrm>
          <a:prstGeom prst="rect">
            <a:avLst/>
          </a:prstGeom>
          <a:noFill/>
          <a:ln/>
        </p:spPr>
        <p:txBody>
          <a:bodyPr wrap="square" lIns="0" tIns="0" rIns="0" bIns="0" rtlCol="0" anchor="t"/>
          <a:lstStyle/>
          <a:p>
            <a:pPr indent="0" marL="0">
              <a:buNone/>
            </a:pPr>
            <a:r>
              <a:rPr lang="en-US" sz="950" dirty="0">
                <a:solidFill>
                  <a:srgbClr val="6B6B6B"/>
                </a:solidFill>
              </a:rPr>
              <a:t>95% 구간 −1.48 ~ −0.68 · 공통 18경기</a:t>
            </a:r>
            <a:endParaRPr lang="en-US" sz="950" dirty="0"/>
          </a:p>
        </p:txBody>
      </p:sp>
      <p:sp>
        <p:nvSpPr>
          <p:cNvPr id="34" name="res-k-1-1"/>
          <p:cNvSpPr txBox="1"/>
          <p:nvPr/>
        </p:nvSpPr>
        <p:spPr>
          <a:xfrm>
            <a:off x="8385048" y="3575304"/>
            <a:ext cx="1554480" cy="274320"/>
          </a:xfrm>
          <a:prstGeom prst="rect">
            <a:avLst/>
          </a:prstGeom>
          <a:noFill/>
          <a:ln/>
        </p:spPr>
        <p:txBody>
          <a:bodyPr wrap="square" lIns="0" tIns="0" rIns="0" bIns="0" rtlCol="0" anchor="t"/>
          <a:lstStyle/>
          <a:p>
            <a:pPr indent="0" marL="0">
              <a:buNone/>
            </a:pPr>
            <a:r>
              <a:rPr lang="en-US" sz="1000" dirty="0">
                <a:solidFill>
                  <a:srgbClr val="6B6B6B"/>
                </a:solidFill>
              </a:rPr>
              <a:t>자기 팀 동료 대비</a:t>
            </a:r>
            <a:endParaRPr lang="en-US" sz="1000" dirty="0"/>
          </a:p>
        </p:txBody>
      </p:sp>
      <p:sp>
        <p:nvSpPr>
          <p:cNvPr id="35" name="res-v-1-1"/>
          <p:cNvSpPr txBox="1"/>
          <p:nvPr/>
        </p:nvSpPr>
        <p:spPr>
          <a:xfrm>
            <a:off x="9848088" y="3538728"/>
            <a:ext cx="1554480" cy="320040"/>
          </a:xfrm>
          <a:prstGeom prst="rect">
            <a:avLst/>
          </a:prstGeom>
          <a:noFill/>
          <a:ln/>
        </p:spPr>
        <p:txBody>
          <a:bodyPr wrap="square" lIns="0" tIns="0" rIns="0" bIns="0" rtlCol="0" anchor="t"/>
          <a:lstStyle/>
          <a:p>
            <a:pPr algn="r" indent="0" marL="0">
              <a:buNone/>
            </a:pPr>
            <a:r>
              <a:rPr lang="en-US" sz="1400" b="1" dirty="0">
                <a:solidFill>
                  <a:srgbClr val="1A1A1A"/>
                </a:solidFill>
              </a:rPr>
              <a:t>−0.138초/랩</a:t>
            </a:r>
            <a:endParaRPr lang="en-US" sz="1400" dirty="0"/>
          </a:p>
        </p:txBody>
      </p:sp>
      <p:sp>
        <p:nvSpPr>
          <p:cNvPr id="36" name="res-d-1-1"/>
          <p:cNvSpPr txBox="1"/>
          <p:nvPr/>
        </p:nvSpPr>
        <p:spPr>
          <a:xfrm>
            <a:off x="8385048" y="3877056"/>
            <a:ext cx="3017520" cy="274320"/>
          </a:xfrm>
          <a:prstGeom prst="rect">
            <a:avLst/>
          </a:prstGeom>
          <a:noFill/>
          <a:ln/>
        </p:spPr>
        <p:txBody>
          <a:bodyPr wrap="square" lIns="0" tIns="0" rIns="0" bIns="0" rtlCol="0" anchor="t"/>
          <a:lstStyle/>
          <a:p>
            <a:pPr indent="0" marL="0">
              <a:buNone/>
            </a:pPr>
            <a:r>
              <a:rPr lang="en-US" sz="950" dirty="0">
                <a:solidFill>
                  <a:srgbClr val="6B6B6B"/>
                </a:solidFill>
              </a:rPr>
              <a:t>동료는 신인 ANTONELLI · 11/11 조건</a:t>
            </a:r>
            <a:endParaRPr lang="en-US" sz="950" dirty="0"/>
          </a:p>
        </p:txBody>
      </p:sp>
      <p:sp>
        <p:nvSpPr>
          <p:cNvPr id="37" name="res-k-1-2"/>
          <p:cNvSpPr txBox="1"/>
          <p:nvPr/>
        </p:nvSpPr>
        <p:spPr>
          <a:xfrm>
            <a:off x="8385048" y="4361688"/>
            <a:ext cx="1554480" cy="274320"/>
          </a:xfrm>
          <a:prstGeom prst="rect">
            <a:avLst/>
          </a:prstGeom>
          <a:noFill/>
          <a:ln/>
        </p:spPr>
        <p:txBody>
          <a:bodyPr wrap="square" lIns="0" tIns="0" rIns="0" bIns="0" rtlCol="0" anchor="t"/>
          <a:lstStyle/>
          <a:p>
            <a:pPr indent="0" marL="0">
              <a:buNone/>
            </a:pPr>
            <a:r>
              <a:rPr lang="en-US" sz="1000" dirty="0">
                <a:solidFill>
                  <a:srgbClr val="6B6B6B"/>
                </a:solidFill>
              </a:rPr>
              <a:t>같은 자: HAMILTON 대비</a:t>
            </a:r>
            <a:endParaRPr lang="en-US" sz="1000" dirty="0"/>
          </a:p>
        </p:txBody>
      </p:sp>
      <p:sp>
        <p:nvSpPr>
          <p:cNvPr id="38" name="res-v-1-2"/>
          <p:cNvSpPr txBox="1"/>
          <p:nvPr/>
        </p:nvSpPr>
        <p:spPr>
          <a:xfrm>
            <a:off x="9848088" y="4325112"/>
            <a:ext cx="1554480" cy="320040"/>
          </a:xfrm>
          <a:prstGeom prst="rect">
            <a:avLst/>
          </a:prstGeom>
          <a:noFill/>
          <a:ln/>
        </p:spPr>
        <p:txBody>
          <a:bodyPr wrap="square" lIns="0" tIns="0" rIns="0" bIns="0" rtlCol="0" anchor="t"/>
          <a:lstStyle/>
          <a:p>
            <a:pPr algn="r" indent="0" marL="0">
              <a:buNone/>
            </a:pPr>
            <a:r>
              <a:rPr lang="en-US" sz="1400" b="1" dirty="0">
                <a:solidFill>
                  <a:srgbClr val="1A1A1A"/>
                </a:solidFill>
              </a:rPr>
              <a:t>+0.037초/랩</a:t>
            </a:r>
            <a:endParaRPr lang="en-US" sz="1400" dirty="0"/>
          </a:p>
        </p:txBody>
      </p:sp>
      <p:sp>
        <p:nvSpPr>
          <p:cNvPr id="39" name="res-d-1-2"/>
          <p:cNvSpPr txBox="1"/>
          <p:nvPr/>
        </p:nvSpPr>
        <p:spPr>
          <a:xfrm>
            <a:off x="8385048" y="4663440"/>
            <a:ext cx="3017520" cy="274320"/>
          </a:xfrm>
          <a:prstGeom prst="rect">
            <a:avLst/>
          </a:prstGeom>
          <a:noFill/>
          <a:ln/>
        </p:spPr>
        <p:txBody>
          <a:bodyPr wrap="square" lIns="0" tIns="0" rIns="0" bIns="0" rtlCol="0" anchor="t"/>
          <a:lstStyle/>
          <a:p>
            <a:pPr indent="0" marL="0">
              <a:buNone/>
            </a:pPr>
            <a:r>
              <a:rPr lang="en-US" sz="950" dirty="0">
                <a:solidFill>
                  <a:srgbClr val="6B6B6B"/>
                </a:solidFill>
              </a:rPr>
              <a:t>2023~24 · 8/21경기 빠름 · Silver 재계산</a:t>
            </a:r>
            <a:endParaRPr lang="en-US" sz="950" dirty="0"/>
          </a:p>
        </p:txBody>
      </p:sp>
      <p:sp>
        <p:nvSpPr>
          <p:cNvPr id="40" name="res-tag-1"/>
          <p:cNvSpPr txBox="1"/>
          <p:nvPr/>
        </p:nvSpPr>
        <p:spPr>
          <a:xfrm>
            <a:off x="8385048" y="5212080"/>
            <a:ext cx="3017520" cy="320040"/>
          </a:xfrm>
          <a:prstGeom prst="rect">
            <a:avLst/>
          </a:prstGeom>
          <a:noFill/>
          <a:ln/>
        </p:spPr>
        <p:txBody>
          <a:bodyPr wrap="square" lIns="0" tIns="0" rIns="0" bIns="0" rtlCol="0" anchor="t"/>
          <a:lstStyle/>
          <a:p>
            <a:pPr indent="0" marL="0">
              <a:buNone/>
            </a:pPr>
            <a:r>
              <a:rPr lang="en-US" sz="1200" b="1" dirty="0">
                <a:solidFill>
                  <a:srgbClr val="6B6B6B"/>
                </a:solidFill>
              </a:rPr>
              <a:t>동료 우위가 신인 기준 · 같은 자로는 비슷</a:t>
            </a:r>
            <a:endParaRPr lang="en-US" sz="1200" dirty="0"/>
          </a:p>
        </p:txBody>
      </p:sp>
      <p:sp>
        <p:nvSpPr>
          <p:cNvPr id="41"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LECLERC 1순위: 같은 자(HAMILTON)로 재도 앞선다 · RUSSELL은 동료 우위가 신인 기준이라 2순위 · 둘 다 확정이 아닌 우선 검토</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가장 빠른 세 명이 빠진 이유 — 자기 팀 동료를 이기지 못했다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차량이 빠른 팀의 후보는 기존 차량 이점이 섞여 있다 → 자기 팀 동료와 비교해야 선수 개인의 우위로 본다</a:t>
            </a:r>
            <a:endParaRPr lang="en-US" sz="1400" dirty="0"/>
          </a:p>
        </p:txBody>
      </p:sp>
      <p:sp>
        <p:nvSpPr>
          <p:cNvPr id="4" name="out-0"/>
          <p:cNvSpPr/>
          <p:nvPr/>
        </p:nvSpPr>
        <p:spPr>
          <a:xfrm>
            <a:off x="548640" y="1554480"/>
            <a:ext cx="3566160" cy="3063240"/>
          </a:xfrm>
          <a:prstGeom prst="roundRect">
            <a:avLst>
              <a:gd name="adj" fmla="val 1791"/>
            </a:avLst>
          </a:prstGeom>
          <a:solidFill>
            <a:srgbClr val="F4F4F4"/>
          </a:solidFill>
          <a:ln w="9525">
            <a:solidFill>
              <a:srgbClr val="F4F4F4"/>
            </a:solidFill>
            <a:prstDash val="solid"/>
          </a:ln>
        </p:spPr>
        <p:txBody>
          <a:bodyPr/>
          <a:p/>
        </p:txBody>
      </p:sp>
      <p:sp>
        <p:nvSpPr>
          <p:cNvPr id="5" name="out-n-0"/>
          <p:cNvSpPr txBox="1"/>
          <p:nvPr/>
        </p:nvSpPr>
        <p:spPr>
          <a:xfrm>
            <a:off x="777240" y="1737360"/>
            <a:ext cx="3108960" cy="365760"/>
          </a:xfrm>
          <a:prstGeom prst="rect">
            <a:avLst/>
          </a:prstGeom>
          <a:noFill/>
          <a:ln/>
        </p:spPr>
        <p:txBody>
          <a:bodyPr wrap="square" lIns="0" tIns="0" rIns="0" bIns="0" rtlCol="0" anchor="t"/>
          <a:lstStyle/>
          <a:p>
            <a:pPr indent="0" marL="0">
              <a:buNone/>
            </a:pPr>
            <a:r>
              <a:rPr lang="en-US" sz="1700" b="1" dirty="0">
                <a:solidFill>
                  <a:srgbClr val="1A1A1A"/>
                </a:solidFill>
              </a:rPr>
              <a:t>Lando NORRIS</a:t>
            </a:r>
            <a:endParaRPr lang="en-US" sz="1700" dirty="0"/>
          </a:p>
        </p:txBody>
      </p:sp>
      <p:sp>
        <p:nvSpPr>
          <p:cNvPr id="6" name="out-t-0"/>
          <p:cNvSpPr txBox="1"/>
          <p:nvPr/>
        </p:nvSpPr>
        <p:spPr>
          <a:xfrm>
            <a:off x="777240" y="2103120"/>
            <a:ext cx="3108960" cy="274320"/>
          </a:xfrm>
          <a:prstGeom prst="rect">
            <a:avLst/>
          </a:prstGeom>
          <a:noFill/>
          <a:ln/>
        </p:spPr>
        <p:txBody>
          <a:bodyPr wrap="square" lIns="0" tIns="0" rIns="0" bIns="0" rtlCol="0" anchor="t"/>
          <a:lstStyle/>
          <a:p>
            <a:pPr indent="0" marL="0">
              <a:buNone/>
            </a:pPr>
            <a:r>
              <a:rPr lang="en-US" sz="1100" dirty="0">
                <a:solidFill>
                  <a:srgbClr val="6B6B6B"/>
                </a:solidFill>
              </a:rPr>
              <a:t>McLaren</a:t>
            </a:r>
            <a:endParaRPr lang="en-US" sz="1100" dirty="0"/>
          </a:p>
        </p:txBody>
      </p:sp>
      <p:sp>
        <p:nvSpPr>
          <p:cNvPr id="7" name="out-k-0-0"/>
          <p:cNvSpPr txBox="1"/>
          <p:nvPr/>
        </p:nvSpPr>
        <p:spPr>
          <a:xfrm>
            <a:off x="777240" y="2560320"/>
            <a:ext cx="1463040" cy="274320"/>
          </a:xfrm>
          <a:prstGeom prst="rect">
            <a:avLst/>
          </a:prstGeom>
          <a:noFill/>
          <a:ln/>
        </p:spPr>
        <p:txBody>
          <a:bodyPr wrap="square" lIns="0" tIns="0" rIns="0" bIns="0" rtlCol="0" anchor="t"/>
          <a:lstStyle/>
          <a:p>
            <a:pPr indent="0" marL="0">
              <a:buNone/>
            </a:pPr>
            <a:r>
              <a:rPr lang="en-US" sz="1000" dirty="0">
                <a:solidFill>
                  <a:srgbClr val="6B6B6B"/>
                </a:solidFill>
              </a:rPr>
              <a:t>기준 선수 대비 페이스</a:t>
            </a:r>
            <a:endParaRPr lang="en-US" sz="1000" dirty="0"/>
          </a:p>
        </p:txBody>
      </p:sp>
      <p:sp>
        <p:nvSpPr>
          <p:cNvPr id="8" name="out-v-0-0"/>
          <p:cNvSpPr txBox="1"/>
          <p:nvPr/>
        </p:nvSpPr>
        <p:spPr>
          <a:xfrm>
            <a:off x="2103120" y="2532888"/>
            <a:ext cx="1783080" cy="320040"/>
          </a:xfrm>
          <a:prstGeom prst="rect">
            <a:avLst/>
          </a:prstGeom>
          <a:noFill/>
          <a:ln/>
        </p:spPr>
        <p:txBody>
          <a:bodyPr wrap="square" lIns="0" tIns="0" rIns="0" bIns="0" rtlCol="0" anchor="t"/>
          <a:lstStyle/>
          <a:p>
            <a:pPr algn="r" indent="0" marL="0">
              <a:buNone/>
            </a:pPr>
            <a:r>
              <a:rPr lang="en-US" sz="1400" b="1" dirty="0">
                <a:solidFill>
                  <a:srgbClr val="1A1A1A"/>
                </a:solidFill>
              </a:rPr>
              <a:t>−1.47%p</a:t>
            </a:r>
            <a:endParaRPr lang="en-US" sz="1400" dirty="0"/>
          </a:p>
        </p:txBody>
      </p:sp>
      <p:sp>
        <p:nvSpPr>
          <p:cNvPr id="9" name="out-k-0-1"/>
          <p:cNvSpPr txBox="1"/>
          <p:nvPr/>
        </p:nvSpPr>
        <p:spPr>
          <a:xfrm>
            <a:off x="777240" y="3127248"/>
            <a:ext cx="1463040" cy="274320"/>
          </a:xfrm>
          <a:prstGeom prst="rect">
            <a:avLst/>
          </a:prstGeom>
          <a:noFill/>
          <a:ln/>
        </p:spPr>
        <p:txBody>
          <a:bodyPr wrap="square" lIns="0" tIns="0" rIns="0" bIns="0" rtlCol="0" anchor="t"/>
          <a:lstStyle/>
          <a:p>
            <a:pPr indent="0" marL="0">
              <a:buNone/>
            </a:pPr>
            <a:r>
              <a:rPr lang="en-US" sz="1000" dirty="0">
                <a:solidFill>
                  <a:srgbClr val="6B6B6B"/>
                </a:solidFill>
              </a:rPr>
              <a:t>자기 팀 동료 대비</a:t>
            </a:r>
            <a:endParaRPr lang="en-US" sz="1000" dirty="0"/>
          </a:p>
        </p:txBody>
      </p:sp>
      <p:sp>
        <p:nvSpPr>
          <p:cNvPr id="10" name="out-v-0-1"/>
          <p:cNvSpPr txBox="1"/>
          <p:nvPr/>
        </p:nvSpPr>
        <p:spPr>
          <a:xfrm>
            <a:off x="2103120" y="3099816"/>
            <a:ext cx="1783080" cy="320040"/>
          </a:xfrm>
          <a:prstGeom prst="rect">
            <a:avLst/>
          </a:prstGeom>
          <a:noFill/>
          <a:ln/>
        </p:spPr>
        <p:txBody>
          <a:bodyPr wrap="square" lIns="0" tIns="0" rIns="0" bIns="0" rtlCol="0" anchor="t"/>
          <a:lstStyle/>
          <a:p>
            <a:pPr algn="r" indent="0" marL="0">
              <a:buNone/>
            </a:pPr>
            <a:r>
              <a:rPr lang="en-US" sz="1100" b="1" dirty="0">
                <a:solidFill>
                  <a:srgbClr val="1A1A1A"/>
                </a:solidFill>
              </a:rPr>
              <a:t>−0.020초 (−0.20 ~ +0.07)</a:t>
            </a:r>
            <a:endParaRPr lang="en-US" sz="1100" dirty="0"/>
          </a:p>
        </p:txBody>
      </p:sp>
      <p:sp>
        <p:nvSpPr>
          <p:cNvPr id="11" name="out-k-0-2"/>
          <p:cNvSpPr txBox="1"/>
          <p:nvPr/>
        </p:nvSpPr>
        <p:spPr>
          <a:xfrm>
            <a:off x="777240" y="3694176"/>
            <a:ext cx="1463040" cy="274320"/>
          </a:xfrm>
          <a:prstGeom prst="rect">
            <a:avLst/>
          </a:prstGeom>
          <a:noFill/>
          <a:ln/>
        </p:spPr>
        <p:txBody>
          <a:bodyPr wrap="square" lIns="0" tIns="0" rIns="0" bIns="0" rtlCol="0" anchor="t"/>
          <a:lstStyle/>
          <a:p>
            <a:pPr indent="0" marL="0">
              <a:buNone/>
            </a:pPr>
            <a:r>
              <a:rPr lang="en-US" sz="1000" dirty="0">
                <a:solidFill>
                  <a:srgbClr val="6B6B6B"/>
                </a:solidFill>
              </a:rPr>
              <a:t>동료 대비 반복 조건</a:t>
            </a:r>
            <a:endParaRPr lang="en-US" sz="1000" dirty="0"/>
          </a:p>
        </p:txBody>
      </p:sp>
      <p:sp>
        <p:nvSpPr>
          <p:cNvPr id="12" name="out-v-0-2"/>
          <p:cNvSpPr txBox="1"/>
          <p:nvPr/>
        </p:nvSpPr>
        <p:spPr>
          <a:xfrm>
            <a:off x="2103120" y="3666744"/>
            <a:ext cx="1783080" cy="320040"/>
          </a:xfrm>
          <a:prstGeom prst="rect">
            <a:avLst/>
          </a:prstGeom>
          <a:noFill/>
          <a:ln/>
        </p:spPr>
        <p:txBody>
          <a:bodyPr wrap="square" lIns="0" tIns="0" rIns="0" bIns="0" rtlCol="0" anchor="t"/>
          <a:lstStyle/>
          <a:p>
            <a:pPr algn="r" indent="0" marL="0">
              <a:buNone/>
            </a:pPr>
            <a:r>
              <a:rPr lang="en-US" sz="1400" b="1" dirty="0">
                <a:solidFill>
                  <a:srgbClr val="E10600"/>
                </a:solidFill>
              </a:rPr>
              <a:t>8 / 11</a:t>
            </a:r>
            <a:endParaRPr lang="en-US" sz="1400" dirty="0"/>
          </a:p>
        </p:txBody>
      </p:sp>
      <p:sp>
        <p:nvSpPr>
          <p:cNvPr id="13" name="out-why-0"/>
          <p:cNvSpPr txBox="1"/>
          <p:nvPr/>
        </p:nvSpPr>
        <p:spPr>
          <a:xfrm>
            <a:off x="777240" y="4206240"/>
            <a:ext cx="3108960" cy="320040"/>
          </a:xfrm>
          <a:prstGeom prst="rect">
            <a:avLst/>
          </a:prstGeom>
          <a:noFill/>
          <a:ln/>
        </p:spPr>
        <p:txBody>
          <a:bodyPr wrap="square" lIns="0" tIns="0" rIns="0" bIns="0" rtlCol="0" anchor="t"/>
          <a:lstStyle/>
          <a:p>
            <a:pPr indent="0" marL="0">
              <a:buNone/>
            </a:pPr>
            <a:r>
              <a:rPr lang="en-US" sz="1100" dirty="0">
                <a:solidFill>
                  <a:srgbClr val="E10600"/>
                </a:solidFill>
              </a:rPr>
              <a:t>동료 PIASTRI와 차이가 0을 포함</a:t>
            </a:r>
            <a:endParaRPr lang="en-US" sz="1100" dirty="0"/>
          </a:p>
        </p:txBody>
      </p:sp>
      <p:sp>
        <p:nvSpPr>
          <p:cNvPr id="14" name="out-1"/>
          <p:cNvSpPr/>
          <p:nvPr/>
        </p:nvSpPr>
        <p:spPr>
          <a:xfrm>
            <a:off x="4297680" y="1554480"/>
            <a:ext cx="3566160" cy="3063240"/>
          </a:xfrm>
          <a:prstGeom prst="roundRect">
            <a:avLst>
              <a:gd name="adj" fmla="val 1791"/>
            </a:avLst>
          </a:prstGeom>
          <a:solidFill>
            <a:srgbClr val="F4F4F4"/>
          </a:solidFill>
          <a:ln w="9525">
            <a:solidFill>
              <a:srgbClr val="F4F4F4"/>
            </a:solidFill>
            <a:prstDash val="solid"/>
          </a:ln>
        </p:spPr>
        <p:txBody>
          <a:bodyPr/>
          <a:p/>
        </p:txBody>
      </p:sp>
      <p:sp>
        <p:nvSpPr>
          <p:cNvPr id="15" name="out-n-1"/>
          <p:cNvSpPr txBox="1"/>
          <p:nvPr/>
        </p:nvSpPr>
        <p:spPr>
          <a:xfrm>
            <a:off x="4526280" y="1737360"/>
            <a:ext cx="3108960" cy="365760"/>
          </a:xfrm>
          <a:prstGeom prst="rect">
            <a:avLst/>
          </a:prstGeom>
          <a:noFill/>
          <a:ln/>
        </p:spPr>
        <p:txBody>
          <a:bodyPr wrap="square" lIns="0" tIns="0" rIns="0" bIns="0" rtlCol="0" anchor="t"/>
          <a:lstStyle/>
          <a:p>
            <a:pPr indent="0" marL="0">
              <a:buNone/>
            </a:pPr>
            <a:r>
              <a:rPr lang="en-US" sz="1700" b="1" dirty="0">
                <a:solidFill>
                  <a:srgbClr val="1A1A1A"/>
                </a:solidFill>
              </a:rPr>
              <a:t>Max VERSTAPPEN</a:t>
            </a:r>
            <a:endParaRPr lang="en-US" sz="1700" dirty="0"/>
          </a:p>
        </p:txBody>
      </p:sp>
      <p:sp>
        <p:nvSpPr>
          <p:cNvPr id="16" name="out-t-1"/>
          <p:cNvSpPr txBox="1"/>
          <p:nvPr/>
        </p:nvSpPr>
        <p:spPr>
          <a:xfrm>
            <a:off x="4526280" y="2103120"/>
            <a:ext cx="3108960" cy="274320"/>
          </a:xfrm>
          <a:prstGeom prst="rect">
            <a:avLst/>
          </a:prstGeom>
          <a:noFill/>
          <a:ln/>
        </p:spPr>
        <p:txBody>
          <a:bodyPr wrap="square" lIns="0" tIns="0" rIns="0" bIns="0" rtlCol="0" anchor="t"/>
          <a:lstStyle/>
          <a:p>
            <a:pPr indent="0" marL="0">
              <a:buNone/>
            </a:pPr>
            <a:r>
              <a:rPr lang="en-US" sz="1100" dirty="0">
                <a:solidFill>
                  <a:srgbClr val="6B6B6B"/>
                </a:solidFill>
              </a:rPr>
              <a:t>Red Bull Racing</a:t>
            </a:r>
            <a:endParaRPr lang="en-US" sz="1100" dirty="0"/>
          </a:p>
        </p:txBody>
      </p:sp>
      <p:sp>
        <p:nvSpPr>
          <p:cNvPr id="17" name="out-k-1-0"/>
          <p:cNvSpPr txBox="1"/>
          <p:nvPr/>
        </p:nvSpPr>
        <p:spPr>
          <a:xfrm>
            <a:off x="4526280" y="2560320"/>
            <a:ext cx="1463040" cy="274320"/>
          </a:xfrm>
          <a:prstGeom prst="rect">
            <a:avLst/>
          </a:prstGeom>
          <a:noFill/>
          <a:ln/>
        </p:spPr>
        <p:txBody>
          <a:bodyPr wrap="square" lIns="0" tIns="0" rIns="0" bIns="0" rtlCol="0" anchor="t"/>
          <a:lstStyle/>
          <a:p>
            <a:pPr indent="0" marL="0">
              <a:buNone/>
            </a:pPr>
            <a:r>
              <a:rPr lang="en-US" sz="1000" dirty="0">
                <a:solidFill>
                  <a:srgbClr val="6B6B6B"/>
                </a:solidFill>
              </a:rPr>
              <a:t>기준 선수 대비 페이스</a:t>
            </a:r>
            <a:endParaRPr lang="en-US" sz="1000" dirty="0"/>
          </a:p>
        </p:txBody>
      </p:sp>
      <p:sp>
        <p:nvSpPr>
          <p:cNvPr id="18" name="out-v-1-0"/>
          <p:cNvSpPr txBox="1"/>
          <p:nvPr/>
        </p:nvSpPr>
        <p:spPr>
          <a:xfrm>
            <a:off x="5852160" y="2532888"/>
            <a:ext cx="1783080" cy="320040"/>
          </a:xfrm>
          <a:prstGeom prst="rect">
            <a:avLst/>
          </a:prstGeom>
          <a:noFill/>
          <a:ln/>
        </p:spPr>
        <p:txBody>
          <a:bodyPr wrap="square" lIns="0" tIns="0" rIns="0" bIns="0" rtlCol="0" anchor="t"/>
          <a:lstStyle/>
          <a:p>
            <a:pPr algn="r" indent="0" marL="0">
              <a:buNone/>
            </a:pPr>
            <a:r>
              <a:rPr lang="en-US" sz="1400" b="1" dirty="0">
                <a:solidFill>
                  <a:srgbClr val="1A1A1A"/>
                </a:solidFill>
              </a:rPr>
              <a:t>−1.48%p</a:t>
            </a:r>
            <a:endParaRPr lang="en-US" sz="1400" dirty="0"/>
          </a:p>
        </p:txBody>
      </p:sp>
      <p:sp>
        <p:nvSpPr>
          <p:cNvPr id="19" name="out-k-1-1"/>
          <p:cNvSpPr txBox="1"/>
          <p:nvPr/>
        </p:nvSpPr>
        <p:spPr>
          <a:xfrm>
            <a:off x="4526280" y="3127248"/>
            <a:ext cx="1463040" cy="274320"/>
          </a:xfrm>
          <a:prstGeom prst="rect">
            <a:avLst/>
          </a:prstGeom>
          <a:noFill/>
          <a:ln/>
        </p:spPr>
        <p:txBody>
          <a:bodyPr wrap="square" lIns="0" tIns="0" rIns="0" bIns="0" rtlCol="0" anchor="t"/>
          <a:lstStyle/>
          <a:p>
            <a:pPr indent="0" marL="0">
              <a:buNone/>
            </a:pPr>
            <a:r>
              <a:rPr lang="en-US" sz="1000" dirty="0">
                <a:solidFill>
                  <a:srgbClr val="6B6B6B"/>
                </a:solidFill>
              </a:rPr>
              <a:t>자기 팀 동료 대비</a:t>
            </a:r>
            <a:endParaRPr lang="en-US" sz="1000" dirty="0"/>
          </a:p>
        </p:txBody>
      </p:sp>
      <p:sp>
        <p:nvSpPr>
          <p:cNvPr id="20" name="out-v-1-1"/>
          <p:cNvSpPr txBox="1"/>
          <p:nvPr/>
        </p:nvSpPr>
        <p:spPr>
          <a:xfrm>
            <a:off x="5852160" y="3099816"/>
            <a:ext cx="1783080" cy="320040"/>
          </a:xfrm>
          <a:prstGeom prst="rect">
            <a:avLst/>
          </a:prstGeom>
          <a:noFill/>
          <a:ln/>
        </p:spPr>
        <p:txBody>
          <a:bodyPr wrap="square" lIns="0" tIns="0" rIns="0" bIns="0" rtlCol="0" anchor="t"/>
          <a:lstStyle/>
          <a:p>
            <a:pPr algn="r" indent="0" marL="0">
              <a:buNone/>
            </a:pPr>
            <a:r>
              <a:rPr lang="en-US" sz="1100" b="1" dirty="0">
                <a:solidFill>
                  <a:srgbClr val="1A1A1A"/>
                </a:solidFill>
              </a:rPr>
              <a:t>−0.842초 (−1.39 ~ −0.50)</a:t>
            </a:r>
            <a:endParaRPr lang="en-US" sz="1100" dirty="0"/>
          </a:p>
        </p:txBody>
      </p:sp>
      <p:sp>
        <p:nvSpPr>
          <p:cNvPr id="21" name="out-k-1-2"/>
          <p:cNvSpPr txBox="1"/>
          <p:nvPr/>
        </p:nvSpPr>
        <p:spPr>
          <a:xfrm>
            <a:off x="4526280" y="3694176"/>
            <a:ext cx="1463040" cy="274320"/>
          </a:xfrm>
          <a:prstGeom prst="rect">
            <a:avLst/>
          </a:prstGeom>
          <a:noFill/>
          <a:ln/>
        </p:spPr>
        <p:txBody>
          <a:bodyPr wrap="square" lIns="0" tIns="0" rIns="0" bIns="0" rtlCol="0" anchor="t"/>
          <a:lstStyle/>
          <a:p>
            <a:pPr indent="0" marL="0">
              <a:buNone/>
            </a:pPr>
            <a:r>
              <a:rPr lang="en-US" sz="1000" dirty="0">
                <a:solidFill>
                  <a:srgbClr val="6B6B6B"/>
                </a:solidFill>
              </a:rPr>
              <a:t>동료 대비 반복 조건</a:t>
            </a:r>
            <a:endParaRPr lang="en-US" sz="1000" dirty="0"/>
          </a:p>
        </p:txBody>
      </p:sp>
      <p:sp>
        <p:nvSpPr>
          <p:cNvPr id="22" name="out-v-1-2"/>
          <p:cNvSpPr txBox="1"/>
          <p:nvPr/>
        </p:nvSpPr>
        <p:spPr>
          <a:xfrm>
            <a:off x="5852160" y="3666744"/>
            <a:ext cx="1783080" cy="320040"/>
          </a:xfrm>
          <a:prstGeom prst="rect">
            <a:avLst/>
          </a:prstGeom>
          <a:noFill/>
          <a:ln/>
        </p:spPr>
        <p:txBody>
          <a:bodyPr wrap="square" lIns="0" tIns="0" rIns="0" bIns="0" rtlCol="0" anchor="t"/>
          <a:lstStyle/>
          <a:p>
            <a:pPr algn="r" indent="0" marL="0">
              <a:buNone/>
            </a:pPr>
            <a:r>
              <a:rPr lang="en-US" sz="1400" b="1" dirty="0">
                <a:solidFill>
                  <a:srgbClr val="E10600"/>
                </a:solidFill>
              </a:rPr>
              <a:t>10 / 11</a:t>
            </a:r>
            <a:endParaRPr lang="en-US" sz="1400" dirty="0"/>
          </a:p>
        </p:txBody>
      </p:sp>
      <p:sp>
        <p:nvSpPr>
          <p:cNvPr id="23" name="out-why-1"/>
          <p:cNvSpPr txBox="1"/>
          <p:nvPr/>
        </p:nvSpPr>
        <p:spPr>
          <a:xfrm>
            <a:off x="4526280" y="4206240"/>
            <a:ext cx="3108960" cy="320040"/>
          </a:xfrm>
          <a:prstGeom prst="rect">
            <a:avLst/>
          </a:prstGeom>
          <a:noFill/>
          <a:ln/>
        </p:spPr>
        <p:txBody>
          <a:bodyPr wrap="square" lIns="0" tIns="0" rIns="0" bIns="0" rtlCol="0" anchor="t"/>
          <a:lstStyle/>
          <a:p>
            <a:pPr indent="0" marL="0">
              <a:buNone/>
            </a:pPr>
            <a:r>
              <a:rPr lang="en-US" sz="1100" dirty="0">
                <a:solidFill>
                  <a:srgbClr val="E10600"/>
                </a:solidFill>
              </a:rPr>
              <a:t>동료 대비 1개 조건에서 반복 안 됨</a:t>
            </a:r>
            <a:endParaRPr lang="en-US" sz="1100" dirty="0"/>
          </a:p>
        </p:txBody>
      </p:sp>
      <p:sp>
        <p:nvSpPr>
          <p:cNvPr id="24" name="out-2"/>
          <p:cNvSpPr/>
          <p:nvPr/>
        </p:nvSpPr>
        <p:spPr>
          <a:xfrm>
            <a:off x="8046720" y="1554480"/>
            <a:ext cx="3566160" cy="3063240"/>
          </a:xfrm>
          <a:prstGeom prst="roundRect">
            <a:avLst>
              <a:gd name="adj" fmla="val 1791"/>
            </a:avLst>
          </a:prstGeom>
          <a:solidFill>
            <a:srgbClr val="F4F4F4"/>
          </a:solidFill>
          <a:ln w="9525">
            <a:solidFill>
              <a:srgbClr val="F4F4F4"/>
            </a:solidFill>
            <a:prstDash val="solid"/>
          </a:ln>
        </p:spPr>
        <p:txBody>
          <a:bodyPr/>
          <a:p/>
        </p:txBody>
      </p:sp>
      <p:sp>
        <p:nvSpPr>
          <p:cNvPr id="25" name="out-n-2"/>
          <p:cNvSpPr txBox="1"/>
          <p:nvPr/>
        </p:nvSpPr>
        <p:spPr>
          <a:xfrm>
            <a:off x="8275320" y="1737360"/>
            <a:ext cx="3108960" cy="365760"/>
          </a:xfrm>
          <a:prstGeom prst="rect">
            <a:avLst/>
          </a:prstGeom>
          <a:noFill/>
          <a:ln/>
        </p:spPr>
        <p:txBody>
          <a:bodyPr wrap="square" lIns="0" tIns="0" rIns="0" bIns="0" rtlCol="0" anchor="t"/>
          <a:lstStyle/>
          <a:p>
            <a:pPr indent="0" marL="0">
              <a:buNone/>
            </a:pPr>
            <a:r>
              <a:rPr lang="en-US" sz="1700" b="1" dirty="0">
                <a:solidFill>
                  <a:srgbClr val="1A1A1A"/>
                </a:solidFill>
              </a:rPr>
              <a:t>Oscar PIASTRI</a:t>
            </a:r>
            <a:endParaRPr lang="en-US" sz="1700" dirty="0"/>
          </a:p>
        </p:txBody>
      </p:sp>
      <p:sp>
        <p:nvSpPr>
          <p:cNvPr id="26" name="out-t-2"/>
          <p:cNvSpPr txBox="1"/>
          <p:nvPr/>
        </p:nvSpPr>
        <p:spPr>
          <a:xfrm>
            <a:off x="8275320" y="2103120"/>
            <a:ext cx="3108960" cy="274320"/>
          </a:xfrm>
          <a:prstGeom prst="rect">
            <a:avLst/>
          </a:prstGeom>
          <a:noFill/>
          <a:ln/>
        </p:spPr>
        <p:txBody>
          <a:bodyPr wrap="square" lIns="0" tIns="0" rIns="0" bIns="0" rtlCol="0" anchor="t"/>
          <a:lstStyle/>
          <a:p>
            <a:pPr indent="0" marL="0">
              <a:buNone/>
            </a:pPr>
            <a:r>
              <a:rPr lang="en-US" sz="1100" dirty="0">
                <a:solidFill>
                  <a:srgbClr val="6B6B6B"/>
                </a:solidFill>
              </a:rPr>
              <a:t>McLaren</a:t>
            </a:r>
            <a:endParaRPr lang="en-US" sz="1100" dirty="0"/>
          </a:p>
        </p:txBody>
      </p:sp>
      <p:sp>
        <p:nvSpPr>
          <p:cNvPr id="27" name="out-k-2-0"/>
          <p:cNvSpPr txBox="1"/>
          <p:nvPr/>
        </p:nvSpPr>
        <p:spPr>
          <a:xfrm>
            <a:off x="8275320" y="2560320"/>
            <a:ext cx="1463040" cy="274320"/>
          </a:xfrm>
          <a:prstGeom prst="rect">
            <a:avLst/>
          </a:prstGeom>
          <a:noFill/>
          <a:ln/>
        </p:spPr>
        <p:txBody>
          <a:bodyPr wrap="square" lIns="0" tIns="0" rIns="0" bIns="0" rtlCol="0" anchor="t"/>
          <a:lstStyle/>
          <a:p>
            <a:pPr indent="0" marL="0">
              <a:buNone/>
            </a:pPr>
            <a:r>
              <a:rPr lang="en-US" sz="1000" dirty="0">
                <a:solidFill>
                  <a:srgbClr val="6B6B6B"/>
                </a:solidFill>
              </a:rPr>
              <a:t>기준 선수 대비 페이스</a:t>
            </a:r>
            <a:endParaRPr lang="en-US" sz="1000" dirty="0"/>
          </a:p>
        </p:txBody>
      </p:sp>
      <p:sp>
        <p:nvSpPr>
          <p:cNvPr id="28" name="out-v-2-0"/>
          <p:cNvSpPr txBox="1"/>
          <p:nvPr/>
        </p:nvSpPr>
        <p:spPr>
          <a:xfrm>
            <a:off x="9601200" y="2532888"/>
            <a:ext cx="1783080" cy="320040"/>
          </a:xfrm>
          <a:prstGeom prst="rect">
            <a:avLst/>
          </a:prstGeom>
          <a:noFill/>
          <a:ln/>
        </p:spPr>
        <p:txBody>
          <a:bodyPr wrap="square" lIns="0" tIns="0" rIns="0" bIns="0" rtlCol="0" anchor="t"/>
          <a:lstStyle/>
          <a:p>
            <a:pPr algn="r" indent="0" marL="0">
              <a:buNone/>
            </a:pPr>
            <a:r>
              <a:rPr lang="en-US" sz="1400" b="1" dirty="0">
                <a:solidFill>
                  <a:srgbClr val="1A1A1A"/>
                </a:solidFill>
              </a:rPr>
              <a:t>−1.49%p</a:t>
            </a:r>
            <a:endParaRPr lang="en-US" sz="1400" dirty="0"/>
          </a:p>
        </p:txBody>
      </p:sp>
      <p:sp>
        <p:nvSpPr>
          <p:cNvPr id="29" name="out-k-2-1"/>
          <p:cNvSpPr txBox="1"/>
          <p:nvPr/>
        </p:nvSpPr>
        <p:spPr>
          <a:xfrm>
            <a:off x="8275320" y="3127248"/>
            <a:ext cx="1463040" cy="274320"/>
          </a:xfrm>
          <a:prstGeom prst="rect">
            <a:avLst/>
          </a:prstGeom>
          <a:noFill/>
          <a:ln/>
        </p:spPr>
        <p:txBody>
          <a:bodyPr wrap="square" lIns="0" tIns="0" rIns="0" bIns="0" rtlCol="0" anchor="t"/>
          <a:lstStyle/>
          <a:p>
            <a:pPr indent="0" marL="0">
              <a:buNone/>
            </a:pPr>
            <a:r>
              <a:rPr lang="en-US" sz="1000" dirty="0">
                <a:solidFill>
                  <a:srgbClr val="6B6B6B"/>
                </a:solidFill>
              </a:rPr>
              <a:t>자기 팀 동료 대비</a:t>
            </a:r>
            <a:endParaRPr lang="en-US" sz="1000" dirty="0"/>
          </a:p>
        </p:txBody>
      </p:sp>
      <p:sp>
        <p:nvSpPr>
          <p:cNvPr id="30" name="out-v-2-1"/>
          <p:cNvSpPr txBox="1"/>
          <p:nvPr/>
        </p:nvSpPr>
        <p:spPr>
          <a:xfrm>
            <a:off x="9601200" y="3099816"/>
            <a:ext cx="1783080" cy="320040"/>
          </a:xfrm>
          <a:prstGeom prst="rect">
            <a:avLst/>
          </a:prstGeom>
          <a:noFill/>
          <a:ln/>
        </p:spPr>
        <p:txBody>
          <a:bodyPr wrap="square" lIns="0" tIns="0" rIns="0" bIns="0" rtlCol="0" anchor="t"/>
          <a:lstStyle/>
          <a:p>
            <a:pPr algn="r" indent="0" marL="0">
              <a:buNone/>
            </a:pPr>
            <a:r>
              <a:rPr lang="en-US" sz="1100" b="1" dirty="0">
                <a:solidFill>
                  <a:srgbClr val="1A1A1A"/>
                </a:solidFill>
              </a:rPr>
              <a:t>+0.020초 (−0.07 ~ +0.20)</a:t>
            </a:r>
            <a:endParaRPr lang="en-US" sz="1100" dirty="0"/>
          </a:p>
        </p:txBody>
      </p:sp>
      <p:sp>
        <p:nvSpPr>
          <p:cNvPr id="31" name="out-k-2-2"/>
          <p:cNvSpPr txBox="1"/>
          <p:nvPr/>
        </p:nvSpPr>
        <p:spPr>
          <a:xfrm>
            <a:off x="8275320" y="3694176"/>
            <a:ext cx="1463040" cy="274320"/>
          </a:xfrm>
          <a:prstGeom prst="rect">
            <a:avLst/>
          </a:prstGeom>
          <a:noFill/>
          <a:ln/>
        </p:spPr>
        <p:txBody>
          <a:bodyPr wrap="square" lIns="0" tIns="0" rIns="0" bIns="0" rtlCol="0" anchor="t"/>
          <a:lstStyle/>
          <a:p>
            <a:pPr indent="0" marL="0">
              <a:buNone/>
            </a:pPr>
            <a:r>
              <a:rPr lang="en-US" sz="1000" dirty="0">
                <a:solidFill>
                  <a:srgbClr val="6B6B6B"/>
                </a:solidFill>
              </a:rPr>
              <a:t>동료 대비 반복 조건</a:t>
            </a:r>
            <a:endParaRPr lang="en-US" sz="1000" dirty="0"/>
          </a:p>
        </p:txBody>
      </p:sp>
      <p:sp>
        <p:nvSpPr>
          <p:cNvPr id="32" name="out-v-2-2"/>
          <p:cNvSpPr txBox="1"/>
          <p:nvPr/>
        </p:nvSpPr>
        <p:spPr>
          <a:xfrm>
            <a:off x="9601200" y="3666744"/>
            <a:ext cx="1783080" cy="320040"/>
          </a:xfrm>
          <a:prstGeom prst="rect">
            <a:avLst/>
          </a:prstGeom>
          <a:noFill/>
          <a:ln/>
        </p:spPr>
        <p:txBody>
          <a:bodyPr wrap="square" lIns="0" tIns="0" rIns="0" bIns="0" rtlCol="0" anchor="t"/>
          <a:lstStyle/>
          <a:p>
            <a:pPr algn="r" indent="0" marL="0">
              <a:buNone/>
            </a:pPr>
            <a:r>
              <a:rPr lang="en-US" sz="1400" b="1" dirty="0">
                <a:solidFill>
                  <a:srgbClr val="E10600"/>
                </a:solidFill>
              </a:rPr>
              <a:t>3 / 11</a:t>
            </a:r>
            <a:endParaRPr lang="en-US" sz="1400" dirty="0"/>
          </a:p>
        </p:txBody>
      </p:sp>
      <p:sp>
        <p:nvSpPr>
          <p:cNvPr id="33" name="out-why-2"/>
          <p:cNvSpPr txBox="1"/>
          <p:nvPr/>
        </p:nvSpPr>
        <p:spPr>
          <a:xfrm>
            <a:off x="8275320" y="4206240"/>
            <a:ext cx="3108960" cy="320040"/>
          </a:xfrm>
          <a:prstGeom prst="rect">
            <a:avLst/>
          </a:prstGeom>
          <a:noFill/>
          <a:ln/>
        </p:spPr>
        <p:txBody>
          <a:bodyPr wrap="square" lIns="0" tIns="0" rIns="0" bIns="0" rtlCol="0" anchor="t"/>
          <a:lstStyle/>
          <a:p>
            <a:pPr indent="0" marL="0">
              <a:buNone/>
            </a:pPr>
            <a:r>
              <a:rPr lang="en-US" sz="1100" dirty="0">
                <a:solidFill>
                  <a:srgbClr val="E10600"/>
                </a:solidFill>
              </a:rPr>
              <a:t>동료 NORRIS보다 빠르다는 근거 없음</a:t>
            </a:r>
            <a:endParaRPr lang="en-US" sz="1100" dirty="0"/>
          </a:p>
        </p:txBody>
      </p:sp>
      <p:sp>
        <p:nvSpPr>
          <p:cNvPr id="34" name="out-note"/>
          <p:cNvSpPr/>
          <p:nvPr/>
        </p:nvSpPr>
        <p:spPr>
          <a:xfrm>
            <a:off x="548640" y="4846320"/>
            <a:ext cx="11109960" cy="868680"/>
          </a:xfrm>
          <a:prstGeom prst="roundRect">
            <a:avLst>
              <a:gd name="adj" fmla="val 6316"/>
            </a:avLst>
          </a:prstGeom>
          <a:solidFill>
            <a:srgbClr val="FDECEC"/>
          </a:solidFill>
          <a:ln w="9525">
            <a:solidFill>
              <a:srgbClr val="FDECEC"/>
            </a:solidFill>
            <a:prstDash val="solid"/>
          </a:ln>
        </p:spPr>
        <p:txBody>
          <a:bodyPr/>
          <a:p/>
        </p:txBody>
      </p:sp>
      <p:sp>
        <p:nvSpPr>
          <p:cNvPr id="35" name="out-note-t"/>
          <p:cNvSpPr txBox="1"/>
          <p:nvPr/>
        </p:nvSpPr>
        <p:spPr>
          <a:xfrm>
            <a:off x="822960" y="4983480"/>
            <a:ext cx="10607040" cy="640080"/>
          </a:xfrm>
          <a:prstGeom prst="rect">
            <a:avLst/>
          </a:prstGeom>
          <a:noFill/>
          <a:ln/>
        </p:spPr>
        <p:txBody>
          <a:bodyPr wrap="square" lIns="0" tIns="0" rIns="0" bIns="0" rtlCol="0" anchor="t"/>
          <a:lstStyle/>
          <a:p>
            <a:pPr indent="0" marL="0">
              <a:buNone/>
            </a:pPr>
            <a:r>
              <a:rPr lang="en-US" sz="1200" b="1" dirty="0">
                <a:solidFill>
                  <a:srgbClr val="E10600"/>
                </a:solidFill>
              </a:rPr>
              <a:t>판정: 페이스 우위만 반복  </a:t>
            </a:r>
            <a:pPr indent="0" marL="0">
              <a:buNone/>
            </a:pPr>
            <a:r>
              <a:rPr lang="en-US" sz="1200" dirty="0">
                <a:solidFill>
                  <a:srgbClr val="1A1A1A"/>
                </a:solidFill>
              </a:rPr>
              <a:t>세 명 모두 기준 선수보다 1.5%p 가까이 빠르고 정제 조건 11/11에서도 빨랐다. 그러나 이 차이가 차량 덕분인지 선수 덕분인지는 자기 팀 동료를 꾸준히 이겨야 가를 수 있다.</a:t>
            </a:r>
            <a:endParaRPr lang="en-US" sz="1200" dirty="0"/>
          </a:p>
        </p:txBody>
      </p:sp>
      <p:sp>
        <p:nvSpPr>
          <p:cNvPr id="36"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빠르다는 사실만으로는 영입 근거가 되지 않는다 — 결론이 LECLERC·RUSSELL이 된 이유다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1,824개 조합 중 끝까지 통과한 것은 88건(4.8%)</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2023~2026 모든 시즌의 팀 자리 × 타 팀 후보를 같은 기준으로 판정</a:t>
            </a:r>
            <a:endParaRPr lang="en-US" sz="1400" dirty="0"/>
          </a:p>
        </p:txBody>
      </p:sp>
      <p:graphicFrame>
        <p:nvGraphicFramePr>
          <p:cNvPr id="4" name="chart-verdict" descr=""/>
          <p:cNvGraphicFramePr/>
          <p:nvPr/>
        </p:nvGraphicFramePr>
        <p:xfrm>
          <a:off x="548640" y="14630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5" name="verdict-rules"/>
          <p:cNvSpPr/>
          <p:nvPr/>
        </p:nvSpPr>
        <p:spPr>
          <a:xfrm>
            <a:off x="8183880" y="1554480"/>
            <a:ext cx="3474720" cy="4160520"/>
          </a:xfrm>
          <a:prstGeom prst="roundRect">
            <a:avLst>
              <a:gd name="adj" fmla="val 1579"/>
            </a:avLst>
          </a:prstGeom>
          <a:solidFill>
            <a:srgbClr val="FDECEC"/>
          </a:solidFill>
          <a:ln w="9525">
            <a:solidFill>
              <a:srgbClr val="FDECEC"/>
            </a:solidFill>
            <a:prstDash val="solid"/>
          </a:ln>
        </p:spPr>
      </p:sp>
      <p:sp>
        <p:nvSpPr>
          <p:cNvPr id="6" name="verdict-h"/>
          <p:cNvSpPr txBox="1"/>
          <p:nvPr/>
        </p:nvSpPr>
        <p:spPr>
          <a:xfrm>
            <a:off x="8412480" y="1737360"/>
            <a:ext cx="3108960" cy="320040"/>
          </a:xfrm>
          <a:prstGeom prst="rect">
            <a:avLst/>
          </a:prstGeom>
          <a:noFill/>
          <a:ln/>
        </p:spPr>
        <p:txBody>
          <a:bodyPr wrap="square" lIns="0" tIns="0" rIns="0" bIns="0" rtlCol="0" anchor="t"/>
          <a:lstStyle/>
          <a:p>
            <a:pPr indent="0" marL="0">
              <a:buNone/>
            </a:pPr>
            <a:r>
              <a:rPr lang="en-US" sz="1300" b="1" dirty="0">
                <a:solidFill>
                  <a:srgbClr val="E10600"/>
                </a:solidFill>
              </a:rPr>
              <a:t>'동료 비교까지 반복' 조건</a:t>
            </a:r>
            <a:endParaRPr lang="en-US" sz="1300" dirty="0"/>
          </a:p>
        </p:txBody>
      </p:sp>
      <p:sp>
        <p:nvSpPr>
          <p:cNvPr id="7" name="verdict-list"/>
          <p:cNvSpPr txBox="1"/>
          <p:nvPr/>
        </p:nvSpPr>
        <p:spPr>
          <a:xfrm>
            <a:off x="8412480" y="2194560"/>
            <a:ext cx="306324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rPr>
              <a:t>정제 조건 11가지 모두에서 빠름</a:t>
            </a:r>
            <a:endParaRPr lang="en-US" sz="1200" dirty="0"/>
          </a:p>
          <a:p>
            <a:pPr marL="342900" indent="-342900">
              <a:spcAft>
                <a:spcPts val="600"/>
              </a:spcAft>
              <a:buSzPct val="100000"/>
              <a:buChar char="•"/>
            </a:pPr>
            <a:r>
              <a:rPr lang="en-US" sz="1200" dirty="0">
                <a:solidFill>
                  <a:srgbClr val="1A1A1A"/>
                </a:solidFill>
              </a:rPr>
              <a:t>95% 재표집 구간이 0보다 아래</a:t>
            </a:r>
            <a:endParaRPr lang="en-US" sz="1200" dirty="0"/>
          </a:p>
          <a:p>
            <a:pPr marL="342900" indent="-342900">
              <a:spcAft>
                <a:spcPts val="600"/>
              </a:spcAft>
              <a:buSzPct val="100000"/>
              <a:buChar char="•"/>
            </a:pPr>
            <a:r>
              <a:rPr lang="en-US" sz="1200" dirty="0">
                <a:solidFill>
                  <a:srgbClr val="1A1A1A"/>
                </a:solidFill>
              </a:rPr>
              <a:t>시즌 전·후반 각각 4경기 이상에서 빠름</a:t>
            </a:r>
            <a:endParaRPr lang="en-US" sz="1200" dirty="0"/>
          </a:p>
          <a:p>
            <a:pPr marL="342900" indent="-342900">
              <a:spcAft>
                <a:spcPts val="600"/>
              </a:spcAft>
              <a:buSzPct val="100000"/>
              <a:buChar char="•"/>
            </a:pPr>
            <a:r>
              <a:rPr lang="en-US" sz="1200" dirty="0">
                <a:solidFill>
                  <a:srgbClr val="1A1A1A"/>
                </a:solidFill>
              </a:rPr>
              <a:t>후보 자신의 동료 비교에서도 반복</a:t>
            </a:r>
            <a:endParaRPr lang="en-US" sz="1200" dirty="0"/>
          </a:p>
        </p:txBody>
      </p:sp>
      <p:sp>
        <p:nvSpPr>
          <p:cNvPr id="8" name="verdict-note"/>
          <p:cNvSpPr txBox="1"/>
          <p:nvPr/>
        </p:nvSpPr>
        <p:spPr>
          <a:xfrm>
            <a:off x="8412480" y="4572000"/>
            <a:ext cx="3063240" cy="914400"/>
          </a:xfrm>
          <a:prstGeom prst="rect">
            <a:avLst/>
          </a:prstGeom>
          <a:noFill/>
          <a:ln/>
        </p:spPr>
        <p:txBody>
          <a:bodyPr wrap="square" lIns="0" tIns="0" rIns="0" bIns="0" rtlCol="0" anchor="t"/>
          <a:lstStyle/>
          <a:p>
            <a:pPr indent="0" marL="0">
              <a:buNone/>
            </a:pPr>
            <a:r>
              <a:rPr lang="en-US" sz="1100" dirty="0">
                <a:solidFill>
                  <a:srgbClr val="6B6B6B"/>
                </a:solidFill>
              </a:rPr>
              <a:t>빠르기만 한 경우(349건)는 차량 효과를 배제하지 못해 한 단계 아래로 둔다</a:t>
            </a:r>
            <a:endParaRPr lang="en-US" sz="1100" dirty="0"/>
          </a:p>
        </p:txBody>
      </p:sp>
      <p:sp>
        <p:nvSpPr>
          <p:cNvPr id="9"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쉽게 '추천'하지 않는 보수적 기준 — 페이스 우위 하나로 영입 결론을 내리지 않는다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교체해도 우승은 어렵다 — 현실적 목표는 팀 6위</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시뮬레이션 · 가정 기반 추정 (Gold 관측 근거와 구분) · 2025 본경기 24경기 4,000번 재현 · 차량·선수 효과는 2023~2025로 분리</a:t>
            </a:r>
            <a:endParaRPr lang="en-US" sz="1400" dirty="0"/>
          </a:p>
        </p:txBody>
      </p:sp>
      <p:graphicFrame>
        <p:nvGraphicFramePr>
          <p:cNvPr id="18" name="cand-table"/>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691640"/>
                <a:gridCol w="1463040"/>
                <a:gridCol w="1371600"/>
                <a:gridCol w="1371600"/>
                <a:gridCol w="1280160"/>
                <a:gridCol w="1325880"/>
                <a:gridCol w="1051560"/>
                <a:gridCol w="1554480"/>
              </a:tblGrid>
              <a:tr h="512064">
                <a:tc>
                  <a:txBody>
                    <a:bodyPr/>
                    <a:lstStyle/>
                    <a:p>
                      <a:pPr algn="l" indent="0" marL="0">
                        <a:buNone/>
                      </a:pPr>
                      <a:r>
                        <a:rPr lang="en-US" sz="1100" b="1" dirty="0">
                          <a:solidFill>
                            <a:srgbClr val="FFFFFF"/>
                          </a:solidFill>
                        </a:rPr>
                        <a:t>시나리오</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원래 팀</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시즌 1승 이상</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포디움 1회 이상</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팀 기대 포인트</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팀 기대 순위</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팀 6위 이내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rPr>
                        <a:t>2025만 추정 · 6위 이내</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1A1A1A"/>
                    </a:solidFill>
                  </a:tcPr>
                </a:tc>
              </a:tr>
              <a:tr h="512064">
                <a:tc>
                  <a:txBody>
                    <a:bodyPr/>
                    <a:lstStyle/>
                    <a:p>
                      <a:pPr algn="l" indent="0" marL="0">
                        <a:buNone/>
                      </a:pPr>
                      <a:r>
                        <a:rPr lang="en-US" sz="1100" b="1" dirty="0">
                          <a:solidFill>
                            <a:srgbClr val="1A1A1A"/>
                          </a:solidFill>
                        </a:rPr>
                        <a:t>실제 라인업 (STROLL)</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Aston Martin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0.1%</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8.6%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64.6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8.1</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9.3%</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c>
                  <a:txBody>
                    <a:bodyPr/>
                    <a:lstStyle/>
                    <a:p>
                      <a:pPr algn="l" indent="0" marL="0">
                        <a:buNone/>
                      </a:pPr>
                      <a:r>
                        <a:rPr lang="en-US" sz="1100" dirty="0">
                          <a:solidFill>
                            <a:srgbClr val="1A1A1A"/>
                          </a:solidFill>
                        </a:rPr>
                        <a:t>7.7%</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DECEC"/>
                    </a:solidFill>
                  </a:tcPr>
                </a:tc>
              </a:tr>
              <a:tr h="512064">
                <a:tc>
                  <a:txBody>
                    <a:bodyPr/>
                    <a:lstStyle/>
                    <a:p>
                      <a:pPr algn="l" indent="0" marL="0">
                        <a:buNone/>
                      </a:pPr>
                      <a:r>
                        <a:rPr lang="en-US" sz="1100" b="1" dirty="0">
                          <a:solidFill>
                            <a:srgbClr val="1A1A1A"/>
                          </a:solidFill>
                        </a:rPr>
                        <a:t>↔ Max VERSTAPPEN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Red Bull Racing</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63.8%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99.9%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235.0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4.0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1A1A1A"/>
                          </a:solidFill>
                        </a:rPr>
                        <a:t>100%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b="1" dirty="0">
                          <a:solidFill>
                            <a:srgbClr val="E10600"/>
                          </a:solidFill>
                        </a:rPr>
                        <a:t>100%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512064">
                <a:tc>
                  <a:txBody>
                    <a:bodyPr/>
                    <a:lstStyle/>
                    <a:p>
                      <a:pPr algn="l" indent="0" marL="0">
                        <a:buNone/>
                      </a:pPr>
                      <a:r>
                        <a:rPr lang="en-US" sz="1100" b="1" dirty="0">
                          <a:solidFill>
                            <a:srgbClr val="1A1A1A"/>
                          </a:solidFill>
                        </a:rPr>
                        <a:t>↔ Charles LECLERC</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Ferrari</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3.1%</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49.4%</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107.6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6.3</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1A1A"/>
                          </a:solidFill>
                        </a:rPr>
                        <a:t>65.0%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E10600"/>
                          </a:solidFill>
                        </a:rPr>
                        <a:t>47.8%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1A1A1A"/>
                          </a:solidFill>
                        </a:rPr>
                        <a:t>↔ Carlos SAINZ</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Williams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1.4%</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32.5%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90.8</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6.5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53.9%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17.6%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r h="512064">
                <a:tc>
                  <a:txBody>
                    <a:bodyPr/>
                    <a:lstStyle/>
                    <a:p>
                      <a:pPr algn="l" indent="0" marL="0">
                        <a:buNone/>
                      </a:pPr>
                      <a:r>
                        <a:rPr lang="en-US" sz="1100" b="1" dirty="0">
                          <a:solidFill>
                            <a:srgbClr val="1A1A1A"/>
                          </a:solidFill>
                        </a:rPr>
                        <a:t>↔ Lando NORRIS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McLaren</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1.6%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31.6%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88.2</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6.9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rPr>
                        <a:t>39.6%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B6B6B"/>
                          </a:solidFill>
                        </a:rPr>
                        <a:t>17.4%</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1A1A1A"/>
                          </a:solidFill>
                        </a:rPr>
                        <a:t>↔ George RUSSELL</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Mercedes</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0.3%</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11.6%</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69.0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7.9</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1A1A1A"/>
                          </a:solidFill>
                        </a:rPr>
                        <a:t>11.5%</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c>
                  <a:txBody>
                    <a:bodyPr/>
                    <a:lstStyle/>
                    <a:p>
                      <a:pPr algn="l" indent="0" marL="0">
                        <a:buNone/>
                      </a:pPr>
                      <a:r>
                        <a:rPr lang="en-US" sz="1100" dirty="0">
                          <a:solidFill>
                            <a:srgbClr val="6B6B6B"/>
                          </a:solidFill>
                        </a:rPr>
                        <a:t>36.0%</a:t>
                      </a:r>
                      <a:endParaRPr lang="en-US" sz="1100" dirty="0"/>
                    </a:p>
                  </a:txBody>
                  <a:tcPr marL="91440" marR="91440" marT="45720" marB="45720" anchor="ctr">
                    <a:lnL w="9525" cap="flat" cmpd="sng" algn="ctr">
                      <a:solidFill>
                        <a:srgbClr val="E5E5E5"/>
                      </a:solidFill>
                      <a:prstDash val="solid"/>
                      <a:round/>
                      <a:headEnd type="none" w="med" len="med"/>
                      <a:tailEnd type="none" w="med" len="med"/>
                    </a:lnL>
                    <a:lnR w="9525" cap="flat" cmpd="sng" algn="ctr">
                      <a:solidFill>
                        <a:srgbClr val="E5E5E5"/>
                      </a:solidFill>
                      <a:prstDash val="solid"/>
                      <a:round/>
                      <a:headEnd type="none" w="med" len="med"/>
                      <a:tailEnd type="none" w="med" len="med"/>
                    </a:lnR>
                    <a:lnT w="9525" cap="flat" cmpd="sng" algn="ctr">
                      <a:solidFill>
                        <a:srgbClr val="E5E5E5"/>
                      </a:solidFill>
                      <a:prstDash val="solid"/>
                      <a:round/>
                      <a:headEnd type="none" w="med" len="med"/>
                      <a:tailEnd type="none" w="med" len="med"/>
                    </a:lnT>
                    <a:lnB w="9525" cap="flat" cmpd="sng" algn="ctr">
                      <a:solidFill>
                        <a:srgbClr val="E5E5E5"/>
                      </a:solidFill>
                      <a:prstDash val="solid"/>
                      <a:round/>
                      <a:headEnd type="none" w="med" len="med"/>
                      <a:tailEnd type="none" w="med" len="med"/>
                    </a:lnB>
                    <a:solidFill>
                      <a:srgbClr val="F4F4F4"/>
                    </a:solidFill>
                  </a:tcPr>
                </a:tc>
              </a:tr>
            </a:tbl>
          </a:graphicData>
        </a:graphic>
      </p:graphicFrame>
      <p:sp>
        <p:nvSpPr>
          <p:cNvPr id="5" name="cand-note"/>
          <p:cNvSpPr txBox="1"/>
          <p:nvPr/>
        </p:nvSpPr>
        <p:spPr>
          <a:xfrm>
            <a:off x="548640" y="5257800"/>
            <a:ext cx="11109960" cy="365760"/>
          </a:xfrm>
          <a:prstGeom prst="rect">
            <a:avLst/>
          </a:prstGeom>
          <a:noFill/>
          <a:ln/>
        </p:spPr>
        <p:txBody>
          <a:bodyPr wrap="square" lIns="0" tIns="0" rIns="0" bIns="0" rtlCol="0" anchor="t"/>
          <a:lstStyle/>
          <a:p>
            <a:pPr indent="0" marL="0">
              <a:buNone/>
            </a:pPr>
            <a:r>
              <a:rPr lang="en-US" sz="1100" dirty="0">
                <a:solidFill>
                  <a:srgbClr val="6B6B6B"/>
                </a:solidFill>
              </a:rPr>
              <a:t>모델 적중: 실제 라인업 재현 시 팀별 포인트 상관 0.99(평균 오차 20.6점), 경기 우승자 적중 37.5% → 시즌 합계로 읽는다 · STROLL과 후보는 같은 팀에서 뛴 적이 없어 비교에 "연결 그룹 평균이 같다"는 가정이 들어 있다 · VERSTAPPEN은 과대평가 가능</a:t>
            </a:r>
            <a:endParaRPr lang="en-US" sz="1100" dirty="0"/>
          </a:p>
        </p:txBody>
      </p:sp>
      <p:sp>
        <p:nvSpPr>
          <p:cNvPr id="6"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LECLERC는 어느 추정 기간에서도 팀 6위 확률을 크게 올린다 — RUSSELL의 이득은 기간에 따라 흔들려 차량 영향일 수 있다</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이 판단을 한 화면에서, 다른 팀·시즌으로 반복할 수 있다</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Decision Board · 조건 선택: 시즌 · 팀 · 비교 기준 선수 · 후보 정렬 기준 · 후보 소속 범위</a:t>
            </a:r>
            <a:endParaRPr lang="en-US" sz="1400" dirty="0"/>
          </a:p>
        </p:txBody>
      </p:sp>
      <p:pic>
        <p:nvPicPr>
          <p:cNvPr id="4" name="board-shot" descr="C:\Users\User\AppData\Local\Temp\claude\D--workspace-mlo-02-p2-team1\80d8d160-e2ae-4a70-aa59-51235a8aa30d\scratchpad\deck\board_top.png">    </p:cNvPr>
          <p:cNvPicPr>
            <a:picLocks noChangeAspect="1"/>
          </p:cNvPicPr>
          <p:nvPr/>
        </p:nvPicPr>
        <p:blipFill>
          <a:blip r:embed="rId1"/>
          <a:stretch>
            <a:fillRect/>
          </a:stretch>
        </p:blipFill>
        <p:spPr>
          <a:xfrm>
            <a:off x="548640" y="1508760"/>
            <a:ext cx="6949440" cy="4343400"/>
          </a:xfrm>
          <a:prstGeom prst="rect">
            <a:avLst/>
          </a:prstGeom>
        </p:spPr>
      </p:pic>
      <p:sp>
        <p:nvSpPr>
          <p:cNvPr id="5" name="bsec-0"/>
          <p:cNvSpPr/>
          <p:nvPr/>
        </p:nvSpPr>
        <p:spPr>
          <a:xfrm>
            <a:off x="7863840" y="1554480"/>
            <a:ext cx="438912" cy="438912"/>
          </a:xfrm>
          <a:prstGeom prst="ellipse">
            <a:avLst/>
          </a:prstGeom>
          <a:solidFill>
            <a:srgbClr val="1A1A1A"/>
          </a:solidFill>
          <a:ln w="12700">
            <a:solidFill>
              <a:srgbClr val="1A1A1A"/>
            </a:solidFill>
            <a:prstDash val="solid"/>
          </a:ln>
        </p:spPr>
      </p:sp>
      <p:sp>
        <p:nvSpPr>
          <p:cNvPr id="6" name="bsec-0-t"/>
          <p:cNvSpPr txBox="1"/>
          <p:nvPr/>
        </p:nvSpPr>
        <p:spPr>
          <a:xfrm>
            <a:off x="7863840" y="15544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7" name="bsec-t-0"/>
          <p:cNvSpPr txBox="1"/>
          <p:nvPr/>
        </p:nvSpPr>
        <p:spPr>
          <a:xfrm>
            <a:off x="8458200" y="1618488"/>
            <a:ext cx="3200400" cy="365760"/>
          </a:xfrm>
          <a:prstGeom prst="rect">
            <a:avLst/>
          </a:prstGeom>
          <a:noFill/>
          <a:ln/>
        </p:spPr>
        <p:txBody>
          <a:bodyPr wrap="square" lIns="0" tIns="0" rIns="0" bIns="0" rtlCol="0" anchor="t"/>
          <a:lstStyle/>
          <a:p>
            <a:pPr indent="0" marL="0">
              <a:buNone/>
            </a:pPr>
            <a:r>
              <a:rPr lang="en-US" sz="1400" dirty="0">
                <a:solidFill>
                  <a:srgbClr val="1A1A1A"/>
                </a:solidFill>
              </a:rPr>
              <a:t>처음 생각 vs 데이터 결과</a:t>
            </a:r>
            <a:endParaRPr lang="en-US" sz="1400" dirty="0"/>
          </a:p>
        </p:txBody>
      </p:sp>
      <p:sp>
        <p:nvSpPr>
          <p:cNvPr id="8" name="bsec-1"/>
          <p:cNvSpPr/>
          <p:nvPr/>
        </p:nvSpPr>
        <p:spPr>
          <a:xfrm>
            <a:off x="7863840" y="2240280"/>
            <a:ext cx="438912" cy="438912"/>
          </a:xfrm>
          <a:prstGeom prst="ellipse">
            <a:avLst/>
          </a:prstGeom>
          <a:solidFill>
            <a:srgbClr val="1A1A1A"/>
          </a:solidFill>
          <a:ln w="12700">
            <a:solidFill>
              <a:srgbClr val="1A1A1A"/>
            </a:solidFill>
            <a:prstDash val="solid"/>
          </a:ln>
        </p:spPr>
      </p:sp>
      <p:sp>
        <p:nvSpPr>
          <p:cNvPr id="9" name="bsec-1-t"/>
          <p:cNvSpPr txBox="1"/>
          <p:nvPr/>
        </p:nvSpPr>
        <p:spPr>
          <a:xfrm>
            <a:off x="7863840" y="22402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10" name="bsec-t-1"/>
          <p:cNvSpPr txBox="1"/>
          <p:nvPr/>
        </p:nvSpPr>
        <p:spPr>
          <a:xfrm>
            <a:off x="8458200" y="2304288"/>
            <a:ext cx="3200400" cy="365760"/>
          </a:xfrm>
          <a:prstGeom prst="rect">
            <a:avLst/>
          </a:prstGeom>
          <a:noFill/>
          <a:ln/>
        </p:spPr>
        <p:txBody>
          <a:bodyPr wrap="square" lIns="0" tIns="0" rIns="0" bIns="0" rtlCol="0" anchor="t"/>
          <a:lstStyle/>
          <a:p>
            <a:pPr indent="0" marL="0">
              <a:buNone/>
            </a:pPr>
            <a:r>
              <a:rPr lang="en-US" sz="1400" dirty="0">
                <a:solidFill>
                  <a:srgbClr val="1A1A1A"/>
                </a:solidFill>
              </a:rPr>
              <a:t>포인트와 경제적 의미</a:t>
            </a:r>
            <a:endParaRPr lang="en-US" sz="1400" dirty="0"/>
          </a:p>
        </p:txBody>
      </p:sp>
      <p:sp>
        <p:nvSpPr>
          <p:cNvPr id="11" name="bsec-2"/>
          <p:cNvSpPr/>
          <p:nvPr/>
        </p:nvSpPr>
        <p:spPr>
          <a:xfrm>
            <a:off x="7863840" y="2926080"/>
            <a:ext cx="438912" cy="438912"/>
          </a:xfrm>
          <a:prstGeom prst="ellipse">
            <a:avLst/>
          </a:prstGeom>
          <a:solidFill>
            <a:srgbClr val="E10600"/>
          </a:solidFill>
          <a:ln w="12700">
            <a:solidFill>
              <a:srgbClr val="E10600"/>
            </a:solidFill>
            <a:prstDash val="solid"/>
          </a:ln>
        </p:spPr>
      </p:sp>
      <p:sp>
        <p:nvSpPr>
          <p:cNvPr id="12" name="bsec-2-t"/>
          <p:cNvSpPr txBox="1"/>
          <p:nvPr/>
        </p:nvSpPr>
        <p:spPr>
          <a:xfrm>
            <a:off x="7863840" y="29260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13" name="bsec-t-2"/>
          <p:cNvSpPr txBox="1"/>
          <p:nvPr/>
        </p:nvSpPr>
        <p:spPr>
          <a:xfrm>
            <a:off x="8458200" y="2990088"/>
            <a:ext cx="3200400" cy="365760"/>
          </a:xfrm>
          <a:prstGeom prst="rect">
            <a:avLst/>
          </a:prstGeom>
          <a:noFill/>
          <a:ln/>
        </p:spPr>
        <p:txBody>
          <a:bodyPr wrap="square" lIns="0" tIns="0" rIns="0" bIns="0" rtlCol="0" anchor="t"/>
          <a:lstStyle/>
          <a:p>
            <a:pPr indent="0" marL="0">
              <a:buNone/>
            </a:pPr>
            <a:r>
              <a:rPr lang="en-US" sz="1400" b="1" dirty="0">
                <a:solidFill>
                  <a:srgbClr val="1A1A1A"/>
                </a:solidFill>
              </a:rPr>
              <a:t>영입 후보 비교</a:t>
            </a:r>
            <a:endParaRPr lang="en-US" sz="1400" dirty="0"/>
          </a:p>
        </p:txBody>
      </p:sp>
      <p:sp>
        <p:nvSpPr>
          <p:cNvPr id="14" name="bsec-3"/>
          <p:cNvSpPr/>
          <p:nvPr/>
        </p:nvSpPr>
        <p:spPr>
          <a:xfrm>
            <a:off x="7863840" y="3611880"/>
            <a:ext cx="438912" cy="438912"/>
          </a:xfrm>
          <a:prstGeom prst="ellipse">
            <a:avLst/>
          </a:prstGeom>
          <a:solidFill>
            <a:srgbClr val="1A1A1A"/>
          </a:solidFill>
          <a:ln w="12700">
            <a:solidFill>
              <a:srgbClr val="1A1A1A"/>
            </a:solidFill>
            <a:prstDash val="solid"/>
          </a:ln>
        </p:spPr>
      </p:sp>
      <p:sp>
        <p:nvSpPr>
          <p:cNvPr id="15" name="bsec-3-t"/>
          <p:cNvSpPr txBox="1"/>
          <p:nvPr/>
        </p:nvSpPr>
        <p:spPr>
          <a:xfrm>
            <a:off x="7863840" y="36118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16" name="bsec-t-3"/>
          <p:cNvSpPr txBox="1"/>
          <p:nvPr/>
        </p:nvSpPr>
        <p:spPr>
          <a:xfrm>
            <a:off x="8458200" y="3675888"/>
            <a:ext cx="3200400" cy="365760"/>
          </a:xfrm>
          <a:prstGeom prst="rect">
            <a:avLst/>
          </a:prstGeom>
          <a:noFill/>
          <a:ln/>
        </p:spPr>
        <p:txBody>
          <a:bodyPr wrap="square" lIns="0" tIns="0" rIns="0" bIns="0" rtlCol="0" anchor="t"/>
          <a:lstStyle/>
          <a:p>
            <a:pPr indent="0" marL="0">
              <a:buNone/>
            </a:pPr>
            <a:r>
              <a:rPr lang="en-US" sz="1400" dirty="0">
                <a:solidFill>
                  <a:srgbClr val="1A1A1A"/>
                </a:solidFill>
              </a:rPr>
              <a:t>후보 검토 근거</a:t>
            </a:r>
            <a:endParaRPr lang="en-US" sz="1400" dirty="0"/>
          </a:p>
        </p:txBody>
      </p:sp>
      <p:sp>
        <p:nvSpPr>
          <p:cNvPr id="17" name="bsec-4"/>
          <p:cNvSpPr/>
          <p:nvPr/>
        </p:nvSpPr>
        <p:spPr>
          <a:xfrm>
            <a:off x="7863840" y="4297680"/>
            <a:ext cx="438912" cy="438912"/>
          </a:xfrm>
          <a:prstGeom prst="ellipse">
            <a:avLst/>
          </a:prstGeom>
          <a:solidFill>
            <a:srgbClr val="1A1A1A"/>
          </a:solidFill>
          <a:ln w="12700">
            <a:solidFill>
              <a:srgbClr val="1A1A1A"/>
            </a:solidFill>
            <a:prstDash val="solid"/>
          </a:ln>
        </p:spPr>
      </p:sp>
      <p:sp>
        <p:nvSpPr>
          <p:cNvPr id="18" name="bsec-4-t"/>
          <p:cNvSpPr txBox="1"/>
          <p:nvPr/>
        </p:nvSpPr>
        <p:spPr>
          <a:xfrm>
            <a:off x="7863840" y="42976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19" name="bsec-t-4"/>
          <p:cNvSpPr txBox="1"/>
          <p:nvPr/>
        </p:nvSpPr>
        <p:spPr>
          <a:xfrm>
            <a:off x="8458200" y="4361688"/>
            <a:ext cx="3200400" cy="365760"/>
          </a:xfrm>
          <a:prstGeom prst="rect">
            <a:avLst/>
          </a:prstGeom>
          <a:noFill/>
          <a:ln/>
        </p:spPr>
        <p:txBody>
          <a:bodyPr wrap="square" lIns="0" tIns="0" rIns="0" bIns="0" rtlCol="0" anchor="t"/>
          <a:lstStyle/>
          <a:p>
            <a:pPr indent="0" marL="0">
              <a:buNone/>
            </a:pPr>
            <a:r>
              <a:rPr lang="en-US" sz="1400" dirty="0">
                <a:solidFill>
                  <a:srgbClr val="1A1A1A"/>
                </a:solidFill>
              </a:rPr>
              <a:t>팀별 피트 운영 비교</a:t>
            </a:r>
            <a:endParaRPr lang="en-US" sz="1400" dirty="0"/>
          </a:p>
        </p:txBody>
      </p:sp>
      <p:sp>
        <p:nvSpPr>
          <p:cNvPr id="20" name="bsec-5"/>
          <p:cNvSpPr/>
          <p:nvPr/>
        </p:nvSpPr>
        <p:spPr>
          <a:xfrm>
            <a:off x="7863840" y="4983480"/>
            <a:ext cx="438912" cy="438912"/>
          </a:xfrm>
          <a:prstGeom prst="ellipse">
            <a:avLst/>
          </a:prstGeom>
          <a:solidFill>
            <a:srgbClr val="1A1A1A"/>
          </a:solidFill>
          <a:ln w="12700">
            <a:solidFill>
              <a:srgbClr val="1A1A1A"/>
            </a:solidFill>
            <a:prstDash val="solid"/>
          </a:ln>
        </p:spPr>
      </p:sp>
      <p:sp>
        <p:nvSpPr>
          <p:cNvPr id="21" name="bsec-5-t"/>
          <p:cNvSpPr txBox="1"/>
          <p:nvPr/>
        </p:nvSpPr>
        <p:spPr>
          <a:xfrm>
            <a:off x="7863840" y="498348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rPr>
              <a:t>06</a:t>
            </a:r>
            <a:endParaRPr lang="en-US" sz="1200" dirty="0"/>
          </a:p>
        </p:txBody>
      </p:sp>
      <p:sp>
        <p:nvSpPr>
          <p:cNvPr id="22" name="bsec-t-5"/>
          <p:cNvSpPr txBox="1"/>
          <p:nvPr/>
        </p:nvSpPr>
        <p:spPr>
          <a:xfrm>
            <a:off x="8458200" y="5047488"/>
            <a:ext cx="3200400" cy="365760"/>
          </a:xfrm>
          <a:prstGeom prst="rect">
            <a:avLst/>
          </a:prstGeom>
          <a:noFill/>
          <a:ln/>
        </p:spPr>
        <p:txBody>
          <a:bodyPr wrap="square" lIns="0" tIns="0" rIns="0" bIns="0" rtlCol="0" anchor="t"/>
          <a:lstStyle/>
          <a:p>
            <a:pPr indent="0" marL="0">
              <a:buNone/>
            </a:pPr>
            <a:r>
              <a:rPr lang="en-US" sz="1400" dirty="0">
                <a:solidFill>
                  <a:srgbClr val="1A1A1A"/>
                </a:solidFill>
              </a:rPr>
              <a:t>데이터와 한계</a:t>
            </a:r>
            <a:endParaRPr lang="en-US" sz="1400" dirty="0"/>
          </a:p>
        </p:txBody>
      </p:sp>
      <p:sp>
        <p:nvSpPr>
          <p:cNvPr id="23" name="board-src"/>
          <p:cNvSpPr txBox="1"/>
          <p:nvPr/>
        </p:nvSpPr>
        <p:spPr>
          <a:xfrm>
            <a:off x="7863840" y="5486400"/>
            <a:ext cx="3794760" cy="320040"/>
          </a:xfrm>
          <a:prstGeom prst="rect">
            <a:avLst/>
          </a:prstGeom>
          <a:noFill/>
          <a:ln/>
        </p:spPr>
        <p:txBody>
          <a:bodyPr wrap="square" lIns="0" tIns="0" rIns="0" bIns="0" rtlCol="0" anchor="t"/>
          <a:lstStyle/>
          <a:p>
            <a:pPr indent="0" marL="0">
              <a:buNone/>
            </a:pPr>
            <a:r>
              <a:rPr lang="en-US" sz="1100" dirty="0">
                <a:solidFill>
                  <a:srgbClr val="6B6B6B"/>
                </a:solidFill>
              </a:rPr>
              <a:t>화면 데이터는 MySQL Gold 테이블(gold_board_*)에서 읽는다</a:t>
            </a:r>
            <a:endParaRPr lang="en-US" sz="11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21</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4"/>
          <p:cNvSpPr/>
          <p:nvPr/>
        </p:nvSpPr>
        <p:spPr>
          <a:xfrm>
            <a:off x="731520" y="2514600"/>
            <a:ext cx="822960" cy="822960"/>
          </a:xfrm>
          <a:prstGeom prst="ellipse">
            <a:avLst/>
          </a:prstGeom>
          <a:solidFill>
            <a:srgbClr val="E10600"/>
          </a:solidFill>
          <a:ln w="12700">
            <a:solidFill>
              <a:srgbClr val="E10600"/>
            </a:solidFill>
            <a:prstDash val="solid"/>
          </a:ln>
        </p:spPr>
      </p:sp>
      <p:sp>
        <p:nvSpPr>
          <p:cNvPr id="3" name="sec-4-t"/>
          <p:cNvSpPr txBox="1"/>
          <p:nvPr/>
        </p:nvSpPr>
        <p:spPr>
          <a:xfrm>
            <a:off x="731520" y="25146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rPr>
              <a:t>4</a:t>
            </a:r>
            <a:endParaRPr lang="en-US" sz="3000" dirty="0"/>
          </a:p>
        </p:txBody>
      </p:sp>
      <p:sp>
        <p:nvSpPr>
          <p:cNvPr id="4" name="Text 0"/>
          <p:cNvSpPr/>
          <p:nvPr>
            <p:ph idx="100" type="title" hasCustomPrompt="1"/>
          </p:nvPr>
        </p:nvSpPr>
        <p:spPr>
          <a:xfrm>
            <a:off x="2011680" y="2514600"/>
            <a:ext cx="9144000" cy="822960"/>
          </a:xfrm>
          <a:prstGeom prst="rect">
            <a:avLst/>
          </a:prstGeom>
          <a:noFill/>
          <a:ln/>
        </p:spPr>
        <p:txBody>
          <a:bodyPr wrap="square" lIns="0" tIns="0" rIns="0" bIns="0" rtlCol="0" anchor="ctr"/>
          <a:lstStyle/>
          <a:p>
            <a:pPr algn="l" indent="0" marL="0">
              <a:buNone/>
            </a:pPr>
            <a:r>
              <a:rPr lang="en-US" sz="3600" b="1" dirty="0">
                <a:solidFill>
                  <a:srgbClr val="FFFFFF"/>
                </a:solidFill>
              </a:rPr>
              <a:t>무엇을 할 것인가</a:t>
            </a:r>
            <a:endParaRPr lang="en-US" sz="3600" dirty="0"/>
          </a:p>
        </p:txBody>
      </p:sp>
      <p:sp>
        <p:nvSpPr>
          <p:cNvPr id="5" name="Text 0"/>
          <p:cNvSpPr/>
          <p:nvPr>
            <p:ph idx="101" type="body" hasCustomPrompt="1"/>
          </p:nvPr>
        </p:nvSpPr>
        <p:spPr>
          <a:xfrm>
            <a:off x="2011680" y="3474720"/>
            <a:ext cx="8778240" cy="1097280"/>
          </a:xfrm>
          <a:prstGeom prst="rect">
            <a:avLst/>
          </a:prstGeom>
          <a:noFill/>
          <a:ln/>
        </p:spPr>
        <p:txBody>
          <a:bodyPr wrap="square" lIns="0" tIns="0" rIns="0" bIns="0" rtlCol="0" anchor="t"/>
          <a:lstStyle/>
          <a:p>
            <a:pPr indent="0" marL="0">
              <a:buNone/>
            </a:pPr>
            <a:r>
              <a:rPr lang="en-US" sz="1600" dirty="0">
                <a:solidFill>
                  <a:srgbClr val="D0D0D0"/>
                </a:solidFill>
              </a:rPr>
              <a:t>앞의 숫자에서 바로 나오는 다섯 가지입니다. 각 항목에 근거 슬라이드를 적었습니다. 숫자가 받쳐 주지 않는 제안은 넣지 않았습니다.</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다섯 가지 제안</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오른쪽 숫자가 제안의 크기, 그 아래가 근거 슬라이드</a:t>
            </a:r>
            <a:endParaRPr lang="en-US" sz="1400" dirty="0"/>
          </a:p>
        </p:txBody>
      </p:sp>
      <p:sp>
        <p:nvSpPr>
          <p:cNvPr id="4" name="prop-0"/>
          <p:cNvSpPr/>
          <p:nvPr/>
        </p:nvSpPr>
        <p:spPr>
          <a:xfrm>
            <a:off x="548640" y="1463040"/>
            <a:ext cx="11109960" cy="777240"/>
          </a:xfrm>
          <a:prstGeom prst="roundRect">
            <a:avLst>
              <a:gd name="adj" fmla="val 7059"/>
            </a:avLst>
          </a:prstGeom>
          <a:solidFill>
            <a:srgbClr val="F4F4F4"/>
          </a:solidFill>
          <a:ln w="9525">
            <a:solidFill>
              <a:srgbClr val="F4F4F4"/>
            </a:solidFill>
            <a:prstDash val="solid"/>
          </a:ln>
        </p:spPr>
        <p:txBody>
          <a:bodyPr/>
          <a:p/>
        </p:txBody>
      </p:sp>
      <p:sp>
        <p:nvSpPr>
          <p:cNvPr id="5" name="prop-n-0"/>
          <p:cNvSpPr/>
          <p:nvPr/>
        </p:nvSpPr>
        <p:spPr>
          <a:xfrm>
            <a:off x="731520" y="1645920"/>
            <a:ext cx="411480" cy="411480"/>
          </a:xfrm>
          <a:prstGeom prst="ellipse">
            <a:avLst/>
          </a:prstGeom>
          <a:solidFill>
            <a:srgbClr val="E10600"/>
          </a:solidFill>
          <a:ln w="12700">
            <a:solidFill>
              <a:srgbClr val="E10600"/>
            </a:solidFill>
            <a:prstDash val="solid"/>
          </a:ln>
        </p:spPr>
        <p:txBody>
          <a:bodyPr/>
          <a:p/>
        </p:txBody>
      </p:sp>
      <p:sp>
        <p:nvSpPr>
          <p:cNvPr id="6" name="prop-n-0-t"/>
          <p:cNvSpPr txBox="1"/>
          <p:nvPr/>
        </p:nvSpPr>
        <p:spPr>
          <a:xfrm>
            <a:off x="731520" y="1645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prop-h-0"/>
          <p:cNvSpPr txBox="1"/>
          <p:nvPr/>
        </p:nvSpPr>
        <p:spPr>
          <a:xfrm>
            <a:off x="1325880" y="1536192"/>
            <a:ext cx="8138160" cy="320040"/>
          </a:xfrm>
          <a:prstGeom prst="rect">
            <a:avLst/>
          </a:prstGeom>
          <a:noFill/>
          <a:ln/>
        </p:spPr>
        <p:txBody>
          <a:bodyPr wrap="square" lIns="0" tIns="0" rIns="0" bIns="0" rtlCol="0" anchor="t"/>
          <a:lstStyle/>
          <a:p>
            <a:pPr indent="0" marL="0">
              <a:buNone/>
            </a:pPr>
            <a:r>
              <a:rPr lang="en-US" sz="1400" b="1" dirty="0">
                <a:solidFill>
                  <a:srgbClr val="1A1A1A"/>
                </a:solidFill>
              </a:rPr>
              <a:t>LECLERC·RUSSELL을 우선 검토 후보로 올린다 (1순위 LECLERC)</a:t>
            </a:r>
            <a:endParaRPr lang="en-US" sz="1400" dirty="0"/>
          </a:p>
        </p:txBody>
      </p:sp>
      <p:sp>
        <p:nvSpPr>
          <p:cNvPr id="8" name="prop-d-0"/>
          <p:cNvSpPr txBox="1"/>
          <p:nvPr/>
        </p:nvSpPr>
        <p:spPr>
          <a:xfrm>
            <a:off x="1325880" y="1847088"/>
            <a:ext cx="8138160" cy="384048"/>
          </a:xfrm>
          <a:prstGeom prst="rect">
            <a:avLst/>
          </a:prstGeom>
          <a:noFill/>
          <a:ln/>
        </p:spPr>
        <p:txBody>
          <a:bodyPr wrap="square" lIns="0" tIns="0" rIns="0" bIns="0" rtlCol="0" anchor="t"/>
          <a:lstStyle/>
          <a:p>
            <a:pPr indent="0" marL="0">
              <a:buNone/>
            </a:pPr>
            <a:r>
              <a:rPr lang="en-US" sz="1050" dirty="0">
                <a:solidFill>
                  <a:srgbClr val="6B6B6B"/>
                </a:solidFill>
              </a:rPr>
              <a:t>후보 19명 중 같은 경기·같은 차 비교를 11/11 조건에서 모두 통과한 두 명이다. 같은 동료 HAMILTON 기준으로 재면 LECLERC가 앞선다. 계약 가능성은 별도로 확인한다.</a:t>
            </a:r>
            <a:endParaRPr lang="en-US" sz="1050" dirty="0"/>
          </a:p>
        </p:txBody>
      </p:sp>
      <p:sp>
        <p:nvSpPr>
          <p:cNvPr id="9" name="prop-v-0"/>
          <p:cNvSpPr txBox="1"/>
          <p:nvPr/>
        </p:nvSpPr>
        <p:spPr>
          <a:xfrm>
            <a:off x="9601200" y="1517904"/>
            <a:ext cx="1874520" cy="411480"/>
          </a:xfrm>
          <a:prstGeom prst="rect">
            <a:avLst/>
          </a:prstGeom>
          <a:noFill/>
          <a:ln/>
        </p:spPr>
        <p:txBody>
          <a:bodyPr wrap="square" lIns="0" tIns="0" rIns="0" bIns="0" rtlCol="0" anchor="t"/>
          <a:lstStyle/>
          <a:p>
            <a:pPr algn="r" indent="0" marL="0">
              <a:buNone/>
            </a:pPr>
            <a:r>
              <a:rPr lang="en-US" sz="2000" b="1" dirty="0">
                <a:solidFill>
                  <a:srgbClr val="E10600"/>
                </a:solidFill>
              </a:rPr>
              <a:t>2명</a:t>
            </a:r>
            <a:endParaRPr lang="en-US" sz="2000" dirty="0"/>
          </a:p>
        </p:txBody>
      </p:sp>
      <p:sp>
        <p:nvSpPr>
          <p:cNvPr id="10" name="prop-r-0"/>
          <p:cNvSpPr txBox="1"/>
          <p:nvPr/>
        </p:nvSpPr>
        <p:spPr>
          <a:xfrm>
            <a:off x="9601200" y="1938528"/>
            <a:ext cx="1874520" cy="256032"/>
          </a:xfrm>
          <a:prstGeom prst="rect">
            <a:avLst/>
          </a:prstGeom>
          <a:noFill/>
          <a:ln/>
        </p:spPr>
        <p:txBody>
          <a:bodyPr wrap="square" lIns="0" tIns="0" rIns="0" bIns="0" rtlCol="0" anchor="t"/>
          <a:lstStyle/>
          <a:p>
            <a:pPr algn="r" indent="0" marL="0">
              <a:buNone/>
            </a:pPr>
            <a:r>
              <a:rPr lang="en-US" sz="1000" dirty="0">
                <a:solidFill>
                  <a:srgbClr val="6B6B6B"/>
                </a:solidFill>
              </a:rPr>
              <a:t>근거 18 · 19 · 20 · 23</a:t>
            </a:r>
            <a:endParaRPr lang="en-US" sz="1000" dirty="0"/>
          </a:p>
        </p:txBody>
      </p:sp>
      <p:sp>
        <p:nvSpPr>
          <p:cNvPr id="11" name="prop-1"/>
          <p:cNvSpPr/>
          <p:nvPr/>
        </p:nvSpPr>
        <p:spPr>
          <a:xfrm>
            <a:off x="548640" y="2350008"/>
            <a:ext cx="11109960" cy="777240"/>
          </a:xfrm>
          <a:prstGeom prst="roundRect">
            <a:avLst>
              <a:gd name="adj" fmla="val 7059"/>
            </a:avLst>
          </a:prstGeom>
          <a:solidFill>
            <a:srgbClr val="F4F4F4"/>
          </a:solidFill>
          <a:ln w="9525">
            <a:solidFill>
              <a:srgbClr val="F4F4F4"/>
            </a:solidFill>
            <a:prstDash val="solid"/>
          </a:ln>
        </p:spPr>
        <p:txBody>
          <a:bodyPr/>
          <a:p/>
        </p:txBody>
      </p:sp>
      <p:sp>
        <p:nvSpPr>
          <p:cNvPr id="12" name="prop-n-1"/>
          <p:cNvSpPr/>
          <p:nvPr/>
        </p:nvSpPr>
        <p:spPr>
          <a:xfrm>
            <a:off x="731520" y="2532888"/>
            <a:ext cx="411480" cy="411480"/>
          </a:xfrm>
          <a:prstGeom prst="ellipse">
            <a:avLst/>
          </a:prstGeom>
          <a:solidFill>
            <a:srgbClr val="E10600"/>
          </a:solidFill>
          <a:ln w="12700">
            <a:solidFill>
              <a:srgbClr val="E10600"/>
            </a:solidFill>
            <a:prstDash val="solid"/>
          </a:ln>
        </p:spPr>
        <p:txBody>
          <a:bodyPr/>
          <a:p/>
        </p:txBody>
      </p:sp>
      <p:sp>
        <p:nvSpPr>
          <p:cNvPr id="13" name="prop-n-1-t"/>
          <p:cNvSpPr txBox="1"/>
          <p:nvPr/>
        </p:nvSpPr>
        <p:spPr>
          <a:xfrm>
            <a:off x="731520" y="25328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prop-h-1"/>
          <p:cNvSpPr txBox="1"/>
          <p:nvPr/>
        </p:nvSpPr>
        <p:spPr>
          <a:xfrm>
            <a:off x="1325880" y="2423160"/>
            <a:ext cx="8138160" cy="320040"/>
          </a:xfrm>
          <a:prstGeom prst="rect">
            <a:avLst/>
          </a:prstGeom>
          <a:noFill/>
          <a:ln/>
        </p:spPr>
        <p:txBody>
          <a:bodyPr wrap="square" lIns="0" tIns="0" rIns="0" bIns="0" rtlCol="0" anchor="t"/>
          <a:lstStyle/>
          <a:p>
            <a:pPr indent="0" marL="0">
              <a:buNone/>
            </a:pPr>
            <a:r>
              <a:rPr lang="en-US" sz="1400" b="1" dirty="0">
                <a:solidFill>
                  <a:srgbClr val="1A1A1A"/>
                </a:solidFill>
              </a:rPr>
              <a:t>가장 빠른 후보를 바로 고르지 않는다</a:t>
            </a:r>
            <a:endParaRPr lang="en-US" sz="1400" dirty="0"/>
          </a:p>
        </p:txBody>
      </p:sp>
      <p:sp>
        <p:nvSpPr>
          <p:cNvPr id="15" name="prop-d-1"/>
          <p:cNvSpPr txBox="1"/>
          <p:nvPr/>
        </p:nvSpPr>
        <p:spPr>
          <a:xfrm>
            <a:off x="1325880" y="2734056"/>
            <a:ext cx="8138160" cy="384048"/>
          </a:xfrm>
          <a:prstGeom prst="rect">
            <a:avLst/>
          </a:prstGeom>
          <a:noFill/>
          <a:ln/>
        </p:spPr>
        <p:txBody>
          <a:bodyPr wrap="square" lIns="0" tIns="0" rIns="0" bIns="0" rtlCol="0" anchor="t"/>
          <a:lstStyle/>
          <a:p>
            <a:pPr indent="0" marL="0">
              <a:buNone/>
            </a:pPr>
            <a:r>
              <a:rPr lang="en-US" sz="1050" dirty="0">
                <a:solidFill>
                  <a:srgbClr val="6B6B6B"/>
                </a:solidFill>
              </a:rPr>
              <a:t>NORRIS·VERSTAPPEN·PIASTRI는 페이스 우위만 반복됐다. 전체 1,824개 조합에서도 네 조건을 모두 통과한 것은 4.8%뿐이다.</a:t>
            </a:r>
            <a:endParaRPr lang="en-US" sz="1050" dirty="0"/>
          </a:p>
        </p:txBody>
      </p:sp>
      <p:sp>
        <p:nvSpPr>
          <p:cNvPr id="16" name="prop-v-1"/>
          <p:cNvSpPr txBox="1"/>
          <p:nvPr/>
        </p:nvSpPr>
        <p:spPr>
          <a:xfrm>
            <a:off x="9601200" y="2404872"/>
            <a:ext cx="1874520" cy="411480"/>
          </a:xfrm>
          <a:prstGeom prst="rect">
            <a:avLst/>
          </a:prstGeom>
          <a:noFill/>
          <a:ln/>
        </p:spPr>
        <p:txBody>
          <a:bodyPr wrap="square" lIns="0" tIns="0" rIns="0" bIns="0" rtlCol="0" anchor="t"/>
          <a:lstStyle/>
          <a:p>
            <a:pPr algn="r" indent="0" marL="0">
              <a:buNone/>
            </a:pPr>
            <a:r>
              <a:rPr lang="en-US" sz="2000" b="1" dirty="0">
                <a:solidFill>
                  <a:srgbClr val="E10600"/>
                </a:solidFill>
              </a:rPr>
              <a:t>4.8%</a:t>
            </a:r>
            <a:endParaRPr lang="en-US" sz="2000" dirty="0"/>
          </a:p>
        </p:txBody>
      </p:sp>
      <p:sp>
        <p:nvSpPr>
          <p:cNvPr id="17" name="prop-r-1"/>
          <p:cNvSpPr txBox="1"/>
          <p:nvPr/>
        </p:nvSpPr>
        <p:spPr>
          <a:xfrm>
            <a:off x="9601200" y="2825496"/>
            <a:ext cx="1874520" cy="256032"/>
          </a:xfrm>
          <a:prstGeom prst="rect">
            <a:avLst/>
          </a:prstGeom>
          <a:noFill/>
          <a:ln/>
        </p:spPr>
        <p:txBody>
          <a:bodyPr wrap="square" lIns="0" tIns="0" rIns="0" bIns="0" rtlCol="0" anchor="t"/>
          <a:lstStyle/>
          <a:p>
            <a:pPr algn="r" indent="0" marL="0">
              <a:buNone/>
            </a:pPr>
            <a:r>
              <a:rPr lang="en-US" sz="1000" dirty="0">
                <a:solidFill>
                  <a:srgbClr val="6B6B6B"/>
                </a:solidFill>
              </a:rPr>
              <a:t>근거 21 · 22</a:t>
            </a:r>
            <a:endParaRPr lang="en-US" sz="1000" dirty="0"/>
          </a:p>
        </p:txBody>
      </p:sp>
      <p:sp>
        <p:nvSpPr>
          <p:cNvPr id="18" name="prop-2"/>
          <p:cNvSpPr/>
          <p:nvPr/>
        </p:nvSpPr>
        <p:spPr>
          <a:xfrm>
            <a:off x="548640" y="3236976"/>
            <a:ext cx="11109960" cy="777240"/>
          </a:xfrm>
          <a:prstGeom prst="roundRect">
            <a:avLst>
              <a:gd name="adj" fmla="val 7059"/>
            </a:avLst>
          </a:prstGeom>
          <a:solidFill>
            <a:srgbClr val="F4F4F4"/>
          </a:solidFill>
          <a:ln w="9525">
            <a:solidFill>
              <a:srgbClr val="F4F4F4"/>
            </a:solidFill>
            <a:prstDash val="solid"/>
          </a:ln>
        </p:spPr>
        <p:txBody>
          <a:bodyPr/>
          <a:p/>
        </p:txBody>
      </p:sp>
      <p:sp>
        <p:nvSpPr>
          <p:cNvPr id="19" name="prop-n-2"/>
          <p:cNvSpPr/>
          <p:nvPr/>
        </p:nvSpPr>
        <p:spPr>
          <a:xfrm>
            <a:off x="731520" y="3419856"/>
            <a:ext cx="411480" cy="411480"/>
          </a:xfrm>
          <a:prstGeom prst="ellipse">
            <a:avLst/>
          </a:prstGeom>
          <a:solidFill>
            <a:srgbClr val="E10600"/>
          </a:solidFill>
          <a:ln w="12700">
            <a:solidFill>
              <a:srgbClr val="E10600"/>
            </a:solidFill>
            <a:prstDash val="solid"/>
          </a:ln>
        </p:spPr>
        <p:txBody>
          <a:bodyPr/>
          <a:p/>
        </p:txBody>
      </p:sp>
      <p:sp>
        <p:nvSpPr>
          <p:cNvPr id="20" name="prop-n-2-t"/>
          <p:cNvSpPr txBox="1"/>
          <p:nvPr/>
        </p:nvSpPr>
        <p:spPr>
          <a:xfrm>
            <a:off x="731520" y="341985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prop-h-2"/>
          <p:cNvSpPr txBox="1"/>
          <p:nvPr/>
        </p:nvSpPr>
        <p:spPr>
          <a:xfrm>
            <a:off x="1325880" y="3310128"/>
            <a:ext cx="8138160" cy="320040"/>
          </a:xfrm>
          <a:prstGeom prst="rect">
            <a:avLst/>
          </a:prstGeom>
          <a:noFill/>
          <a:ln/>
        </p:spPr>
        <p:txBody>
          <a:bodyPr wrap="square" lIns="0" tIns="0" rIns="0" bIns="0" rtlCol="0" anchor="t"/>
          <a:lstStyle/>
          <a:p>
            <a:pPr indent="0" marL="0">
              <a:buNone/>
            </a:pPr>
            <a:r>
              <a:rPr lang="en-US" sz="1400" b="1" dirty="0">
                <a:solidFill>
                  <a:srgbClr val="1A1A1A"/>
                </a:solidFill>
              </a:rPr>
              <a:t>피트레인 손실부터 점검한다</a:t>
            </a:r>
            <a:endParaRPr lang="en-US" sz="1400" dirty="0"/>
          </a:p>
        </p:txBody>
      </p:sp>
      <p:sp>
        <p:nvSpPr>
          <p:cNvPr id="22" name="prop-d-2"/>
          <p:cNvSpPr txBox="1"/>
          <p:nvPr/>
        </p:nvSpPr>
        <p:spPr>
          <a:xfrm>
            <a:off x="1325880" y="3621024"/>
            <a:ext cx="8138160" cy="384048"/>
          </a:xfrm>
          <a:prstGeom prst="rect">
            <a:avLst/>
          </a:prstGeom>
          <a:noFill/>
          <a:ln/>
        </p:spPr>
        <p:txBody>
          <a:bodyPr wrap="square" lIns="0" tIns="0" rIns="0" bIns="0" rtlCol="0" anchor="t"/>
          <a:lstStyle/>
          <a:p>
            <a:pPr indent="0" marL="0">
              <a:buNone/>
            </a:pPr>
            <a:r>
              <a:rPr lang="en-US" sz="1050" dirty="0">
                <a:solidFill>
                  <a:srgbClr val="6B6B6B"/>
                </a:solidFill>
              </a:rPr>
              <a:t>같은 경기 타 팀보다 0.282초 길고, 1초 넘게 긴 피트가 45건 중 11건이다. 영입과 별개로 혼잡·정비 원인을 먼저 확인한다.</a:t>
            </a:r>
            <a:endParaRPr lang="en-US" sz="1050" dirty="0"/>
          </a:p>
        </p:txBody>
      </p:sp>
      <p:sp>
        <p:nvSpPr>
          <p:cNvPr id="23" name="prop-v-2"/>
          <p:cNvSpPr txBox="1"/>
          <p:nvPr/>
        </p:nvSpPr>
        <p:spPr>
          <a:xfrm>
            <a:off x="9601200" y="3291840"/>
            <a:ext cx="1874520" cy="411480"/>
          </a:xfrm>
          <a:prstGeom prst="rect">
            <a:avLst/>
          </a:prstGeom>
          <a:noFill/>
          <a:ln/>
        </p:spPr>
        <p:txBody>
          <a:bodyPr wrap="square" lIns="0" tIns="0" rIns="0" bIns="0" rtlCol="0" anchor="t"/>
          <a:lstStyle/>
          <a:p>
            <a:pPr algn="r" indent="0" marL="0">
              <a:buNone/>
            </a:pPr>
            <a:r>
              <a:rPr lang="en-US" sz="2000" b="1" dirty="0">
                <a:solidFill>
                  <a:srgbClr val="E10600"/>
                </a:solidFill>
              </a:rPr>
              <a:t>+0.28초</a:t>
            </a:r>
            <a:endParaRPr lang="en-US" sz="2000" dirty="0"/>
          </a:p>
        </p:txBody>
      </p:sp>
      <p:sp>
        <p:nvSpPr>
          <p:cNvPr id="24" name="prop-r-2"/>
          <p:cNvSpPr txBox="1"/>
          <p:nvPr/>
        </p:nvSpPr>
        <p:spPr>
          <a:xfrm>
            <a:off x="9601200" y="3712464"/>
            <a:ext cx="1874520" cy="256032"/>
          </a:xfrm>
          <a:prstGeom prst="rect">
            <a:avLst/>
          </a:prstGeom>
          <a:noFill/>
          <a:ln/>
        </p:spPr>
        <p:txBody>
          <a:bodyPr wrap="square" lIns="0" tIns="0" rIns="0" bIns="0" rtlCol="0" anchor="t"/>
          <a:lstStyle/>
          <a:p>
            <a:pPr algn="r" indent="0" marL="0">
              <a:buNone/>
            </a:pPr>
            <a:r>
              <a:rPr lang="en-US" sz="1000" dirty="0">
                <a:solidFill>
                  <a:srgbClr val="6B6B6B"/>
                </a:solidFill>
              </a:rPr>
              <a:t>근거 14</a:t>
            </a:r>
            <a:endParaRPr lang="en-US" sz="1000" dirty="0"/>
          </a:p>
        </p:txBody>
      </p:sp>
      <p:sp>
        <p:nvSpPr>
          <p:cNvPr id="25" name="prop-3"/>
          <p:cNvSpPr/>
          <p:nvPr/>
        </p:nvSpPr>
        <p:spPr>
          <a:xfrm>
            <a:off x="548640" y="4123944"/>
            <a:ext cx="11109960" cy="777240"/>
          </a:xfrm>
          <a:prstGeom prst="roundRect">
            <a:avLst>
              <a:gd name="adj" fmla="val 7059"/>
            </a:avLst>
          </a:prstGeom>
          <a:solidFill>
            <a:srgbClr val="F4F4F4"/>
          </a:solidFill>
          <a:ln w="9525">
            <a:solidFill>
              <a:srgbClr val="F4F4F4"/>
            </a:solidFill>
            <a:prstDash val="solid"/>
          </a:ln>
        </p:spPr>
        <p:txBody>
          <a:bodyPr/>
          <a:p/>
        </p:txBody>
      </p:sp>
      <p:sp>
        <p:nvSpPr>
          <p:cNvPr id="26" name="prop-n-3"/>
          <p:cNvSpPr/>
          <p:nvPr/>
        </p:nvSpPr>
        <p:spPr>
          <a:xfrm>
            <a:off x="731520" y="4306824"/>
            <a:ext cx="411480" cy="411480"/>
          </a:xfrm>
          <a:prstGeom prst="ellipse">
            <a:avLst/>
          </a:prstGeom>
          <a:solidFill>
            <a:srgbClr val="E10600"/>
          </a:solidFill>
          <a:ln w="12700">
            <a:solidFill>
              <a:srgbClr val="E10600"/>
            </a:solidFill>
            <a:prstDash val="solid"/>
          </a:ln>
        </p:spPr>
        <p:txBody>
          <a:bodyPr/>
          <a:p/>
        </p:txBody>
      </p:sp>
      <p:sp>
        <p:nvSpPr>
          <p:cNvPr id="27" name="prop-n-3-t"/>
          <p:cNvSpPr txBox="1"/>
          <p:nvPr/>
        </p:nvSpPr>
        <p:spPr>
          <a:xfrm>
            <a:off x="731520" y="43068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prop-h-3"/>
          <p:cNvSpPr txBox="1"/>
          <p:nvPr/>
        </p:nvSpPr>
        <p:spPr>
          <a:xfrm>
            <a:off x="1325880" y="4197096"/>
            <a:ext cx="8138160" cy="320040"/>
          </a:xfrm>
          <a:prstGeom prst="rect">
            <a:avLst/>
          </a:prstGeom>
          <a:noFill/>
          <a:ln/>
        </p:spPr>
        <p:txBody>
          <a:bodyPr wrap="square" lIns="0" tIns="0" rIns="0" bIns="0" rtlCol="0" anchor="t"/>
          <a:lstStyle/>
          <a:p>
            <a:pPr indent="0" marL="0">
              <a:buNone/>
            </a:pPr>
            <a:r>
              <a:rPr lang="en-US" sz="1400" b="1" dirty="0">
                <a:solidFill>
                  <a:srgbClr val="1A1A1A"/>
                </a:solidFill>
              </a:rPr>
              <a:t>접전 구간의 경기별 결과 차이를 추적한다</a:t>
            </a:r>
            <a:endParaRPr lang="en-US" sz="1400" dirty="0"/>
          </a:p>
        </p:txBody>
      </p:sp>
      <p:sp>
        <p:nvSpPr>
          <p:cNvPr id="29" name="prop-d-3"/>
          <p:cNvSpPr txBox="1"/>
          <p:nvPr/>
        </p:nvSpPr>
        <p:spPr>
          <a:xfrm>
            <a:off x="1325880" y="4507992"/>
            <a:ext cx="8138160" cy="384048"/>
          </a:xfrm>
          <a:prstGeom prst="rect">
            <a:avLst/>
          </a:prstGeom>
          <a:noFill/>
          <a:ln/>
        </p:spPr>
        <p:txBody>
          <a:bodyPr wrap="square" lIns="0" tIns="0" rIns="0" bIns="0" rtlCol="0" anchor="t"/>
          <a:lstStyle/>
          <a:p>
            <a:pPr indent="0" marL="0">
              <a:buNone/>
            </a:pPr>
            <a:r>
              <a:rPr lang="en-US" sz="1050" dirty="0">
                <a:solidFill>
                  <a:srgbClr val="6B6B6B"/>
                </a:solidFill>
              </a:rPr>
              <a:t>6~9위 4팀이 18점 안이다. 완주·출발 대비 순위 변화 같은 결과 지표를 경기 단위로 비교해 몇 점이 어디서 갈리는지 본다.</a:t>
            </a:r>
            <a:endParaRPr lang="en-US" sz="1050" dirty="0"/>
          </a:p>
        </p:txBody>
      </p:sp>
      <p:sp>
        <p:nvSpPr>
          <p:cNvPr id="30" name="prop-v-3"/>
          <p:cNvSpPr txBox="1"/>
          <p:nvPr/>
        </p:nvSpPr>
        <p:spPr>
          <a:xfrm>
            <a:off x="9601200" y="4178808"/>
            <a:ext cx="1874520" cy="411480"/>
          </a:xfrm>
          <a:prstGeom prst="rect">
            <a:avLst/>
          </a:prstGeom>
          <a:noFill/>
          <a:ln/>
        </p:spPr>
        <p:txBody>
          <a:bodyPr wrap="square" lIns="0" tIns="0" rIns="0" bIns="0" rtlCol="0" anchor="t"/>
          <a:lstStyle/>
          <a:p>
            <a:pPr algn="r" indent="0" marL="0">
              <a:buNone/>
            </a:pPr>
            <a:r>
              <a:rPr lang="en-US" sz="2000" b="1" dirty="0">
                <a:solidFill>
                  <a:srgbClr val="E10600"/>
                </a:solidFill>
              </a:rPr>
              <a:t>18점</a:t>
            </a:r>
            <a:endParaRPr lang="en-US" sz="2000" dirty="0"/>
          </a:p>
        </p:txBody>
      </p:sp>
      <p:sp>
        <p:nvSpPr>
          <p:cNvPr id="31" name="prop-r-3"/>
          <p:cNvSpPr txBox="1"/>
          <p:nvPr/>
        </p:nvSpPr>
        <p:spPr>
          <a:xfrm>
            <a:off x="9601200" y="4599432"/>
            <a:ext cx="1874520" cy="256032"/>
          </a:xfrm>
          <a:prstGeom prst="rect">
            <a:avLst/>
          </a:prstGeom>
          <a:noFill/>
          <a:ln/>
        </p:spPr>
        <p:txBody>
          <a:bodyPr wrap="square" lIns="0" tIns="0" rIns="0" bIns="0" rtlCol="0" anchor="t"/>
          <a:lstStyle/>
          <a:p>
            <a:pPr algn="r" indent="0" marL="0">
              <a:buNone/>
            </a:pPr>
            <a:r>
              <a:rPr lang="en-US" sz="1000" dirty="0">
                <a:solidFill>
                  <a:srgbClr val="6B6B6B"/>
                </a:solidFill>
              </a:rPr>
              <a:t>근거 15</a:t>
            </a:r>
            <a:endParaRPr lang="en-US" sz="1000" dirty="0"/>
          </a:p>
        </p:txBody>
      </p:sp>
      <p:sp>
        <p:nvSpPr>
          <p:cNvPr id="32" name="prop-4"/>
          <p:cNvSpPr/>
          <p:nvPr/>
        </p:nvSpPr>
        <p:spPr>
          <a:xfrm>
            <a:off x="548640" y="5010912"/>
            <a:ext cx="11109960" cy="777240"/>
          </a:xfrm>
          <a:prstGeom prst="roundRect">
            <a:avLst>
              <a:gd name="adj" fmla="val 7059"/>
            </a:avLst>
          </a:prstGeom>
          <a:solidFill>
            <a:srgbClr val="F4F4F4"/>
          </a:solidFill>
          <a:ln w="9525">
            <a:solidFill>
              <a:srgbClr val="F4F4F4"/>
            </a:solidFill>
            <a:prstDash val="solid"/>
          </a:ln>
        </p:spPr>
        <p:txBody>
          <a:bodyPr/>
          <a:p/>
        </p:txBody>
      </p:sp>
      <p:sp>
        <p:nvSpPr>
          <p:cNvPr id="33" name="prop-n-4"/>
          <p:cNvSpPr/>
          <p:nvPr/>
        </p:nvSpPr>
        <p:spPr>
          <a:xfrm>
            <a:off x="731520" y="5193792"/>
            <a:ext cx="411480" cy="411480"/>
          </a:xfrm>
          <a:prstGeom prst="ellipse">
            <a:avLst/>
          </a:prstGeom>
          <a:solidFill>
            <a:srgbClr val="E10600"/>
          </a:solidFill>
          <a:ln w="12700">
            <a:solidFill>
              <a:srgbClr val="E10600"/>
            </a:solidFill>
            <a:prstDash val="solid"/>
          </a:ln>
        </p:spPr>
        <p:txBody>
          <a:bodyPr/>
          <a:p/>
        </p:txBody>
      </p:sp>
      <p:sp>
        <p:nvSpPr>
          <p:cNvPr id="34" name="prop-n-4-t"/>
          <p:cNvSpPr txBox="1"/>
          <p:nvPr/>
        </p:nvSpPr>
        <p:spPr>
          <a:xfrm>
            <a:off x="731520" y="51937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5" name="prop-h-4"/>
          <p:cNvSpPr txBox="1"/>
          <p:nvPr/>
        </p:nvSpPr>
        <p:spPr>
          <a:xfrm>
            <a:off x="1325880" y="5084064"/>
            <a:ext cx="8138160" cy="320040"/>
          </a:xfrm>
          <a:prstGeom prst="rect">
            <a:avLst/>
          </a:prstGeom>
          <a:noFill/>
          <a:ln/>
        </p:spPr>
        <p:txBody>
          <a:bodyPr wrap="square" lIns="0" tIns="0" rIns="0" bIns="0" rtlCol="0" anchor="t"/>
          <a:lstStyle/>
          <a:p>
            <a:pPr indent="0" marL="0">
              <a:buNone/>
            </a:pPr>
            <a:r>
              <a:rPr lang="en-US" sz="1400" b="1" dirty="0">
                <a:solidFill>
                  <a:srgbClr val="1A1A1A"/>
                </a:solidFill>
              </a:rPr>
              <a:t>LECLERC는 장기 스틴트 타이어 유지를 먼저 확인한다</a:t>
            </a:r>
            <a:endParaRPr lang="en-US" sz="1400" dirty="0"/>
          </a:p>
        </p:txBody>
      </p:sp>
      <p:sp>
        <p:nvSpPr>
          <p:cNvPr id="36" name="prop-d-4"/>
          <p:cNvSpPr txBox="1"/>
          <p:nvPr/>
        </p:nvSpPr>
        <p:spPr>
          <a:xfrm>
            <a:off x="1325880" y="5394960"/>
            <a:ext cx="8138160" cy="384048"/>
          </a:xfrm>
          <a:prstGeom prst="rect">
            <a:avLst/>
          </a:prstGeom>
          <a:noFill/>
          <a:ln/>
        </p:spPr>
        <p:txBody>
          <a:bodyPr wrap="square" lIns="0" tIns="0" rIns="0" bIns="0" rtlCol="0" anchor="t"/>
          <a:lstStyle/>
          <a:p>
            <a:pPr indent="0" marL="0">
              <a:buNone/>
            </a:pPr>
            <a:r>
              <a:rPr lang="en-US" sz="1050" dirty="0">
                <a:solidFill>
                  <a:srgbClr val="6B6B6B"/>
                </a:solidFill>
              </a:rPr>
              <a:t>Aston Martin은 타이어 유지가 10팀 중 가장 좋은데, LECLERC는 2025 선수 20명 중 하위(상위 95%)다. 2023~2025로 보면 차이가 오차 범위 안이지만 영입 전 장기 스틴트로 확인한다.</a:t>
            </a:r>
            <a:endParaRPr lang="en-US" sz="1050" dirty="0"/>
          </a:p>
        </p:txBody>
      </p:sp>
      <p:sp>
        <p:nvSpPr>
          <p:cNvPr id="37" name="prop-v-4"/>
          <p:cNvSpPr txBox="1"/>
          <p:nvPr/>
        </p:nvSpPr>
        <p:spPr>
          <a:xfrm>
            <a:off x="9601200" y="5065776"/>
            <a:ext cx="1874520" cy="411480"/>
          </a:xfrm>
          <a:prstGeom prst="rect">
            <a:avLst/>
          </a:prstGeom>
          <a:noFill/>
          <a:ln/>
        </p:spPr>
        <p:txBody>
          <a:bodyPr wrap="square" lIns="0" tIns="0" rIns="0" bIns="0" rtlCol="0" anchor="t"/>
          <a:lstStyle/>
          <a:p>
            <a:pPr algn="r" indent="0" marL="0">
              <a:buNone/>
            </a:pPr>
            <a:r>
              <a:rPr lang="en-US" sz="2000" b="1" dirty="0">
                <a:solidFill>
                  <a:srgbClr val="E10600"/>
                </a:solidFill>
              </a:rPr>
              <a:t>+39.1ms</a:t>
            </a:r>
            <a:endParaRPr lang="en-US" sz="2000" dirty="0"/>
          </a:p>
        </p:txBody>
      </p:sp>
      <p:sp>
        <p:nvSpPr>
          <p:cNvPr id="38" name="prop-r-4"/>
          <p:cNvSpPr txBox="1"/>
          <p:nvPr/>
        </p:nvSpPr>
        <p:spPr>
          <a:xfrm>
            <a:off x="9601200" y="5486400"/>
            <a:ext cx="1874520" cy="256032"/>
          </a:xfrm>
          <a:prstGeom prst="rect">
            <a:avLst/>
          </a:prstGeom>
          <a:noFill/>
          <a:ln/>
        </p:spPr>
        <p:txBody>
          <a:bodyPr wrap="square" lIns="0" tIns="0" rIns="0" bIns="0" rtlCol="0" anchor="t"/>
          <a:lstStyle/>
          <a:p>
            <a:pPr algn="r" indent="0" marL="0">
              <a:buNone/>
            </a:pPr>
            <a:r>
              <a:rPr lang="en-US" sz="1000" dirty="0">
                <a:solidFill>
                  <a:srgbClr val="6B6B6B"/>
                </a:solidFill>
              </a:rPr>
              <a:t>근거 13 · 19 · 20</a:t>
            </a:r>
            <a:endParaRPr lang="en-US" sz="10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23</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731520"/>
          </a:xfrm>
          <a:prstGeom prst="rect">
            <a:avLst/>
          </a:prstGeom>
          <a:noFill/>
          <a:ln/>
        </p:spPr>
        <p:txBody>
          <a:bodyPr wrap="square" lIns="0" tIns="0" rIns="0" bIns="0" rtlCol="0" anchor="ctr"/>
          <a:lstStyle/>
          <a:p>
            <a:pPr algn="l" indent="0" marL="0">
              <a:buNone/>
            </a:pPr>
            <a:r>
              <a:rPr lang="en-US" sz="3000" b="1" dirty="0">
                <a:solidFill>
                  <a:srgbClr val="FFFFFF"/>
                </a:solidFill>
              </a:rPr>
              <a:t>이 보고서가 말하지 않는 것</a:t>
            </a:r>
            <a:endParaRPr lang="en-US" sz="3000" dirty="0"/>
          </a:p>
        </p:txBody>
      </p:sp>
      <p:sp>
        <p:nvSpPr>
          <p:cNvPr id="3" name="lim-lead"/>
          <p:cNvSpPr txBox="1"/>
          <p:nvPr/>
        </p:nvSpPr>
        <p:spPr>
          <a:xfrm>
            <a:off x="731520" y="1371600"/>
            <a:ext cx="10698480" cy="365760"/>
          </a:xfrm>
          <a:prstGeom prst="rect">
            <a:avLst/>
          </a:prstGeom>
          <a:noFill/>
          <a:ln/>
        </p:spPr>
        <p:txBody>
          <a:bodyPr wrap="square" lIns="0" tIns="0" rIns="0" bIns="0" rtlCol="0" anchor="t"/>
          <a:lstStyle/>
          <a:p>
            <a:pPr indent="0" marL="0">
              <a:buNone/>
            </a:pPr>
            <a:r>
              <a:rPr lang="en-US" sz="1500" b="1" dirty="0">
                <a:solidFill>
                  <a:srgbClr val="E10600"/>
                </a:solidFill>
              </a:rPr>
              <a:t>분석에는 한계가 있고, 그것을 적는 것까지가 분석입니다.</a:t>
            </a:r>
            <a:endParaRPr lang="en-US" sz="1500" dirty="0"/>
          </a:p>
        </p:txBody>
      </p:sp>
      <p:sp>
        <p:nvSpPr>
          <p:cNvPr id="4" name="lim-list"/>
          <p:cNvSpPr txBox="1"/>
          <p:nvPr/>
        </p:nvSpPr>
        <p:spPr>
          <a:xfrm>
            <a:off x="731520" y="1965960"/>
            <a:ext cx="10698480" cy="365760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E5E5E5"/>
                </a:solidFill>
              </a:rPr>
              <a:t>후보 지표는 차량 효과를 분리하지 않았다 — 같은 경기 비교(①)에는 차량 몫이 섞여 있어 1차 선별에만 쓴다.</a:t>
            </a:r>
            <a:endParaRPr lang="en-US" sz="1400" dirty="0"/>
          </a:p>
          <a:p>
            <a:pPr marL="342900" indent="-342900">
              <a:spcAft>
                <a:spcPts val="1000"/>
              </a:spcAft>
              <a:buSzPct val="100000"/>
              <a:buChar char="•"/>
            </a:pPr>
            <a:r>
              <a:rPr lang="en-US" sz="1200" dirty="0">
                <a:solidFill>
                  <a:srgbClr val="E5E5E5"/>
                </a:solidFill>
              </a:rPr>
              <a:t>같은 자(HAMILTON) 비교에도 한계가 있다 — 2025는 HAMILTON의 Ferrari 첫해라 LECLERC가 유리할 수 있고, 2026에는 LECLERC의 우위가 0 근처로 줄었다.</a:t>
            </a:r>
            <a:endParaRPr lang="en-US" sz="1400" dirty="0"/>
          </a:p>
          <a:p>
            <a:pPr marL="342900" indent="-342900">
              <a:spcAft>
                <a:spcPts val="1000"/>
              </a:spcAft>
              <a:buSzPct val="100000"/>
              <a:buChar char="•"/>
            </a:pPr>
            <a:r>
              <a:rPr lang="en-US" sz="1200" dirty="0">
                <a:solidFill>
                  <a:srgbClr val="E5E5E5"/>
                </a:solidFill>
              </a:rPr>
              <a:t>STROLL 쪽 차량 몫은 분리할 수 없다 — STROLL은 2023~2025 ALONSO하고만 같은 차를 타 후보와 이어지는 비교 고리가 없다.</a:t>
            </a:r>
            <a:endParaRPr lang="en-US" sz="1400" dirty="0"/>
          </a:p>
          <a:p>
            <a:pPr marL="342900" indent="-342900">
              <a:spcAft>
                <a:spcPts val="1000"/>
              </a:spcAft>
              <a:buSzPct val="100000"/>
              <a:buChar char="•"/>
            </a:pPr>
            <a:r>
              <a:rPr lang="en-US" sz="1200" dirty="0">
                <a:solidFill>
                  <a:srgbClr val="E5E5E5"/>
                </a:solidFill>
              </a:rPr>
              <a:t>재계산 값은 Gold와 방향은 같지만 크기가 다르다 — RUSSELL 대 ANTONELLI −0.281초(Gold −0.138초). 타이어 유지 지표는 시즌마다 크게 흔들린다.</a:t>
            </a:r>
            <a:endParaRPr lang="en-US" sz="1400" dirty="0"/>
          </a:p>
          <a:p>
            <a:pPr marL="342900" indent="-342900">
              <a:spcAft>
                <a:spcPts val="1000"/>
              </a:spcAft>
              <a:buSzPct val="100000"/>
              <a:buChar char="•"/>
            </a:pPr>
            <a:r>
              <a:rPr lang="en-US" sz="1200" dirty="0">
                <a:solidFill>
                  <a:srgbClr val="E5E5E5"/>
                </a:solidFill>
              </a:rPr>
              <a:t>영입 효과·금액을 말하지 않는다 — 우위가 반복되어도 이적 후 성과는 입증되지 않고, 배분금·스폰서 수익은 계산하지 않았다.</a:t>
            </a:r>
            <a:endParaRPr lang="en-US" sz="1400" dirty="0"/>
          </a:p>
          <a:p>
            <a:pPr marL="342900" indent="-342900">
              <a:spcAft>
                <a:spcPts val="1000"/>
              </a:spcAft>
              <a:buSzPct val="100000"/>
              <a:buChar char="•"/>
            </a:pPr>
            <a:r>
              <a:rPr lang="en-US" sz="1200" dirty="0">
                <a:solidFill>
                  <a:srgbClr val="E5E5E5"/>
                </a:solidFill>
              </a:rPr>
              <a:t>공식 챔피언십 점수가 아니다 — Sprint·보너스·예외 배점을 뺀 본경기 기본 포인트다.</a:t>
            </a:r>
            <a:endParaRPr lang="en-US" sz="1400" dirty="0"/>
          </a:p>
          <a:p>
            <a:pPr marL="342900" indent="-342900">
              <a:spcAft>
                <a:spcPts val="1000"/>
              </a:spcAft>
              <a:buSzPct val="100000"/>
              <a:buChar char="•"/>
            </a:pPr>
            <a:r>
              <a:rPr lang="en-US" sz="1200" dirty="0">
                <a:solidFill>
                  <a:srgbClr val="E5E5E5"/>
                </a:solidFill>
              </a:rPr>
              <a:t>95% 구간은 탐색적 선별용이며 다중 비교를 보정하지 않았다. 후보 지표(Gold)는 v0.2.0 결과 파일이고 계산 코드 전체는 저장소에 없다.</a:t>
            </a:r>
            <a:endParaRPr lang="en-US" sz="1400" dirty="0"/>
          </a:p>
        </p:txBody>
      </p:sp>
      <p:sp>
        <p:nvSpPr>
          <p:cNvPr id="5" name="lim-next"/>
          <p:cNvSpPr txBox="1"/>
          <p:nvPr/>
        </p:nvSpPr>
        <p:spPr>
          <a:xfrm>
            <a:off x="731520" y="5897880"/>
            <a:ext cx="10698480" cy="365760"/>
          </a:xfrm>
          <a:prstGeom prst="rect">
            <a:avLst/>
          </a:prstGeom>
          <a:noFill/>
          <a:ln/>
        </p:spPr>
        <p:txBody>
          <a:bodyPr wrap="square" lIns="0" tIns="0" rIns="0" bIns="0" rtlCol="0" anchor="t"/>
          <a:lstStyle/>
          <a:p>
            <a:pPr indent="0" marL="0">
              <a:buNone/>
            </a:pPr>
            <a:r>
              <a:rPr lang="en-US" sz="1200" dirty="0">
                <a:solidFill>
                  <a:srgbClr val="E10600"/>
                </a:solidFill>
              </a:rPr>
              <a:t>다음에 볼 것 — ① LECLERC·RUSSELL을 2026 전체 시즌으로 다시 판정  ② Gold 계산 전체를 저장소로 옮겨 재계산  ③ 추가 5종 원본 응답 보존</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109960" cy="640080"/>
          </a:xfrm>
          <a:prstGeom prst="rect">
            <a:avLst/>
          </a:prstGeom>
          <a:noFill/>
          <a:ln/>
        </p:spPr>
        <p:txBody>
          <a:bodyPr wrap="square" lIns="0" tIns="0" rIns="0" bIns="0" rtlCol="0" anchor="ctr"/>
          <a:lstStyle/>
          <a:p>
            <a:pPr algn="l" indent="0" marL="0">
              <a:buNone/>
            </a:pPr>
            <a:r>
              <a:rPr lang="en-US" sz="2800" b="1" dirty="0">
                <a:solidFill>
                  <a:srgbClr val="1A1A1A"/>
                </a:solidFill>
              </a:rPr>
              <a:t>부록 — 이 숫자를 다시 만드는 방법</a:t>
            </a:r>
            <a:endParaRPr lang="en-US" sz="2800" dirty="0"/>
          </a:p>
        </p:txBody>
      </p:sp>
      <p:sp>
        <p:nvSpPr>
          <p:cNvPr id="3" name="Text 0"/>
          <p:cNvSpPr/>
          <p:nvPr>
            <p:ph idx="101" type="body" hasCustomPrompt="1"/>
          </p:nvPr>
        </p:nvSpPr>
        <p:spPr>
          <a:xfrm>
            <a:off x="548640" y="1005840"/>
            <a:ext cx="11109960" cy="365760"/>
          </a:xfrm>
          <a:prstGeom prst="rect">
            <a:avLst/>
          </a:prstGeom>
          <a:noFill/>
          <a:ln/>
        </p:spPr>
        <p:txBody>
          <a:bodyPr wrap="square" lIns="0" tIns="0" rIns="0" bIns="0" rtlCol="0" anchor="t"/>
          <a:lstStyle/>
          <a:p>
            <a:pPr indent="0" marL="0">
              <a:buNone/>
            </a:pPr>
            <a:r>
              <a:rPr lang="en-US" sz="1400" dirty="0">
                <a:solidFill>
                  <a:srgbClr val="6B6B6B"/>
                </a:solidFill>
              </a:rPr>
              <a:t>누구나 같은 숫자를 다시 만들 수 있어야 보고서다</a:t>
            </a:r>
            <a:endParaRPr lang="en-US" sz="1400" dirty="0"/>
          </a:p>
        </p:txBody>
      </p:sp>
      <p:sp>
        <p:nvSpPr>
          <p:cNvPr id="4" name="appx-basis"/>
          <p:cNvSpPr/>
          <p:nvPr/>
        </p:nvSpPr>
        <p:spPr>
          <a:xfrm>
            <a:off x="548640" y="1508760"/>
            <a:ext cx="5303520" cy="4206240"/>
          </a:xfrm>
          <a:prstGeom prst="roundRect">
            <a:avLst>
              <a:gd name="adj" fmla="val 1304"/>
            </a:avLst>
          </a:prstGeom>
          <a:solidFill>
            <a:srgbClr val="F4F4F4"/>
          </a:solidFill>
          <a:ln w="9525">
            <a:solidFill>
              <a:srgbClr val="F4F4F4"/>
            </a:solidFill>
            <a:prstDash val="solid"/>
          </a:ln>
        </p:spPr>
      </p:sp>
      <p:sp>
        <p:nvSpPr>
          <p:cNvPr id="5" name="appx-basis-h"/>
          <p:cNvSpPr txBox="1"/>
          <p:nvPr/>
        </p:nvSpPr>
        <p:spPr>
          <a:xfrm>
            <a:off x="822960" y="1691640"/>
            <a:ext cx="4754880" cy="320040"/>
          </a:xfrm>
          <a:prstGeom prst="rect">
            <a:avLst/>
          </a:prstGeom>
          <a:noFill/>
          <a:ln/>
        </p:spPr>
        <p:txBody>
          <a:bodyPr wrap="square" lIns="0" tIns="0" rIns="0" bIns="0" rtlCol="0" anchor="t"/>
          <a:lstStyle/>
          <a:p>
            <a:pPr indent="0" marL="0">
              <a:buNone/>
            </a:pPr>
            <a:r>
              <a:rPr lang="en-US" sz="1400" b="1" dirty="0">
                <a:solidFill>
                  <a:srgbClr val="E10600"/>
                </a:solidFill>
              </a:rPr>
              <a:t>기준 네 가지</a:t>
            </a:r>
            <a:endParaRPr lang="en-US" sz="1400" dirty="0"/>
          </a:p>
        </p:txBody>
      </p:sp>
      <p:sp>
        <p:nvSpPr>
          <p:cNvPr id="6" name="appx-basis-list"/>
          <p:cNvSpPr txBox="1"/>
          <p:nvPr/>
        </p:nvSpPr>
        <p:spPr>
          <a:xfrm>
            <a:off x="822960" y="2103120"/>
            <a:ext cx="4800600" cy="34747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1A"/>
                </a:solidFill>
              </a:rPr>
              <a:t>분석 범위 = 2023 ~ 2026-10-14에 종료된 본경기(Race) 87경기</a:t>
            </a:r>
            <a:endParaRPr lang="en-US" sz="1200" dirty="0"/>
          </a:p>
          <a:p>
            <a:pPr marL="342900" indent="-342900">
              <a:spcAft>
                <a:spcPts val="800"/>
              </a:spcAft>
              <a:buSzPct val="100000"/>
              <a:buChar char="•"/>
            </a:pPr>
            <a:r>
              <a:rPr lang="en-US" sz="1200" dirty="0">
                <a:solidFill>
                  <a:srgbClr val="1A1A1A"/>
                </a:solidFill>
              </a:rPr>
              <a:t>원본은 수정하지 않는다 — data/01_raw의 zip을 그대로 읽는다</a:t>
            </a:r>
            <a:endParaRPr lang="en-US" sz="1200" dirty="0"/>
          </a:p>
          <a:p>
            <a:pPr marL="342900" indent="-342900">
              <a:spcAft>
                <a:spcPts val="800"/>
              </a:spcAft>
              <a:buSzPct val="100000"/>
              <a:buChar char="•"/>
            </a:pPr>
            <a:r>
              <a:rPr lang="en-US" sz="1200" dirty="0">
                <a:solidFill>
                  <a:srgbClr val="1A1A1A"/>
                </a:solidFill>
              </a:rPr>
              <a:t>결측은 채우지 않는다 — 연결되지 않는 기록은 해당 비교에서만 제외하고 N/A로 표시</a:t>
            </a:r>
            <a:endParaRPr lang="en-US" sz="1200" dirty="0"/>
          </a:p>
          <a:p>
            <a:pPr marL="342900" indent="-342900">
              <a:spcAft>
                <a:spcPts val="800"/>
              </a:spcAft>
              <a:buSzPct val="100000"/>
              <a:buChar char="•"/>
            </a:pPr>
            <a:r>
              <a:rPr lang="en-US" sz="1200" dirty="0">
                <a:solidFill>
                  <a:srgbClr val="1A1A1A"/>
                </a:solidFill>
              </a:rPr>
              <a:t>포인트 = 본경기 최종 순위에 기본 배점, 당시 소속팀으로 합산</a:t>
            </a:r>
            <a:endParaRPr lang="en-US" sz="1200" dirty="0"/>
          </a:p>
        </p:txBody>
      </p:sp>
      <p:sp>
        <p:nvSpPr>
          <p:cNvPr id="7" name="appx-run"/>
          <p:cNvSpPr/>
          <p:nvPr/>
        </p:nvSpPr>
        <p:spPr>
          <a:xfrm>
            <a:off x="6080760" y="1508760"/>
            <a:ext cx="5577840" cy="4206240"/>
          </a:xfrm>
          <a:prstGeom prst="roundRect">
            <a:avLst>
              <a:gd name="adj" fmla="val 1304"/>
            </a:avLst>
          </a:prstGeom>
          <a:solidFill>
            <a:srgbClr val="111111"/>
          </a:solidFill>
          <a:ln w="9525">
            <a:solidFill>
              <a:srgbClr val="111111"/>
            </a:solidFill>
            <a:prstDash val="solid"/>
          </a:ln>
        </p:spPr>
      </p:sp>
      <p:sp>
        <p:nvSpPr>
          <p:cNvPr id="8" name="appx-run-h"/>
          <p:cNvSpPr txBox="1"/>
          <p:nvPr/>
        </p:nvSpPr>
        <p:spPr>
          <a:xfrm>
            <a:off x="6355080" y="1691640"/>
            <a:ext cx="5029200" cy="320040"/>
          </a:xfrm>
          <a:prstGeom prst="rect">
            <a:avLst/>
          </a:prstGeom>
          <a:noFill/>
          <a:ln/>
        </p:spPr>
        <p:txBody>
          <a:bodyPr wrap="square" lIns="0" tIns="0" rIns="0" bIns="0" rtlCol="0" anchor="t"/>
          <a:lstStyle/>
          <a:p>
            <a:pPr indent="0" marL="0">
              <a:buNone/>
            </a:pPr>
            <a:r>
              <a:rPr lang="en-US" sz="1400" b="1" dirty="0">
                <a:solidFill>
                  <a:srgbClr val="E10600"/>
                </a:solidFill>
              </a:rPr>
              <a:t>실행 순서 (저장소 루트)</a:t>
            </a:r>
            <a:endParaRPr lang="en-US" sz="1400" dirty="0"/>
          </a:p>
        </p:txBody>
      </p:sp>
      <p:sp>
        <p:nvSpPr>
          <p:cNvPr id="9" name="appx-run-code"/>
          <p:cNvSpPr txBox="1"/>
          <p:nvPr/>
        </p:nvSpPr>
        <p:spPr>
          <a:xfrm>
            <a:off x="6355080" y="2103120"/>
            <a:ext cx="5120640" cy="3474720"/>
          </a:xfrm>
          <a:prstGeom prst="rect">
            <a:avLst/>
          </a:prstGeom>
          <a:noFill/>
          <a:ln/>
        </p:spPr>
        <p:txBody>
          <a:bodyPr wrap="square" lIns="0" tIns="0" rIns="0" bIns="0" rtlCol="0" anchor="t"/>
          <a:lstStyle/>
          <a:p>
            <a:pPr indent="0" marL="0">
              <a:buNone/>
            </a:pPr>
            <a:r>
              <a:rPr lang="en-US" sz="1200" dirty="0">
                <a:solidFill>
                  <a:srgbClr val="E5E5E5"/>
                </a:solidFill>
                <a:latin typeface="Consolas" pitchFamily="34" charset="0"/>
                <a:ea typeface="Consolas" pitchFamily="34" charset="-122"/>
                <a:cs typeface="Consolas" pitchFamily="34" charset="-120"/>
              </a:rPr>
              <a:t>python -m pipeline.extra_data</a:t>
            </a: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python -m pipeline.recovery</a:t>
            </a: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python -m pipeline.validate_cleaned</a:t>
            </a: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mysql &lt; sql/01 → 02 → 03(mysql84) → 04 → 05 → 06</a:t>
            </a: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python web/manage.py load_board_gold</a:t>
            </a: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python web/manage.py build_gold</a:t>
            </a:r>
            <a:endParaRPr lang="en-US" sz="1200" dirty="0"/>
          </a:p>
          <a:p>
            <a:pPr indent="0" marL="0">
              <a:buNone/>
            </a:pPr>
            <a:endParaRPr lang="en-US" sz="1200" dirty="0"/>
          </a:p>
          <a:p>
            <a:pPr indent="0" marL="0">
              <a:buNone/>
            </a:pPr>
            <a:r>
              <a:rPr lang="en-US" sz="1200" dirty="0">
                <a:solidFill>
                  <a:srgbClr val="E5E5E5"/>
                </a:solidFill>
                <a:latin typeface="Consolas" pitchFamily="34" charset="0"/>
                <a:ea typeface="Consolas" pitchFamily="34" charset="-122"/>
                <a:cs typeface="Consolas" pitchFamily="34" charset="-120"/>
              </a:rPr>
              <a:t>또는 /ops/ 관리자 화면 → '전체 실행' (약 9분)</a:t>
            </a:r>
            <a:endParaRPr lang="en-US" sz="1200" dirty="0"/>
          </a:p>
        </p:txBody>
      </p:sp>
      <p:sp>
        <p:nvSpPr>
          <p:cNvPr id="10" name="takeaway"/>
          <p:cNvSpPr txBox="1"/>
          <p:nvPr/>
        </p:nvSpPr>
        <p:spPr>
          <a:xfrm>
            <a:off x="548640" y="5870448"/>
            <a:ext cx="11109960" cy="411480"/>
          </a:xfrm>
          <a:prstGeom prst="rect">
            <a:avLst/>
          </a:prstGeom>
          <a:noFill/>
          <a:ln/>
        </p:spPr>
        <p:txBody>
          <a:bodyPr wrap="square" lIns="0" tIns="0" rIns="0" bIns="0" rtlCol="0" anchor="t"/>
          <a:lstStyle/>
          <a:p>
            <a:pPr indent="0" marL="0">
              <a:buNone/>
            </a:pPr>
            <a:r>
              <a:rPr lang="en-US" sz="1400" b="1" dirty="0">
                <a:solidFill>
                  <a:srgbClr val="E10600"/>
                </a:solidFill>
              </a:rPr>
              <a:t>→  </a:t>
            </a:r>
            <a:pPr indent="0" marL="0">
              <a:buNone/>
            </a:pPr>
            <a:r>
              <a:rPr lang="en-US" sz="1400" dirty="0">
                <a:solidFill>
                  <a:srgbClr val="1A1A1A"/>
                </a:solidFill>
              </a:rPr>
              <a:t>전체 실행 후 확인: 적재 대사 13개 테이블 차이 0, 포인트 합 일치, Gold 적재 후 원천과 값 일치</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latin typeface="Malgun Gothic"/>
                <a:ea typeface="Malgun Gothic"/>
                <a:cs typeface="Malgun Gothic"/>
              </a:defRPr>
            </a:lvl1pPr>
          </a:lstStyle>
          <a:p>
            <a:pPr algn="r"/>
            <a:fld id="{F7021451-1387-4CA6-816F-3879F97B5CBC}" type="slidenum">
              <a:rPr b="0" lang="en-US"/>
              <a:t>25</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731520"/>
          </a:xfrm>
          <a:prstGeom prst="rect">
            <a:avLst/>
          </a:prstGeom>
          <a:noFill/>
          <a:ln/>
        </p:spPr>
        <p:txBody>
          <a:bodyPr wrap="square" lIns="0" tIns="0" rIns="0" bIns="0" rtlCol="0" anchor="ctr"/>
          <a:lstStyle/>
          <a:p>
            <a:pPr algn="l" indent="0" marL="0">
              <a:buNone/>
            </a:pPr>
            <a:r>
              <a:rPr lang="en-US" sz="3000" b="1" dirty="0">
                <a:solidFill>
                  <a:srgbClr val="FFFFFF"/>
                </a:solidFill>
              </a:rPr>
              <a:t>한 장으로 다시</a:t>
            </a:r>
            <a:endParaRPr lang="en-US" sz="3000" dirty="0"/>
          </a:p>
        </p:txBody>
      </p:sp>
      <p:sp>
        <p:nvSpPr>
          <p:cNvPr id="3" name="closing-text"/>
          <p:cNvSpPr txBox="1"/>
          <p:nvPr/>
        </p:nvSpPr>
        <p:spPr>
          <a:xfrm>
            <a:off x="731520" y="1463040"/>
            <a:ext cx="10698480" cy="4114800"/>
          </a:xfrm>
          <a:prstGeom prst="rect">
            <a:avLst/>
          </a:prstGeom>
          <a:noFill/>
          <a:ln/>
        </p:spPr>
        <p:txBody>
          <a:bodyPr wrap="square" lIns="0" tIns="0" rIns="0" bIns="0" rtlCol="0" anchor="t"/>
          <a:lstStyle/>
          <a:p>
            <a:pPr indent="0" marL="0">
              <a:buNone/>
            </a:pPr>
            <a:r>
              <a:rPr lang="en-US" sz="2100" dirty="0">
                <a:solidFill>
                  <a:srgbClr val="FFFFFF"/>
                </a:solidFill>
              </a:rPr>
              <a:t>데이터는 믿을 수 있게 만들었고, </a:t>
            </a:r>
            <a:pPr indent="0" marL="0">
              <a:buNone/>
            </a:pPr>
            <a:r>
              <a:rPr lang="en-US" sz="2100" b="1" dirty="0">
                <a:solidFill>
                  <a:srgbClr val="E10600"/>
                </a:solidFill>
              </a:rPr>
              <a:t>2025 Aston Martin의 약점은 기본 페이스와 피트 운영</a:t>
            </a:r>
            <a:pPr indent="0" marL="0">
              <a:buNone/>
            </a:pPr>
            <a:r>
              <a:rPr lang="en-US" sz="2100" dirty="0">
                <a:solidFill>
                  <a:srgbClr val="FFFFFF"/>
                </a:solidFill>
              </a:rPr>
              <a:t>이다. 6~9위가 18점 안에 모인 접전이라 작은 차이가 순위를 바꾼다.</a:t>
            </a:r>
            <a:endParaRPr lang="en-US" sz="2100" dirty="0"/>
          </a:p>
          <a:p>
            <a:pPr indent="0" marL="0">
              <a:buNone/>
            </a:pPr>
            <a:endParaRPr lang="en-US" sz="2100" dirty="0"/>
          </a:p>
          <a:p>
            <a:pPr indent="0" marL="0">
              <a:buNone/>
            </a:pPr>
            <a:r>
              <a:rPr lang="en-US" sz="2100" dirty="0">
                <a:solidFill>
                  <a:srgbClr val="FFFFFF"/>
                </a:solidFill>
              </a:rPr>
              <a:t>STROLL 자리의 우선 검토 후보는 </a:t>
            </a:r>
            <a:endParaRPr lang="en-US" sz="2100" dirty="0"/>
          </a:p>
          <a:p>
            <a:pPr indent="0" marL="0">
              <a:buNone/>
            </a:pPr>
            <a:r>
              <a:rPr lang="en-US" sz="2100" b="1" dirty="0">
                <a:solidFill>
                  <a:srgbClr val="E10600"/>
                </a:solidFill>
              </a:rPr>
              <a:t>LECLERC(1순위)와 RUSSELL이다. 같은 경기·같은 차 비교를 모든 조건에서 통과한 두 명이고, 같은 동료 HAMILTON 기준으로 재면 LECLERC가 앞선다. 가장 빠른 NORRIS·VERSTAPPEN·PIASTRI는 차량 이점을 배제하지 못했다.</a:t>
            </a:r>
            <a:pPr indent="0" marL="0">
              <a:buNone/>
            </a:pPr>
            <a:r>
              <a:rPr lang="en-US" sz="2100" dirty="0">
                <a:solidFill>
                  <a:srgbClr val="FFFFFF"/>
                </a:solidFill>
              </a:rPr>
              <a:t/>
            </a:r>
            <a:endParaRPr lang="en-US" sz="2100" dirty="0"/>
          </a:p>
          <a:p>
            <a:pPr indent="0" marL="0">
              <a:buNone/>
            </a:pPr>
            <a:endParaRPr lang="en-US" sz="2100" dirty="0"/>
          </a:p>
          <a:p>
            <a:pPr indent="0" marL="0">
              <a:buNone/>
            </a:pPr>
            <a:r>
              <a:rPr lang="en-US" sz="2100" dirty="0">
                <a:solidFill>
                  <a:srgbClr val="FFFFFF"/>
                </a:solidFill>
              </a:rPr>
              <a:t>영입과 별개로, </a:t>
            </a:r>
            <a:endParaRPr lang="en-US" sz="2100" dirty="0"/>
          </a:p>
          <a:p>
            <a:pPr indent="0" marL="0">
              <a:buNone/>
            </a:pPr>
            <a:r>
              <a:rPr lang="en-US" sz="2100" b="1" dirty="0">
                <a:solidFill>
                  <a:srgbClr val="E10600"/>
                </a:solidFill>
              </a:rPr>
              <a:t>타 팀보다 0.28초 늦은 피트는 지금 바로 점검</a:t>
            </a:r>
            <a:pPr indent="0" marL="0">
              <a:buNone/>
            </a:pPr>
            <a:r>
              <a:rPr lang="en-US" sz="2100" dirty="0">
                <a:solidFill>
                  <a:srgbClr val="FFFFFF"/>
                </a:solidFill>
              </a:rPr>
              <a:t>할 수 있다.</a:t>
            </a:r>
            <a:endParaRPr lang="en-US" sz="2100" dirty="0"/>
          </a:p>
        </p:txBody>
      </p:sp>
      <p:sp>
        <p:nvSpPr>
          <p:cNvPr id="4" name="closing-rule"/>
          <p:cNvSpPr/>
          <p:nvPr/>
        </p:nvSpPr>
        <p:spPr>
          <a:xfrm>
            <a:off x="731520" y="5806440"/>
            <a:ext cx="10698480" cy="0"/>
          </a:xfrm>
          <a:prstGeom prst="line">
            <a:avLst/>
          </a:prstGeom>
          <a:noFill/>
          <a:ln w="9525">
            <a:solidFill>
              <a:srgbClr val="3A3A3A"/>
            </a:solidFill>
            <a:prstDash val="solid"/>
          </a:ln>
        </p:spPr>
        <p:txBody>
          <a:bodyPr/>
          <a:p/>
        </p:txBody>
      </p:sp>
      <p:sp>
        <p:nvSpPr>
          <p:cNvPr id="5" name="closing-foot"/>
          <p:cNvSpPr txBox="1"/>
          <p:nvPr/>
        </p:nvSpPr>
        <p:spPr>
          <a:xfrm>
            <a:off x="731520" y="5943600"/>
            <a:ext cx="10698480" cy="320040"/>
          </a:xfrm>
          <a:prstGeom prst="rect">
            <a:avLst/>
          </a:prstGeom>
          <a:noFill/>
          <a:ln/>
        </p:spPr>
        <p:txBody>
          <a:bodyPr wrap="square" lIns="0" tIns="0" rIns="0" bIns="0" rtlCol="0" anchor="t"/>
          <a:lstStyle/>
          <a:p>
            <a:pPr indent="0" marL="0">
              <a:buNone/>
            </a:pPr>
            <a:r>
              <a:rPr lang="en-US" sz="1100" dirty="0">
                <a:solidFill>
                  <a:srgbClr val="8C8C8C"/>
                </a:solidFill>
              </a:rPr>
              <a:t>모든 숫자는 2023 ~ 2026-10-14 종료 본경기 87경기 · 정제 v0.3.0 (후보 지표 Gold는 v0.2.0) · 본경기 기본 포인트(Sprint·보너스 제외) · Team 1</a:t>
            </a:r>
            <a:endParaRPr lang="en-US" sz="1100" dirty="0"/>
          </a:p>
        </p:txBody>
      </p:sp>
    </p:spTree>
  </p:cSld>
  <p:clrMapOvr>
    <a:masterClrMapping/>
  </p:clrMapOvr>
</p:sld>
</file>

<file path=ppt/theme/theme1.xml><?xml version="1.0" encoding="utf-8"?>
<a:theme xmlns:a="http://schemas.openxmlformats.org/drawingml/2006/main" name="Red Black White">
  <a:themeElements>
    <a:clrScheme name="Red Black White">
      <a:dk1>
        <a:srgbClr val="1A1A1A"/>
      </a:dk1>
      <a:lt1>
        <a:srgbClr val="FFFFFF"/>
      </a:lt1>
      <a:dk2>
        <a:srgbClr val="6B6B6B"/>
      </a:dk2>
      <a:lt2>
        <a:srgbClr val="F4F4F4"/>
      </a:lt2>
      <a:accent1>
        <a:srgbClr val="E10600"/>
      </a:accent1>
      <a:accent2>
        <a:srgbClr val="1A1A1A"/>
      </a:accent2>
      <a:accent3>
        <a:srgbClr val="8C8C8C"/>
      </a:accent3>
      <a:accent4>
        <a:srgbClr val="B5B5B5"/>
      </a:accent4>
      <a:accent5>
        <a:srgbClr val="E5E5E5"/>
      </a:accent5>
      <a:accent6>
        <a:srgbClr val="7A0300"/>
      </a:accent6>
      <a:hlink>
        <a:srgbClr val="E10600"/>
      </a:hlink>
      <a:folHlink>
        <a:srgbClr val="6B6B6B"/>
      </a:folHlink>
    </a:clrScheme>
    <a:fontScheme name="Red Black Whit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Team 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Team Builder — 데이터 분석 보고</dc:title>
  <dc:subject>PptxGenJS Presentation</dc:subject>
  <dc:creator>Team 1</dc:creator>
  <cp:lastModifiedBy>Team 1</cp:lastModifiedBy>
  <cp:revision>1</cp:revision>
  <dcterms:created xsi:type="dcterms:W3CDTF">2026-10-15T11:21:14Z</dcterms:created>
  <dcterms:modified xsi:type="dcterms:W3CDTF">2026-10-15T11:21:14Z</dcterms:modified>
</cp:coreProperties>
</file>