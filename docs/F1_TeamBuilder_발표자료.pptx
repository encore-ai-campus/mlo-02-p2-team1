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6.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db7b852e-a186-0182-d70d-5888453eb2e0}">
          <p14:sldIdLst>
            <p14:sldId id="256"/>
          </p14:sldIdLst>
        </p14:section>
        <p14:section name="요약" id="{ebb54058-c029-d0ef-78b2-f070d056d6bf}">
          <p14:sldIdLst>
            <p14:sldId id="257"/>
            <p14:sldId id="258"/>
          </p14:sldIdLst>
        </p14:section>
        <p14:section name="데이터" id="{9bb499c3-32c3-07e7-496e-9125632df322}">
          <p14:sldIdLst>
            <p14:sldId id="259"/>
            <p14:sldId id="260"/>
            <p14:sldId id="261"/>
            <p14:sldId id="262"/>
            <p14:sldId id="263"/>
          </p14:sldIdLst>
        </p14:section>
        <p14:section name="분석" id="{7b235a77-9228-b691-e036-9d014fff69ff}">
          <p14:sldIdLst>
            <p14:sldId id="264"/>
            <p14:sldId id="265"/>
            <p14:sldId id="266"/>
            <p14:sldId id="267"/>
            <p14:sldId id="268"/>
            <p14:sldId id="269"/>
            <p14:sldId id="270"/>
            <p14:sldId id="271"/>
            <p14:sldId id="272"/>
          </p14:sldIdLst>
        </p14:section>
        <p14:section name="마무리" id="{376141f9-10f6-cd17-8955-3df8150a9f93}">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FFFFF"/>
                </a:solidFill>
                <a:latin typeface="+mn-lt"/>
              </a:defRPr>
            </a:pPr>
            <a:r>
              <a:rPr sz="1300" b="0" i="0" u="none" strike="noStrike">
                <a:solidFill>
                  <a:srgbClr val="FFFFFF"/>
                </a:solidFill>
                <a:latin typeface="+mn-lt"/>
              </a:rPr>
              <a:t>오류 유형별 탐지 건수</a:t>
            </a:r>
          </a:p>
        </c:rich>
      </c:tx>
      <c:layout/>
      <c:overlay val="0"/>
    </c:title>
    <c:autoTitleDeleted val="0"/>
    <c:plotArea>
      <c:layout/>
      <c:barChart>
        <c:barDir val="bar"/>
        <c:grouping val="clustered"/>
        <c:varyColors val="0"/>
        <c:ser>
          <c:idx val="0"/>
          <c:order val="0"/>
          <c:tx>
            <c:strRef>
              <c:f>Sheet1!$B$1</c:f>
              <c:strCache>
                <c:ptCount val="1"/>
                <c:pt idx="0">
                  <c:v>탐지</c:v>
                </c:pt>
              </c:strCache>
            </c:strRef>
          </c:tx>
          <c:spPr>
            <a:solidFill>
              <a:srgbClr val="E10600"/>
            </a:solidFill>
            <a:effectLst/>
          </c:spPr>
          <c:invertIfNegative val="0"/>
          <c:dLbls>
            <c:numFmt formatCode="#,##0" sourceLinked="0"/>
            <c:txPr>
              <a:bodyPr/>
              <a:lstStyle/>
              <a:p>
                <a:pPr>
                  <a:defRPr b="0" i="0" strike="noStrike" sz="1000" u="none">
                    <a:solidFill>
                      <a:srgbClr val="FFFFFF"/>
                    </a:solidFill>
                    <a:latin typeface="+mn-lt"/>
                  </a:defRPr>
                </a:pPr>
              </a:p>
            </c:txPr>
            <c:showLegendKey val="0"/>
            <c:showVal val="1"/>
            <c:showCatName val="0"/>
            <c:showSerName val="0"/>
            <c:showPercent val="0"/>
            <c:showBubbleSize val="0"/>
            <c:showLeaderLines val="0"/>
          </c:dLbls>
          <c:cat>
            <c:multiLvlStrRef>
              <c:f>Sheet1!$A$2:$A$9</c:f>
              <c:multiLvlStrCache>
                <c:ptCount val="8"/>
                <c:lvl>
                  <c:pt idx="0">
                    <c:v>결측</c:v>
                  </c:pt>
                  <c:pt idx="1">
                    <c:v>이상치</c:v>
                  </c:pt>
                  <c:pt idx="2">
                    <c:v>값 오류</c:v>
                  </c:pt>
                  <c:pt idx="3">
                    <c:v>값 뒤바뀜</c:v>
                  </c:pt>
                  <c:pt idx="4">
                    <c:v>파일 내 불일치</c:v>
                  </c:pt>
                  <c:pt idx="5">
                    <c:v>구간 중첩</c:v>
                  </c:pt>
                  <c:pt idx="6">
                    <c:v>파일 간 불일치</c:v>
                  </c:pt>
                  <c:pt idx="7">
                    <c:v>참조 무결성</c:v>
                  </c:pt>
                </c:lvl>
              </c:multiLvlStrCache>
            </c:multiLvlStrRef>
          </c:cat>
          <c:val>
            <c:numRef>
              <c:f>Sheet1!$B$2:$B$9</c:f>
              <c:numCache>
                <c:formatCode>General</c:formatCode>
                <c:ptCount val="8"/>
                <c:pt idx="0">
                  <c:v>27485</c:v>
                </c:pt>
                <c:pt idx="1">
                  <c:v>416</c:v>
                </c:pt>
                <c:pt idx="2">
                  <c:v>99</c:v>
                </c:pt>
                <c:pt idx="3">
                  <c:v>24</c:v>
                </c:pt>
                <c:pt idx="4">
                  <c:v>22</c:v>
                </c:pt>
                <c:pt idx="5">
                  <c:v>3</c:v>
                </c:pt>
                <c:pt idx="6">
                  <c:v>2</c:v>
                </c:pt>
                <c:pt idx="7">
                  <c:v>1</c:v>
                </c:pt>
              </c:numCache>
            </c:numRef>
          </c:val>
        </c:ser>
        <c:dLbls>
          <c:numFmt formatCode="#,##0" sourceLinked="0"/>
          <c:txPr>
            <a:bodyPr/>
            <a:lstStyle/>
            <a:p>
              <a:pPr>
                <a:defRPr b="0" i="0" strike="noStrike" sz="1000" u="none">
                  <a:solidFill>
                    <a:srgbClr val="FFFFFF"/>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B9BAC4"/>
                </a:solidFill>
                <a:latin typeface="+mn-lt"/>
              </a:defRPr>
            </a:pPr>
            <a:endParaRPr lang="en-US"/>
          </a:p>
        </c:txPr>
        <c:crossAx val="2094734552"/>
        <c:crosses val="autoZero"/>
        <c:auto val="1"/>
        <c:lblAlgn val="ctr"/>
        <c:noMultiLvlLbl val="1"/>
      </c:catAx>
      <c:valAx>
        <c:axId val="2094734552"/>
        <c:scaling>
          <c:logBase val="10"/>
          <c:orientation val="minMax"/>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B9BAC4"/>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검증</c:v>
                </c:pt>
              </c:strCache>
            </c:strRef>
          </c:tx>
          <c:spPr>
            <a:solidFill>
              <a:schemeClr val="accent1"/>
            </a:solidFill>
            <a:ln w="9525" cap="flat">
              <a:solidFill>
                <a:srgbClr val="F9F9F9"/>
              </a:solidFill>
              <a:prstDash val="solid"/>
              <a:round/>
            </a:ln>
            <a:effectLst/>
          </c:spPr>
          <c:dPt>
            <c:idx val="0"/>
            <c:bubble3D val="0"/>
            <c:spPr>
              <a:solidFill>
                <a:srgbClr val="2BD47D"/>
              </a:solidFill>
              <a:effectLst/>
            </c:spPr>
          </c:dPt>
          <c:dPt>
            <c:idx val="1"/>
            <c:bubble3D val="0"/>
            <c:spPr>
              <a:solidFill>
                <a:srgbClr val="8A8D9A"/>
              </a:solidFill>
              <a:effectLst/>
            </c:spPr>
          </c:dPt>
          <c:dPt>
            <c:idx val="2"/>
            <c:bubble3D val="0"/>
            <c:spPr>
              <a:solidFill>
                <a:srgbClr val="FF8700"/>
              </a:solidFill>
              <a:effectLst/>
            </c:spPr>
          </c:dPt>
          <c:dPt>
            <c:idx val="3"/>
            <c:bubble3D val="0"/>
            <c:spPr>
              <a:solidFill>
                <a:srgbClr val="E10600"/>
              </a:solidFill>
              <a:effectLst/>
            </c:spPr>
          </c:dPt>
          <c:dLbls>
            <c:dLbl>
              <c:idx val="0"/>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PASS</c:v>
                </c:pt>
                <c:pt idx="1">
                  <c:v>INFO</c:v>
                </c:pt>
                <c:pt idx="2">
                  <c:v>WARN</c:v>
                </c:pt>
                <c:pt idx="3">
                  <c:v>FAIL</c:v>
                </c:pt>
              </c:strCache>
            </c:strRef>
          </c:cat>
          <c:val>
            <c:numRef>
              <c:f>Sheet1!$B$2:$B$5</c:f>
              <c:numCache>
                <c:ptCount val="4"/>
                <c:pt idx="0">
                  <c:v>124</c:v>
                </c:pt>
                <c:pt idx="1">
                  <c:v>20</c:v>
                </c:pt>
                <c:pt idx="2">
                  <c:v>7</c:v>
                </c:pt>
                <c:pt idx="3">
                  <c:v>0</c:v>
                </c:pt>
              </c:numCache>
            </c:numRef>
          </c:val>
        </c:ser>
        <c:firstSliceAng val="0"/>
        <c:holeSize val="62"/>
      </c:doughnutChart>
      <c:spPr>
        <a:noFill/>
        <a:ln>
          <a:noFill/>
        </a:ln>
        <a:effectLst/>
      </c:spPr>
    </c:plotArea>
    <c:legend>
      <c:legendPos val="b"/>
      <c:overlay val="0"/>
      <c:txPr>
        <a:bodyPr/>
        <a:lstStyle/>
        <a:p>
          <a:pPr>
            <a:defRPr sz="1100">
              <a:solidFill>
                <a:srgbClr val="B9BAC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FFFFF"/>
                </a:solidFill>
                <a:latin typeface="+mn-lt"/>
              </a:defRPr>
            </a:pPr>
            <a:r>
              <a:rPr sz="1300" b="0" i="0" u="none" strike="noStrike">
                <a:solidFill>
                  <a:srgbClr val="FFFFFF"/>
                </a:solidFill>
                <a:latin typeface="+mn-lt"/>
              </a:rPr>
              <a:t>2025 필드 상대 페이스 (%, 낮을수록 빠름)</a:t>
            </a:r>
          </a:p>
        </c:rich>
      </c:tx>
      <c:layout/>
      <c:overlay val="0"/>
    </c:title>
    <c:autoTitleDeleted val="0"/>
    <c:plotArea>
      <c:layout/>
      <c:barChart>
        <c:barDir val="bar"/>
        <c:grouping val="stacked"/>
        <c:varyColors val="0"/>
        <c:ser>
          <c:idx val="0"/>
          <c:order val="0"/>
          <c:tx>
            <c:strRef>
              <c:f>Sheet1!$B$1</c:f>
              <c:strCache>
                <c:ptCount val="1"/>
                <c:pt idx="0">
                  <c:v>기타</c:v>
                </c:pt>
              </c:strCache>
            </c:strRef>
          </c:tx>
          <c:spPr>
            <a:solidFill>
              <a:srgbClr val="8A8D9A"/>
            </a:solidFill>
            <a:effectLst/>
          </c:spPr>
          <c:invertIfNegative val="0"/>
          <c:dLbls>
            <c:numFmt formatCode="+0.00;-0.00;;" sourceLinked="0"/>
            <c:txPr>
              <a:bodyPr/>
              <a:lstStyle/>
              <a:p>
                <a:pPr>
                  <a:defRPr b="0"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Sheet1!$A$2:$A$11</c:f>
              <c:multiLvlStrCache>
                <c:ptCount val="10"/>
                <c:lvl>
                  <c:pt idx="0">
                    <c:v>McLaren</c:v>
                  </c:pt>
                  <c:pt idx="1">
                    <c:v>Ferrari</c:v>
                  </c:pt>
                  <c:pt idx="2">
                    <c:v>Mercedes</c:v>
                  </c:pt>
                  <c:pt idx="3">
                    <c:v>Red Bull Racing</c:v>
                  </c:pt>
                  <c:pt idx="4">
                    <c:v>Williams</c:v>
                  </c:pt>
                  <c:pt idx="5">
                    <c:v>Racing Bulls</c:v>
                  </c:pt>
                  <c:pt idx="6">
                    <c:v>Aston Martin</c:v>
                  </c:pt>
                  <c:pt idx="7">
                    <c:v>Haas F1 Team</c:v>
                  </c:pt>
                  <c:pt idx="8">
                    <c:v>Kick Sauber</c:v>
                  </c:pt>
                  <c:pt idx="9">
                    <c:v>Alpine</c:v>
                  </c:pt>
                </c:lvl>
              </c:multiLvlStrCache>
            </c:multiLvlStrRef>
          </c:cat>
          <c:val>
            <c:numRef>
              <c:f>Sheet1!$B$2:$B$11</c:f>
              <c:numCache>
                <c:formatCode>General</c:formatCode>
                <c:ptCount val="10"/>
                <c:pt idx="0">
                  <c:v>-1.162</c:v>
                </c:pt>
                <c:pt idx="1">
                  <c:v>-0.566</c:v>
                </c:pt>
                <c:pt idx="2">
                  <c:v>-0.336</c:v>
                </c:pt>
                <c:pt idx="3">
                  <c:v>-0.287</c:v>
                </c:pt>
                <c:pt idx="4">
                  <c:v>0.198</c:v>
                </c:pt>
                <c:pt idx="5">
                  <c:v>0.285</c:v>
                </c:pt>
                <c:pt idx="6">
                  <c:v>0</c:v>
                </c:pt>
                <c:pt idx="7">
                  <c:v>0.504</c:v>
                </c:pt>
                <c:pt idx="8">
                  <c:v>0.61</c:v>
                </c:pt>
                <c:pt idx="9">
                  <c:v>0.792</c:v>
                </c:pt>
              </c:numCache>
            </c:numRef>
          </c:val>
        </c:ser>
        <c:ser>
          <c:idx val="1"/>
          <c:order val="1"/>
          <c:tx>
            <c:strRef>
              <c:f>Sheet1!$C$1</c:f>
              <c:strCache>
                <c:ptCount val="1"/>
                <c:pt idx="0">
                  <c:v>Aston Martin</c:v>
                </c:pt>
              </c:strCache>
            </c:strRef>
          </c:tx>
          <c:spPr>
            <a:solidFill>
              <a:srgbClr val="E10600"/>
            </a:solidFill>
            <a:effectLst/>
          </c:spPr>
          <c:invertIfNegative val="0"/>
          <c:dLbls>
            <c:numFmt formatCode="+0.00;-0.00;;" sourceLinked="0"/>
            <c:txPr>
              <a:bodyPr/>
              <a:lstStyle/>
              <a:p>
                <a:pPr>
                  <a:defRPr b="0"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Sheet1!$A$2:$A$11</c:f>
              <c:multiLvlStrCache>
                <c:ptCount val="10"/>
                <c:lvl>
                  <c:pt idx="0">
                    <c:v>McLaren</c:v>
                  </c:pt>
                  <c:pt idx="1">
                    <c:v>Ferrari</c:v>
                  </c:pt>
                  <c:pt idx="2">
                    <c:v>Mercedes</c:v>
                  </c:pt>
                  <c:pt idx="3">
                    <c:v>Red Bull Racing</c:v>
                  </c:pt>
                  <c:pt idx="4">
                    <c:v>Williams</c:v>
                  </c:pt>
                  <c:pt idx="5">
                    <c:v>Racing Bulls</c:v>
                  </c:pt>
                  <c:pt idx="6">
                    <c:v>Aston Martin</c:v>
                  </c:pt>
                  <c:pt idx="7">
                    <c:v>Haas F1 Team</c:v>
                  </c:pt>
                  <c:pt idx="8">
                    <c:v>Kick Sauber</c:v>
                  </c:pt>
                  <c:pt idx="9">
                    <c:v>Alpine</c:v>
                  </c:pt>
                </c:lvl>
              </c:multiLvlStrCache>
            </c:multiLvlStrRef>
          </c:cat>
          <c:val>
            <c:numRef>
              <c:f>Sheet1!$C$2:$C$11</c:f>
              <c:numCache>
                <c:formatCode>General</c:formatCode>
                <c:ptCount val="10"/>
                <c:pt idx="0">
                  <c:v>0</c:v>
                </c:pt>
                <c:pt idx="1">
                  <c:v>0</c:v>
                </c:pt>
                <c:pt idx="2">
                  <c:v>0</c:v>
                </c:pt>
                <c:pt idx="3">
                  <c:v>0</c:v>
                </c:pt>
                <c:pt idx="4">
                  <c:v>0</c:v>
                </c:pt>
                <c:pt idx="5">
                  <c:v>0</c:v>
                </c:pt>
                <c:pt idx="6">
                  <c:v>0.46</c:v>
                </c:pt>
                <c:pt idx="7">
                  <c:v>0</c:v>
                </c:pt>
                <c:pt idx="8">
                  <c:v>0</c:v>
                </c:pt>
                <c:pt idx="9">
                  <c:v>0</c:v>
                </c:pt>
              </c:numCache>
            </c:numRef>
          </c:val>
        </c:ser>
        <c:dLbls>
          <c:numFmt formatCode="+0.00;-0.00;;" sourceLinked="0"/>
          <c:txPr>
            <a:bodyPr/>
            <a:lstStyle/>
            <a:p>
              <a:pPr>
                <a:defRPr b="0"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B9BAC4"/>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33333F"/>
              </a:solidFill>
              <a:prstDash val="solid"/>
              <a:round/>
            </a:ln>
          </c:spPr>
        </c:majorGridlines>
        <c:numFmt formatCode="0.0" sourceLinked="0"/>
        <c:majorTickMark val="out"/>
        <c:minorTickMark val="none"/>
        <c:tickLblPos val="low"/>
        <c:spPr>
          <a:ln w="12700" cap="flat">
            <a:noFill/>
            <a:prstDash val="solid"/>
            <a:round/>
          </a:ln>
        </c:spPr>
        <c:txPr>
          <a:bodyPr/>
          <a:lstStyle/>
          <a:p>
            <a:pPr>
              <a:defRPr sz="1000" b="0" i="0" u="none" strike="noStrike">
                <a:solidFill>
                  <a:srgbClr val="B9BAC4"/>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FFFFF"/>
                </a:solidFill>
                <a:latin typeface="+mn-lt"/>
              </a:defRPr>
            </a:pPr>
            <a:r>
              <a:rPr sz="1300" b="0" i="0" u="none" strike="noStrike">
                <a:solidFill>
                  <a:srgbClr val="FFFFFF"/>
                </a:solidFill>
                <a:latin typeface="+mn-lt"/>
              </a:rPr>
              <a:t>2025 팀별 본경기 기본 포인트</a:t>
            </a:r>
          </a:p>
        </c:rich>
      </c:tx>
      <c:layout/>
      <c:overlay val="0"/>
    </c:title>
    <c:autoTitleDeleted val="0"/>
    <c:plotArea>
      <c:layout/>
      <c:barChart>
        <c:barDir val="bar"/>
        <c:grouping val="stacked"/>
        <c:varyColors val="0"/>
        <c:ser>
          <c:idx val="0"/>
          <c:order val="0"/>
          <c:tx>
            <c:strRef>
              <c:f>Sheet1!$B$1</c:f>
              <c:strCache>
                <c:ptCount val="1"/>
                <c:pt idx="0">
                  <c:v>기타</c:v>
                </c:pt>
              </c:strCache>
            </c:strRef>
          </c:tx>
          <c:spPr>
            <a:solidFill>
              <a:srgbClr val="8A8D9A"/>
            </a:solidFill>
            <a:effectLst/>
          </c:spPr>
          <c:invertIfNegative val="0"/>
          <c:dLbls>
            <c:numFmt formatCode="#,##0;;;" sourceLinked="0"/>
            <c:txPr>
              <a:bodyPr/>
              <a:lstStyle/>
              <a:p>
                <a:pPr>
                  <a:defRPr b="0"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Sheet1!$A$2:$A$11</c:f>
              <c:multiLvlStrCache>
                <c:ptCount val="10"/>
                <c:lvl>
                  <c:pt idx="0">
                    <c:v>McLaren</c:v>
                  </c:pt>
                  <c:pt idx="1">
                    <c:v>Mercedes</c:v>
                  </c:pt>
                  <c:pt idx="2">
                    <c:v>Red Bull Racing</c:v>
                  </c:pt>
                  <c:pt idx="3">
                    <c:v>Ferrari</c:v>
                  </c:pt>
                  <c:pt idx="4">
                    <c:v>Williams</c:v>
                  </c:pt>
                  <c:pt idx="5">
                    <c:v>Racing Bulls</c:v>
                  </c:pt>
                  <c:pt idx="6">
                    <c:v>Aston Martin</c:v>
                  </c:pt>
                  <c:pt idx="7">
                    <c:v>Haas F1 Team</c:v>
                  </c:pt>
                  <c:pt idx="8">
                    <c:v>Kick Sauber</c:v>
                  </c:pt>
                  <c:pt idx="9">
                    <c:v>Alpine</c:v>
                  </c:pt>
                </c:lvl>
              </c:multiLvlStrCache>
            </c:multiLvlStrRef>
          </c:cat>
          <c:val>
            <c:numRef>
              <c:f>Sheet1!$B$2:$B$11</c:f>
              <c:numCache>
                <c:formatCode>General</c:formatCode>
                <c:ptCount val="10"/>
                <c:pt idx="0">
                  <c:v>775</c:v>
                </c:pt>
                <c:pt idx="1">
                  <c:v>424</c:v>
                </c:pt>
                <c:pt idx="2">
                  <c:v>410</c:v>
                </c:pt>
                <c:pt idx="3">
                  <c:v>360</c:v>
                </c:pt>
                <c:pt idx="4">
                  <c:v>124</c:v>
                </c:pt>
                <c:pt idx="5">
                  <c:v>88</c:v>
                </c:pt>
                <c:pt idx="6">
                  <c:v>0</c:v>
                </c:pt>
                <c:pt idx="7">
                  <c:v>73</c:v>
                </c:pt>
                <c:pt idx="8">
                  <c:v>70</c:v>
                </c:pt>
                <c:pt idx="9">
                  <c:v>20</c:v>
                </c:pt>
              </c:numCache>
            </c:numRef>
          </c:val>
        </c:ser>
        <c:ser>
          <c:idx val="1"/>
          <c:order val="1"/>
          <c:tx>
            <c:strRef>
              <c:f>Sheet1!$C$1</c:f>
              <c:strCache>
                <c:ptCount val="1"/>
                <c:pt idx="0">
                  <c:v>Aston Martin</c:v>
                </c:pt>
              </c:strCache>
            </c:strRef>
          </c:tx>
          <c:spPr>
            <a:solidFill>
              <a:srgbClr val="E10600"/>
            </a:solidFill>
            <a:effectLst/>
          </c:spPr>
          <c:invertIfNegative val="0"/>
          <c:dLbls>
            <c:numFmt formatCode="#,##0;;;" sourceLinked="0"/>
            <c:txPr>
              <a:bodyPr/>
              <a:lstStyle/>
              <a:p>
                <a:pPr>
                  <a:defRPr b="0"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Sheet1!$A$2:$A$11</c:f>
              <c:multiLvlStrCache>
                <c:ptCount val="10"/>
                <c:lvl>
                  <c:pt idx="0">
                    <c:v>McLaren</c:v>
                  </c:pt>
                  <c:pt idx="1">
                    <c:v>Mercedes</c:v>
                  </c:pt>
                  <c:pt idx="2">
                    <c:v>Red Bull Racing</c:v>
                  </c:pt>
                  <c:pt idx="3">
                    <c:v>Ferrari</c:v>
                  </c:pt>
                  <c:pt idx="4">
                    <c:v>Williams</c:v>
                  </c:pt>
                  <c:pt idx="5">
                    <c:v>Racing Bulls</c:v>
                  </c:pt>
                  <c:pt idx="6">
                    <c:v>Aston Martin</c:v>
                  </c:pt>
                  <c:pt idx="7">
                    <c:v>Haas F1 Team</c:v>
                  </c:pt>
                  <c:pt idx="8">
                    <c:v>Kick Sauber</c:v>
                  </c:pt>
                  <c:pt idx="9">
                    <c:v>Alpine</c:v>
                  </c:pt>
                </c:lvl>
              </c:multiLvlStrCache>
            </c:multiLvlStrRef>
          </c:cat>
          <c:val>
            <c:numRef>
              <c:f>Sheet1!$C$2:$C$11</c:f>
              <c:numCache>
                <c:formatCode>General</c:formatCode>
                <c:ptCount val="10"/>
                <c:pt idx="0">
                  <c:v>0</c:v>
                </c:pt>
                <c:pt idx="1">
                  <c:v>0</c:v>
                </c:pt>
                <c:pt idx="2">
                  <c:v>0</c:v>
                </c:pt>
                <c:pt idx="3">
                  <c:v>0</c:v>
                </c:pt>
                <c:pt idx="4">
                  <c:v>0</c:v>
                </c:pt>
                <c:pt idx="5">
                  <c:v>0</c:v>
                </c:pt>
                <c:pt idx="6">
                  <c:v>80</c:v>
                </c:pt>
                <c:pt idx="7">
                  <c:v>0</c:v>
                </c:pt>
                <c:pt idx="8">
                  <c:v>0</c:v>
                </c:pt>
                <c:pt idx="9">
                  <c:v>0</c:v>
                </c:pt>
              </c:numCache>
            </c:numRef>
          </c:val>
        </c:ser>
        <c:dLbls>
          <c:numFmt formatCode="#,##0;;;" sourceLinked="0"/>
          <c:txPr>
            <a:bodyPr/>
            <a:lstStyle/>
            <a:p>
              <a:pPr>
                <a:defRPr b="0"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B9BAC4"/>
                </a:solidFill>
                <a:latin typeface="+mn-lt"/>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33333F"/>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B9BAC4"/>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FFFFF"/>
                </a:solidFill>
                <a:latin typeface="+mn-lt"/>
              </a:defRPr>
            </a:pPr>
            <a:r>
              <a:rPr sz="1300" b="0" i="0" u="none" strike="noStrike">
                <a:solidFill>
                  <a:srgbClr val="FFFFFF"/>
                </a:solidFill>
                <a:latin typeface="+mn-lt"/>
              </a:rPr>
              <a:t>2025 피트레인 시간 차이 (초, 같은 경기 타 팀 기준)</a:t>
            </a:r>
          </a:p>
        </c:rich>
      </c:tx>
      <c:layout/>
      <c:overlay val="0"/>
    </c:title>
    <c:autoTitleDeleted val="0"/>
    <c:plotArea>
      <c:layout/>
      <c:barChart>
        <c:barDir val="bar"/>
        <c:grouping val="stacked"/>
        <c:varyColors val="0"/>
        <c:ser>
          <c:idx val="0"/>
          <c:order val="0"/>
          <c:tx>
            <c:strRef>
              <c:f>Sheet1!$B$1</c:f>
              <c:strCache>
                <c:ptCount val="1"/>
                <c:pt idx="0">
                  <c:v>기타</c:v>
                </c:pt>
              </c:strCache>
            </c:strRef>
          </c:tx>
          <c:spPr>
            <a:solidFill>
              <a:srgbClr val="8A8D9A"/>
            </a:solidFill>
            <a:effectLst/>
          </c:spPr>
          <c:invertIfNegative val="0"/>
          <c:dLbls>
            <c:numFmt formatCode="+0.00;-0.00;;" sourceLinked="0"/>
            <c:txPr>
              <a:bodyPr/>
              <a:lstStyle/>
              <a:p>
                <a:pPr>
                  <a:defRPr b="0"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Sheet1!$A$2:$A$11</c:f>
              <c:multiLvlStrCache>
                <c:ptCount val="10"/>
                <c:lvl>
                  <c:pt idx="0">
                    <c:v>Ferrari</c:v>
                  </c:pt>
                  <c:pt idx="1">
                    <c:v>McLaren</c:v>
                  </c:pt>
                  <c:pt idx="2">
                    <c:v>Racing Bulls</c:v>
                  </c:pt>
                  <c:pt idx="3">
                    <c:v>Mercedes</c:v>
                  </c:pt>
                  <c:pt idx="4">
                    <c:v>Red Bull Racing</c:v>
                  </c:pt>
                  <c:pt idx="5">
                    <c:v>Kick Sauber</c:v>
                  </c:pt>
                  <c:pt idx="6">
                    <c:v>Williams</c:v>
                  </c:pt>
                  <c:pt idx="7">
                    <c:v>Aston Martin</c:v>
                  </c:pt>
                  <c:pt idx="8">
                    <c:v>Alpine</c:v>
                  </c:pt>
                  <c:pt idx="9">
                    <c:v>Haas F1 Team</c:v>
                  </c:pt>
                </c:lvl>
              </c:multiLvlStrCache>
            </c:multiLvlStrRef>
          </c:cat>
          <c:val>
            <c:numRef>
              <c:f>Sheet1!$B$2:$B$11</c:f>
              <c:numCache>
                <c:formatCode>General</c:formatCode>
                <c:ptCount val="10"/>
                <c:pt idx="0">
                  <c:v>-0.567</c:v>
                </c:pt>
                <c:pt idx="1">
                  <c:v>-0.282</c:v>
                </c:pt>
                <c:pt idx="2">
                  <c:v>-0.271</c:v>
                </c:pt>
                <c:pt idx="3">
                  <c:v>-0.18</c:v>
                </c:pt>
                <c:pt idx="4">
                  <c:v>-0.106</c:v>
                </c:pt>
                <c:pt idx="5">
                  <c:v>-0.091</c:v>
                </c:pt>
                <c:pt idx="6">
                  <c:v>0.049</c:v>
                </c:pt>
                <c:pt idx="7">
                  <c:v>0</c:v>
                </c:pt>
                <c:pt idx="8">
                  <c:v>0.388</c:v>
                </c:pt>
                <c:pt idx="9">
                  <c:v>0.412</c:v>
                </c:pt>
              </c:numCache>
            </c:numRef>
          </c:val>
        </c:ser>
        <c:ser>
          <c:idx val="1"/>
          <c:order val="1"/>
          <c:tx>
            <c:strRef>
              <c:f>Sheet1!$C$1</c:f>
              <c:strCache>
                <c:ptCount val="1"/>
                <c:pt idx="0">
                  <c:v>Aston Martin</c:v>
                </c:pt>
              </c:strCache>
            </c:strRef>
          </c:tx>
          <c:spPr>
            <a:solidFill>
              <a:srgbClr val="E10600"/>
            </a:solidFill>
            <a:effectLst/>
          </c:spPr>
          <c:invertIfNegative val="0"/>
          <c:dLbls>
            <c:numFmt formatCode="+0.00;-0.00;;" sourceLinked="0"/>
            <c:txPr>
              <a:bodyPr/>
              <a:lstStyle/>
              <a:p>
                <a:pPr>
                  <a:defRPr b="0"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Sheet1!$A$2:$A$11</c:f>
              <c:multiLvlStrCache>
                <c:ptCount val="10"/>
                <c:lvl>
                  <c:pt idx="0">
                    <c:v>Ferrari</c:v>
                  </c:pt>
                  <c:pt idx="1">
                    <c:v>McLaren</c:v>
                  </c:pt>
                  <c:pt idx="2">
                    <c:v>Racing Bulls</c:v>
                  </c:pt>
                  <c:pt idx="3">
                    <c:v>Mercedes</c:v>
                  </c:pt>
                  <c:pt idx="4">
                    <c:v>Red Bull Racing</c:v>
                  </c:pt>
                  <c:pt idx="5">
                    <c:v>Kick Sauber</c:v>
                  </c:pt>
                  <c:pt idx="6">
                    <c:v>Williams</c:v>
                  </c:pt>
                  <c:pt idx="7">
                    <c:v>Aston Martin</c:v>
                  </c:pt>
                  <c:pt idx="8">
                    <c:v>Alpine</c:v>
                  </c:pt>
                  <c:pt idx="9">
                    <c:v>Haas F1 Team</c:v>
                  </c:pt>
                </c:lvl>
              </c:multiLvlStrCache>
            </c:multiLvlStrRef>
          </c:cat>
          <c:val>
            <c:numRef>
              <c:f>Sheet1!$C$2:$C$11</c:f>
              <c:numCache>
                <c:formatCode>General</c:formatCode>
                <c:ptCount val="10"/>
                <c:pt idx="0">
                  <c:v>0</c:v>
                </c:pt>
                <c:pt idx="1">
                  <c:v>0</c:v>
                </c:pt>
                <c:pt idx="2">
                  <c:v>0</c:v>
                </c:pt>
                <c:pt idx="3">
                  <c:v>0</c:v>
                </c:pt>
                <c:pt idx="4">
                  <c:v>0</c:v>
                </c:pt>
                <c:pt idx="5">
                  <c:v>0</c:v>
                </c:pt>
                <c:pt idx="6">
                  <c:v>0</c:v>
                </c:pt>
                <c:pt idx="7">
                  <c:v>0.282</c:v>
                </c:pt>
                <c:pt idx="8">
                  <c:v>0</c:v>
                </c:pt>
                <c:pt idx="9">
                  <c:v>0</c:v>
                </c:pt>
              </c:numCache>
            </c:numRef>
          </c:val>
        </c:ser>
        <c:dLbls>
          <c:numFmt formatCode="+0.00;-0.00;;" sourceLinked="0"/>
          <c:txPr>
            <a:bodyPr/>
            <a:lstStyle/>
            <a:p>
              <a:pPr>
                <a:defRPr b="0"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B9BAC4"/>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33333F"/>
              </a:solidFill>
              <a:prstDash val="solid"/>
              <a:round/>
            </a:ln>
          </c:spPr>
        </c:majorGridlines>
        <c:numFmt formatCode="0.0" sourceLinked="0"/>
        <c:majorTickMark val="out"/>
        <c:minorTickMark val="none"/>
        <c:tickLblPos val="low"/>
        <c:spPr>
          <a:ln w="12700" cap="flat">
            <a:noFill/>
            <a:prstDash val="solid"/>
            <a:round/>
          </a:ln>
        </c:spPr>
        <c:txPr>
          <a:bodyPr/>
          <a:lstStyle/>
          <a:p>
            <a:pPr>
              <a:defRPr sz="1000" b="0" i="0" u="none" strike="noStrike">
                <a:solidFill>
                  <a:srgbClr val="B9BAC4"/>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FFFFF"/>
                </a:solidFill>
                <a:latin typeface="+mn-lt"/>
              </a:defRPr>
            </a:pPr>
            <a:r>
              <a:rPr sz="1300" b="0" i="0" u="none" strike="noStrike">
                <a:solidFill>
                  <a:srgbClr val="FFFFFF"/>
                </a:solidFill>
                <a:latin typeface="+mn-lt"/>
              </a:rPr>
              <a:t>2023~2026 팀 자리 × 타 팀 후보 판정 분포</a:t>
            </a:r>
          </a:p>
        </c:rich>
      </c:tx>
      <c:layout/>
      <c:overlay val="0"/>
    </c:title>
    <c:autoTitleDeleted val="0"/>
    <c:plotArea>
      <c:layout/>
      <c:barChart>
        <c:barDir val="bar"/>
        <c:grouping val="clustered"/>
        <c:varyColors val="0"/>
        <c:ser>
          <c:idx val="0"/>
          <c:order val="0"/>
          <c:tx>
            <c:strRef>
              <c:f>Sheet1!$B$1</c:f>
              <c:strCache>
                <c:ptCount val="1"/>
                <c:pt idx="0">
                  <c:v>조합 수</c:v>
                </c:pt>
              </c:strCache>
            </c:strRef>
          </c:tx>
          <c:spPr>
            <a:solidFill>
              <a:srgbClr val="2BD47D"/>
            </a:solidFill>
            <a:effectLst/>
          </c:spPr>
          <c:invertIfNegative val="0"/>
          <c:dLbls>
            <c:numFmt formatCode="#,##0" sourceLinked="0"/>
            <c:txPr>
              <a:bodyPr/>
              <a:lstStyle/>
              <a:p>
                <a:pPr>
                  <a:defRPr b="0" i="0" strike="noStrike" sz="1000" u="none">
                    <a:solidFill>
                      <a:srgbClr val="FFFFFF"/>
                    </a:solidFill>
                    <a:latin typeface="+mn-lt"/>
                  </a:defRPr>
                </a:pPr>
              </a:p>
            </c:txPr>
            <c:showLegendKey val="0"/>
            <c:showVal val="1"/>
            <c:showCatName val="0"/>
            <c:showSerName val="0"/>
            <c:showPercent val="0"/>
            <c:showBubbleSize val="0"/>
            <c:showLeaderLines val="0"/>
          </c:dLbls>
          <c:dPt>
            <c:idx val="0"/>
            <c:invertIfNegative val="0"/>
            <c:bubble3D val="0"/>
            <c:spPr>
              <a:solidFill>
                <a:srgbClr val="2BD47D"/>
              </a:solidFill>
              <a:effectLst/>
            </c:spPr>
          </c:dPt>
          <c:dPt>
            <c:idx val="1"/>
            <c:invertIfNegative val="0"/>
            <c:bubble3D val="0"/>
            <c:spPr>
              <a:solidFill>
                <a:srgbClr val="E10600"/>
              </a:solidFill>
              <a:effectLst/>
            </c:spPr>
          </c:dPt>
          <c:dPt>
            <c:idx val="2"/>
            <c:invertIfNegative val="0"/>
            <c:bubble3D val="0"/>
            <c:spPr>
              <a:solidFill>
                <a:srgbClr val="FF8700"/>
              </a:solidFill>
              <a:effectLst/>
            </c:spPr>
          </c:dPt>
          <c:dPt>
            <c:idx val="3"/>
            <c:invertIfNegative val="0"/>
            <c:bubble3D val="0"/>
            <c:spPr>
              <a:solidFill>
                <a:srgbClr val="8A8D9A"/>
              </a:solidFill>
              <a:effectLst/>
            </c:spPr>
          </c:dPt>
          <c:dPt>
            <c:idx val="4"/>
            <c:invertIfNegative val="0"/>
            <c:bubble3D val="0"/>
            <c:spPr>
              <a:solidFill>
                <a:srgbClr val="5A5A66"/>
              </a:solidFill>
              <a:effectLst/>
            </c:spPr>
          </c:dPt>
          <c:cat>
            <c:multiLvlStrRef>
              <c:f>Sheet1!$A$2:$A$6</c:f>
              <c:multiLvlStrCache>
                <c:ptCount val="5"/>
                <c:lvl>
                  <c:pt idx="0">
                    <c:v>동료 비교까지 반복</c:v>
                  </c:pt>
                  <c:pt idx="1">
                    <c:v>페이스 우위 반복</c:v>
                  </c:pt>
                  <c:pt idx="2">
                    <c:v>조건·표본에 민감</c:v>
                  </c:pt>
                  <c:pt idx="3">
                    <c:v>우위 근거 없음</c:v>
                  </c:pt>
                  <c:pt idx="4">
                    <c:v>표본 부족·보류</c:v>
                  </c:pt>
                </c:lvl>
              </c:multiLvlStrCache>
            </c:multiLvlStrRef>
          </c:cat>
          <c:val>
            <c:numRef>
              <c:f>Sheet1!$B$2:$B$6</c:f>
              <c:numCache>
                <c:formatCode>General</c:formatCode>
                <c:ptCount val="5"/>
                <c:pt idx="0">
                  <c:v>88</c:v>
                </c:pt>
                <c:pt idx="1">
                  <c:v>349</c:v>
                </c:pt>
                <c:pt idx="2">
                  <c:v>513</c:v>
                </c:pt>
                <c:pt idx="3">
                  <c:v>516</c:v>
                </c:pt>
                <c:pt idx="4">
                  <c:v>358</c:v>
                </c:pt>
              </c:numCache>
            </c:numRef>
          </c:val>
        </c:ser>
        <c:dLbls>
          <c:numFmt formatCode="#,##0" sourceLinked="0"/>
          <c:txPr>
            <a:bodyPr/>
            <a:lstStyle/>
            <a:p>
              <a:pPr>
                <a:defRPr b="0" i="0" strike="noStrike" sz="1000" u="none">
                  <a:solidFill>
                    <a:srgbClr val="FFFFFF"/>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B9BAC4"/>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B9BAC4"/>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 팀이 드라이버를 영입할 때, 가장 빠른 선수가 아니라 우리 팀의 약점을 메울 선수를 데이터로 좁혀 가는 프로젝트입니다. 오염된 경기 데이터를 정제·검증하고, 분석 결과를 Decision Board로 보여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결론부터 말씀드리면, 이 프로젝트는 영입 결론을 대신 내려 주는 시스템이 아니라 판단 근거를 정리해 주는 시스템입니다. 11종 데이터, 1,824개 조합, 151개 검증 항목이 그 근거입니다.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영입 결론을 먼저 정하고 데이터를 모은 것이 아닙니다. 먼저 확보한 6종을 정제해 분석하다가 부족한 근거를 5종 추가 데이터로 보완했고, 그 결과로 결론을 내렸습니다. 4번째 단계를 피트 스톱으로 표시했습니다.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오염 6종은 신뢰할 수 있다고 전제하지 않고 원본을 그대로 보존한 채 검사했습니다. 추가 5종은 결과와 경기 상황을 설명하기 위해 수집했고, intervals는 210만 행으로 가장 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탐지한 28,052건 대부분은 1랩 랩타임 결측처럼 원천 데이터의 특성이라 허용으로 기록했습니다. 근거가 있는 1,335셀만 복구했고, 근거가 부족한 1,893건은 검토 대상으로 남겼습니다.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정제 직후 파일은 pandas로, DB 적재 후에는 MySQL로 같은 151개 규칙을 검사했고 두 결과가 일치합니다. ERROR 등급 위반은 0건이고, WARN 7건은 원천 특성이라 분석 단계의 제외 기준으로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데이터를 품질 단계별로 쌓는 메달리온 구조를 따랐습니다. 원본 보존이 Bronze, 정제·검증이 Silver, 의사결정 지표가 Gold입니다. 화면은 MySQL Gold 테이블을 읽습니다. 다만 Gold 수치를 Silver에서 다시 계산하는 분석 코드를 저장소로 가져오는 것이 다음 과제입니다.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상단에서 시즌·팀·비교 기준 선수를 고르면 아래 여섯 구간이 같은 조건으로 다시 계산됩니다. 섹션 순서가 곧 가설, 관측 결과, 판단, 시사점의 읽는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서킷마다 랩타임이 다르기 때문에 절대 랩타임이 아니라, 같은 경기·같은 타이어 구간의 다른 선수 대비 상대 페이스로 비교합니다. Aston Martin은 10팀 중 7위로 중간보다 느린 쪽입니다.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화면은 결론을 바로 주지 않고, 처음 생각을 가설로 놓고 데이터가 같은 방향인지 판정합니다. 라인업 가설은 중앙값이 느리게 나왔지만 95% 구간이 0을 포함해 판단을 보류했습니다.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본경기 최종 순위에 기본 배점 25-18-15…를 적용해 당시 소속팀으로 합산했습니다. 중위권 접전이라 몇 점 차이가 순위를 바꿀 수 있는 위치이고, 이것이 영입 검토의 배경입니다. 금액은 추정하지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후보를 하나의 점수로 줄 세우지 않습니다. 다섯 지표를 실제 단위와 같은 시즌 상위 %로 함께 보여 주고, 기준 선수보다 좋은 값은 화면에서 체크로 표시합니다. 페이스 정렬 상위 5명을 표로 옮겼습니다.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질문 중 두 개는 확인됐지만, 자기 팀 동료 대비 우위는 반복되지 않았습니다. McLaren 차량의 이점이 섞였을 수 있으므로, 화면은 영입 확정이 아니라 추가 확인을 권합니다.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피트 운영은 영입할 선수와 별개로, 팀이 고정적으로 가진 운영 환경입니다. Aston Martin은 피트레인 시간이 길게 관측되어 후보를 검토할 때 함께 고려할 제약 조건입니다.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시즌, 모든 팀 자리에 대해 타 팀 후보를 같은 기준으로 검토했습니다. 네 가지 조건을 모두 통과한 조합은 4.8%뿐입니다. 빠르다는 이유만으로 추천하지 않도록 기준을 엄격하게 잡았습니다.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관측 기록, 영입 적합성 해석, 경제적 기회의 정성적 설명을 분리해서 말합니다. 이 화면은 판단을 돕는 근거이지 결과를 예측하는 모델이 아닙니다.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정리하면, 이 프로젝트는 믿을 수 있게 정제한 데이터로 팀의 약점을 진단하고, 그 약점을 메울 후보를 근거와 함께 좁혀 줍니다. 다음 단계는 Gold 재계산 코드 확보와 개인 우위의 추가 검증입니다.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F1_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F1_SECTION-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F1_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1_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417320"/>
            <a:ext cx="7680960" cy="411480"/>
          </a:xfrm>
          <a:prstGeom prst="rect">
            <a:avLst/>
          </a:prstGeom>
          <a:noFill/>
          <a:ln/>
        </p:spPr>
        <p:txBody>
          <a:bodyPr wrap="square" rtlCol="0"/>
          <a:lstStyle>
            <a:lvl1pPr indent="0" marL="0">
              <a:buNone/>
              <a:defRPr lang="en-US" sz="1400" b="1" spc="400" kern="0" dirty="0">
                <a:solidFill>
                  <a:schemeClr val="accent1"/>
                </a:solidFill>
              </a:defRPr>
            </a:lvl1pPr>
          </a:lstStyle>
          <a:p>
            <a:pPr indent="0" marL="0">
              <a:buNone/>
            </a:pPr>
            <a:endParaRPr lang="en-US" sz="1400" dirty="0"/>
          </a:p>
        </p:txBody>
      </p:sp>
      <p:sp>
        <p:nvSpPr>
          <p:cNvPr id="3" name="Text 0"/>
          <p:cNvSpPr/>
          <p:nvPr>
            <p:ph idx="101" type="title" hasCustomPrompt="1"/>
          </p:nvPr>
        </p:nvSpPr>
        <p:spPr>
          <a:xfrm>
            <a:off x="640080" y="1874520"/>
            <a:ext cx="7863840" cy="1828800"/>
          </a:xfrm>
          <a:prstGeom prst="rect">
            <a:avLst/>
          </a:prstGeom>
          <a:noFill/>
          <a:ln/>
        </p:spPr>
        <p:txBody>
          <a:bodyPr wrap="square" rtlCol="0"/>
          <a:lstStyle>
            <a:lvl1pPr indent="0" marL="0">
              <a:buNone/>
              <a:defRPr lang="en-US" sz="4800" b="1" dirty="0">
                <a:solidFill>
                  <a:schemeClr val="bg1"/>
                </a:solidFill>
              </a:defRPr>
            </a:lvl1pPr>
          </a:lstStyle>
          <a:p>
            <a:pPr indent="0" marL="0">
              <a:buNone/>
            </a:pPr>
            <a:endParaRPr lang="en-US" sz="4800" dirty="0"/>
          </a:p>
        </p:txBody>
      </p:sp>
      <p:sp>
        <p:nvSpPr>
          <p:cNvPr id="4" name="Text 0"/>
          <p:cNvSpPr/>
          <p:nvPr>
            <p:ph idx="102" type="body" hasCustomPrompt="1"/>
          </p:nvPr>
        </p:nvSpPr>
        <p:spPr>
          <a:xfrm>
            <a:off x="640080" y="3886200"/>
            <a:ext cx="7680960" cy="128016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1_SECTIO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554480"/>
            <a:ext cx="5486400" cy="822960"/>
          </a:xfrm>
          <a:prstGeom prst="rect">
            <a:avLst/>
          </a:prstGeom>
          <a:noFill/>
          <a:ln/>
        </p:spPr>
        <p:txBody>
          <a:bodyPr wrap="square" rtlCol="0"/>
          <a:lstStyle>
            <a:lvl1pPr indent="0" marL="0">
              <a:buNone/>
              <a:defRPr lang="en-US" sz="5400" b="1" dirty="0">
                <a:solidFill>
                  <a:schemeClr val="accent1"/>
                </a:solidFill>
              </a:defRPr>
            </a:lvl1pPr>
          </a:lstStyle>
          <a:p>
            <a:pPr indent="0" marL="0">
              <a:buNone/>
            </a:pPr>
            <a:endParaRPr lang="en-US" sz="5400" dirty="0"/>
          </a:p>
        </p:txBody>
      </p:sp>
      <p:sp>
        <p:nvSpPr>
          <p:cNvPr id="3" name="Text 0"/>
          <p:cNvSpPr/>
          <p:nvPr>
            <p:ph idx="101" type="title" hasCustomPrompt="1"/>
          </p:nvPr>
        </p:nvSpPr>
        <p:spPr>
          <a:xfrm>
            <a:off x="731520" y="2468880"/>
            <a:ext cx="10058400" cy="1005840"/>
          </a:xfrm>
          <a:prstGeom prst="rect">
            <a:avLst/>
          </a:prstGeom>
          <a:noFill/>
          <a:ln/>
        </p:spPr>
        <p:txBody>
          <a:bodyPr wrap="square" rtlCol="0"/>
          <a:lstStyle>
            <a:lvl1pPr indent="0" marL="0">
              <a:buNone/>
              <a:defRPr lang="en-US" sz="4400" b="1" dirty="0">
                <a:solidFill>
                  <a:schemeClr val="bg1"/>
                </a:solidFill>
              </a:defRPr>
            </a:lvl1pPr>
          </a:lstStyle>
          <a:p>
            <a:pPr indent="0" marL="0">
              <a:buNone/>
            </a:pPr>
            <a:endParaRPr lang="en-US" sz="4400" dirty="0"/>
          </a:p>
        </p:txBody>
      </p:sp>
      <p:sp>
        <p:nvSpPr>
          <p:cNvPr id="4" name="Text 0"/>
          <p:cNvSpPr/>
          <p:nvPr>
            <p:ph idx="102" type="body" hasCustomPrompt="1"/>
          </p:nvPr>
        </p:nvSpPr>
        <p:spPr>
          <a:xfrm>
            <a:off x="731520" y="3566160"/>
            <a:ext cx="960120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1_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rtlCol="0"/>
          <a:lstStyle>
            <a:lvl1pPr indent="0" marL="0">
              <a:buNone/>
              <a:defRPr lang="en-US" sz="3200" b="1" dirty="0">
                <a:solidFill>
                  <a:schemeClr val="bg1"/>
                </a:solidFill>
              </a:defRPr>
            </a:lvl1pPr>
          </a:lstStyle>
          <a:p>
            <a:pPr indent="0" marL="0">
              <a:buNone/>
            </a:pPr>
            <a:endParaRPr lang="en-US" sz="3200" dirty="0"/>
          </a:p>
        </p:txBody>
      </p:sp>
      <p:sp>
        <p:nvSpPr>
          <p:cNvPr id="3" name="Text 0"/>
          <p:cNvSpPr/>
          <p:nvPr/>
        </p:nvSpPr>
        <p:spPr>
          <a:xfrm>
            <a:off x="10469880" y="457200"/>
            <a:ext cx="548640" cy="320040"/>
          </a:xfrm>
          <a:prstGeom prst="rect">
            <a:avLst/>
          </a:prstGeom>
          <a:noFill/>
          <a:ln/>
        </p:spPr>
        <p:txBody>
          <a:bodyPr wrap="square" lIns="0" tIns="0" rIns="0" bIns="0" rtlCol="0" anchor="ctr"/>
          <a:lstStyle/>
          <a:p>
            <a:pPr algn="r" indent="0" marL="0">
              <a:buNone/>
            </a:pPr>
            <a:r>
              <a:rPr lang="en-US" sz="1100" b="1" dirty="0">
                <a:solidFill>
                  <a:schemeClr val="accent1"/>
                </a:solidFill>
              </a:rPr>
              <a:t>LAP</a:t>
            </a:r>
            <a:endParaRPr lang="en-US" sz="1100" dirty="0"/>
          </a:p>
        </p:txBody>
      </p:sp>
      <p:sp>
        <p:nvSpPr>
          <p:cNvPr id="4" name="Text 1"/>
          <p:cNvSpPr/>
          <p:nvPr/>
        </p:nvSpPr>
        <p:spPr>
          <a:xfrm>
            <a:off x="548640" y="6400800"/>
            <a:ext cx="6400800" cy="274320"/>
          </a:xfrm>
          <a:prstGeom prst="rect">
            <a:avLst/>
          </a:prstGeom>
          <a:noFill/>
          <a:ln/>
        </p:spPr>
        <p:txBody>
          <a:bodyPr wrap="square" lIns="0" tIns="0" rIns="0" bIns="0" rtlCol="0" anchor="ctr"/>
          <a:lstStyle/>
          <a:p>
            <a:pPr indent="0" marL="0">
              <a:buNone/>
            </a:pPr>
            <a:r>
              <a:rPr lang="en-US" sz="1000" spc="200" kern="0" dirty="0">
                <a:solidFill>
                  <a:schemeClr val="accent4"/>
                </a:solidFill>
              </a:rPr>
              <a:t>F1 TEAM BUILDER INTELLIGENCE  ·  TEAM 1</a:t>
            </a:r>
            <a:endParaRPr lang="en-US" sz="1000" dirty="0"/>
          </a:p>
        </p:txBody>
      </p:sp>
      <p:sp>
        <p:nvSpPr>
          <p:cNvPr id="25" name="Slide Number Placeholder 0"/>
          <p:cNvSpPr>
            <a:spLocks noGrp="1"/>
          </p:cNvSpPr>
          <p:nvPr>
            <p:ph type="sldNum" sz="quarter" idx="4294967295"/>
          </p:nvPr>
        </p:nvSpPr>
        <p:spPr>
          <a:xfrm>
            <a:off x="11064240" y="393192"/>
            <a:ext cx="640080" cy="411480"/>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Malgun Gothic"/>
                <a:ea typeface="Malgun Gothic"/>
                <a:cs typeface="Malgun Gothic"/>
              </a:defRPr>
            </a:lvl1pPr>
          </a:lstStyle>
          <a:p>
            <a:pPr algn="l"/>
            <a:fld id="{F7021451-1387-4CA6-816F-3879F97B5CBC}" type="slidenum">
              <a:rPr b="1"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393192"/>
            <a:ext cx="640080" cy="411480"/>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Malgun Gothic"/>
                <a:ea typeface="Malgun Gothic"/>
                <a:cs typeface="Malgun Gothic"/>
              </a:defRPr>
            </a:lvl1pPr>
          </a:lstStyle>
          <a:p>
            <a:pPr algn="l"/>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417320"/>
            <a:ext cx="7680960" cy="411480"/>
          </a:xfrm>
          <a:prstGeom prst="rect">
            <a:avLst/>
          </a:prstGeom>
          <a:noFill/>
          <a:ln/>
        </p:spPr>
        <p:txBody>
          <a:bodyPr wrap="square" lIns="0" tIns="0" rIns="0" bIns="0" rtlCol="0"/>
          <a:lstStyle/>
          <a:p>
            <a:pPr indent="0" marL="0">
              <a:buNone/>
            </a:pPr>
            <a:r>
              <a:rPr lang="en-US" sz="1400" b="1" spc="400" kern="0" dirty="0">
                <a:solidFill>
                  <a:schemeClr val="accent1"/>
                </a:solidFill>
              </a:rPr>
              <a:t>TEAM 1  ·  2026.10.15  ·  DATA STANDARDIZATION PROJECT</a:t>
            </a:r>
            <a:endParaRPr lang="en-US" sz="1400" dirty="0"/>
          </a:p>
        </p:txBody>
      </p:sp>
      <p:sp>
        <p:nvSpPr>
          <p:cNvPr id="3" name="Text 0"/>
          <p:cNvSpPr/>
          <p:nvPr>
            <p:ph idx="101" type="title" hasCustomPrompt="1"/>
          </p:nvPr>
        </p:nvSpPr>
        <p:spPr>
          <a:xfrm>
            <a:off x="640080" y="1874520"/>
            <a:ext cx="7863840" cy="1828800"/>
          </a:xfrm>
          <a:prstGeom prst="rect">
            <a:avLst/>
          </a:prstGeom>
          <a:noFill/>
          <a:ln/>
        </p:spPr>
        <p:txBody>
          <a:bodyPr wrap="square" lIns="0" tIns="0" rIns="0" bIns="0" rtlCol="0" anchor="t"/>
          <a:lstStyle/>
          <a:p>
            <a:pPr indent="0" marL="0">
              <a:buNone/>
            </a:pPr>
            <a:r>
              <a:rPr lang="en-US" sz="4800" b="1" dirty="0">
                <a:solidFill>
                  <a:schemeClr val="bg1"/>
                </a:solidFill>
              </a:rPr>
              <a:t>F1 TEAM BUILDER</a:t>
            </a:r>
            <a:endParaRPr lang="en-US" sz="4800" dirty="0"/>
          </a:p>
          <a:p>
            <a:pPr indent="0" marL="0">
              <a:buNone/>
            </a:pPr>
            <a:r>
              <a:rPr lang="en-US" sz="4800" b="1" dirty="0">
                <a:solidFill>
                  <a:schemeClr val="bg1"/>
                </a:solidFill>
              </a:rPr>
              <a:t>INTELLIGENCE</a:t>
            </a:r>
            <a:endParaRPr lang="en-US" sz="4800" dirty="0"/>
          </a:p>
        </p:txBody>
      </p:sp>
      <p:sp>
        <p:nvSpPr>
          <p:cNvPr id="4" name="Text 0"/>
          <p:cNvSpPr/>
          <p:nvPr>
            <p:ph idx="102" type="body" hasCustomPrompt="1"/>
          </p:nvPr>
        </p:nvSpPr>
        <p:spPr>
          <a:xfrm>
            <a:off x="640080" y="3886200"/>
            <a:ext cx="7680960" cy="1280160"/>
          </a:xfrm>
          <a:prstGeom prst="rect">
            <a:avLst/>
          </a:prstGeom>
          <a:noFill/>
          <a:ln/>
        </p:spPr>
        <p:txBody>
          <a:bodyPr wrap="square" lIns="0" tIns="0" rIns="0" bIns="0" rtlCol="0" anchor="t"/>
          <a:lstStyle/>
          <a:p>
            <a:pPr indent="0" marL="0">
              <a:buNone/>
            </a:pPr>
            <a:r>
              <a:rPr lang="en-US" sz="2200" dirty="0">
                <a:solidFill>
                  <a:schemeClr val="bg2"/>
                </a:solidFill>
              </a:rPr>
              <a:t>데이터로 좁혀 가는, 우리 팀에 맞는 드라이버</a:t>
            </a:r>
            <a:endParaRPr lang="en-US" sz="2200" dirty="0"/>
          </a:p>
        </p:txBody>
      </p:sp>
      <p:sp>
        <p:nvSpPr>
          <p:cNvPr id="5" name="title-flow"/>
          <p:cNvSpPr txBox="1"/>
          <p:nvPr/>
        </p:nvSpPr>
        <p:spPr>
          <a:xfrm>
            <a:off x="640080" y="5760720"/>
            <a:ext cx="7315200" cy="365760"/>
          </a:xfrm>
          <a:prstGeom prst="rect">
            <a:avLst/>
          </a:prstGeom>
          <a:noFill/>
          <a:ln/>
        </p:spPr>
        <p:txBody>
          <a:bodyPr wrap="square" lIns="0" tIns="0" rIns="0" bIns="0" rtlCol="0" anchor="t"/>
          <a:lstStyle/>
          <a:p>
            <a:pPr indent="0" marL="0">
              <a:buNone/>
            </a:pPr>
            <a:r>
              <a:rPr lang="en-US" sz="1400" dirty="0">
                <a:solidFill>
                  <a:schemeClr val="accent4"/>
                </a:solidFill>
              </a:rPr>
              <a:t>정제 → 검증 → 분석 → Decision Board</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indent="0" marL="0">
              <a:buNone/>
            </a:pPr>
            <a:r>
              <a:rPr lang="en-US" sz="3200" b="1" dirty="0">
                <a:solidFill>
                  <a:schemeClr val="bg1"/>
                </a:solidFill>
              </a:rPr>
              <a:t>한 줄 요약</a:t>
            </a:r>
            <a:endParaRPr lang="en-US" sz="3200" dirty="0"/>
          </a:p>
        </p:txBody>
      </p:sp>
      <p:sp>
        <p:nvSpPr>
          <p:cNvPr id="3" name="summary-card"/>
          <p:cNvSpPr/>
          <p:nvPr/>
        </p:nvSpPr>
        <p:spPr>
          <a:xfrm>
            <a:off x="548640" y="1371600"/>
            <a:ext cx="6309360" cy="4754880"/>
          </a:xfrm>
          <a:prstGeom prst="roundRect">
            <a:avLst>
              <a:gd name="adj" fmla="val 1538"/>
            </a:avLst>
          </a:prstGeom>
          <a:solidFill>
            <a:srgbClr val="15151E"/>
          </a:solidFill>
          <a:ln w="19050">
            <a:solidFill>
              <a:srgbClr val="E10600"/>
            </a:solidFill>
            <a:prstDash val="solid"/>
          </a:ln>
        </p:spPr>
      </p:sp>
      <p:sp>
        <p:nvSpPr>
          <p:cNvPr id="4" name="summary-kicker"/>
          <p:cNvSpPr txBox="1"/>
          <p:nvPr/>
        </p:nvSpPr>
        <p:spPr>
          <a:xfrm>
            <a:off x="914400" y="1691640"/>
            <a:ext cx="5486400" cy="365760"/>
          </a:xfrm>
          <a:prstGeom prst="rect">
            <a:avLst/>
          </a:prstGeom>
          <a:noFill/>
          <a:ln/>
        </p:spPr>
        <p:txBody>
          <a:bodyPr wrap="square" lIns="0" tIns="0" rIns="0" bIns="0" rtlCol="0" anchor="t"/>
          <a:lstStyle/>
          <a:p>
            <a:pPr indent="0" marL="0">
              <a:buNone/>
            </a:pPr>
            <a:r>
              <a:rPr lang="en-US" sz="1400" b="1" dirty="0">
                <a:solidFill>
                  <a:schemeClr val="accent1"/>
                </a:solidFill>
              </a:rPr>
              <a:t>핵심 질문</a:t>
            </a:r>
            <a:endParaRPr lang="en-US" sz="1400" dirty="0"/>
          </a:p>
        </p:txBody>
      </p:sp>
      <p:sp>
        <p:nvSpPr>
          <p:cNvPr id="5" name="summary-quote"/>
          <p:cNvSpPr txBox="1"/>
          <p:nvPr/>
        </p:nvSpPr>
        <p:spPr>
          <a:xfrm>
            <a:off x="914400" y="2148840"/>
            <a:ext cx="5669280" cy="2194560"/>
          </a:xfrm>
          <a:prstGeom prst="rect">
            <a:avLst/>
          </a:prstGeom>
          <a:noFill/>
          <a:ln/>
        </p:spPr>
        <p:txBody>
          <a:bodyPr wrap="square" lIns="0" tIns="0" rIns="0" bIns="0" rtlCol="0" anchor="t"/>
          <a:lstStyle/>
          <a:p>
            <a:pPr indent="0" marL="0">
              <a:buNone/>
            </a:pPr>
            <a:r>
              <a:rPr lang="en-US" sz="3000" b="1" dirty="0">
                <a:solidFill>
                  <a:schemeClr val="bg1"/>
                </a:solidFill>
              </a:rPr>
              <a:t>가장 빠른 선수가 아니라,</a:t>
            </a:r>
            <a:endParaRPr lang="en-US" sz="3000" dirty="0"/>
          </a:p>
          <a:p>
            <a:pPr indent="0" marL="0">
              <a:buNone/>
            </a:pPr>
            <a:r>
              <a:rPr lang="en-US" sz="3000" b="1" dirty="0">
                <a:solidFill>
                  <a:schemeClr val="bg1"/>
                </a:solidFill>
              </a:rPr>
              <a:t>우리 팀의 약점을 메울 선수를</a:t>
            </a:r>
            <a:endParaRPr lang="en-US" sz="3000" dirty="0"/>
          </a:p>
          <a:p>
            <a:pPr indent="0" marL="0">
              <a:buNone/>
            </a:pPr>
            <a:r>
              <a:rPr lang="en-US" sz="3000" b="1" dirty="0">
                <a:solidFill>
                  <a:schemeClr val="bg1"/>
                </a:solidFill>
              </a:rPr>
              <a:t>데이터로 찾는다</a:t>
            </a:r>
            <a:endParaRPr lang="en-US" sz="3000" dirty="0"/>
          </a:p>
        </p:txBody>
      </p:sp>
      <p:sp>
        <p:nvSpPr>
          <p:cNvPr id="6" name="summary-sub"/>
          <p:cNvSpPr txBox="1"/>
          <p:nvPr/>
        </p:nvSpPr>
        <p:spPr>
          <a:xfrm>
            <a:off x="914400" y="4572000"/>
            <a:ext cx="5577840" cy="1188720"/>
          </a:xfrm>
          <a:prstGeom prst="rect">
            <a:avLst/>
          </a:prstGeom>
          <a:noFill/>
          <a:ln/>
        </p:spPr>
        <p:txBody>
          <a:bodyPr wrap="square" lIns="0" tIns="0" rIns="0" bIns="0" rtlCol="0" anchor="t"/>
          <a:lstStyle/>
          <a:p>
            <a:pPr indent="0" marL="0">
              <a:buNone/>
            </a:pPr>
            <a:r>
              <a:rPr lang="en-US" sz="1500" dirty="0">
                <a:solidFill>
                  <a:schemeClr val="bg2"/>
                </a:solidFill>
              </a:rPr>
              <a:t>팀 약점 진단 → 후보 비교 → 검토 근거 확인까지 한 화면에서. 점수 하나로 줄 세우지 않고, 실제 기록과 표본 수로 판단합니다.</a:t>
            </a:r>
            <a:endParaRPr lang="en-US" sz="1500" dirty="0"/>
          </a:p>
        </p:txBody>
      </p:sp>
      <p:sp>
        <p:nvSpPr>
          <p:cNvPr id="7" name="stat-card-0"/>
          <p:cNvSpPr/>
          <p:nvPr/>
        </p:nvSpPr>
        <p:spPr>
          <a:xfrm>
            <a:off x="7223760" y="1371600"/>
            <a:ext cx="4434840" cy="1463040"/>
          </a:xfrm>
          <a:prstGeom prst="roundRect">
            <a:avLst>
              <a:gd name="adj" fmla="val 5000"/>
            </a:avLst>
          </a:prstGeom>
          <a:solidFill>
            <a:srgbClr val="24242E"/>
          </a:solidFill>
          <a:ln w="9525">
            <a:solidFill>
              <a:srgbClr val="33333F"/>
            </a:solidFill>
            <a:prstDash val="solid"/>
          </a:ln>
        </p:spPr>
      </p:sp>
      <p:sp>
        <p:nvSpPr>
          <p:cNvPr id="8" name="stat-num-0"/>
          <p:cNvSpPr txBox="1"/>
          <p:nvPr/>
        </p:nvSpPr>
        <p:spPr>
          <a:xfrm>
            <a:off x="7498080" y="1554480"/>
            <a:ext cx="3931920" cy="640080"/>
          </a:xfrm>
          <a:prstGeom prst="rect">
            <a:avLst/>
          </a:prstGeom>
          <a:noFill/>
          <a:ln/>
        </p:spPr>
        <p:txBody>
          <a:bodyPr wrap="square" lIns="0" tIns="0" rIns="0" bIns="0" rtlCol="0" anchor="t"/>
          <a:lstStyle/>
          <a:p>
            <a:pPr indent="0" marL="0">
              <a:buNone/>
            </a:pPr>
            <a:r>
              <a:rPr lang="en-US" sz="3400" b="1" dirty="0">
                <a:solidFill>
                  <a:schemeClr val="accent1"/>
                </a:solidFill>
              </a:rPr>
              <a:t>11종</a:t>
            </a:r>
            <a:endParaRPr lang="en-US" sz="3400" dirty="0"/>
          </a:p>
        </p:txBody>
      </p:sp>
      <p:sp>
        <p:nvSpPr>
          <p:cNvPr id="9" name="stat-label-0"/>
          <p:cNvSpPr txBox="1"/>
          <p:nvPr/>
        </p:nvSpPr>
        <p:spPr>
          <a:xfrm>
            <a:off x="7498080" y="2240280"/>
            <a:ext cx="3931920" cy="502920"/>
          </a:xfrm>
          <a:prstGeom prst="rect">
            <a:avLst/>
          </a:prstGeom>
          <a:noFill/>
          <a:ln/>
        </p:spPr>
        <p:txBody>
          <a:bodyPr wrap="square" lIns="0" tIns="0" rIns="0" bIns="0" rtlCol="0" anchor="t"/>
          <a:lstStyle/>
          <a:p>
            <a:pPr indent="0" marL="0">
              <a:buNone/>
            </a:pPr>
            <a:r>
              <a:rPr lang="en-US" sz="1300" dirty="0">
                <a:solidFill>
                  <a:schemeClr val="bg2"/>
                </a:solidFill>
              </a:rPr>
              <a:t>원천 데이터 (오염 6종 + 분석 중 추가 수집 5종)</a:t>
            </a:r>
            <a:endParaRPr lang="en-US" sz="1300" dirty="0"/>
          </a:p>
        </p:txBody>
      </p:sp>
      <p:sp>
        <p:nvSpPr>
          <p:cNvPr id="10" name="stat-card-1"/>
          <p:cNvSpPr/>
          <p:nvPr/>
        </p:nvSpPr>
        <p:spPr>
          <a:xfrm>
            <a:off x="7223760" y="3017520"/>
            <a:ext cx="4434840" cy="1463040"/>
          </a:xfrm>
          <a:prstGeom prst="roundRect">
            <a:avLst>
              <a:gd name="adj" fmla="val 5000"/>
            </a:avLst>
          </a:prstGeom>
          <a:solidFill>
            <a:srgbClr val="24242E"/>
          </a:solidFill>
          <a:ln w="9525">
            <a:solidFill>
              <a:srgbClr val="33333F"/>
            </a:solidFill>
            <a:prstDash val="solid"/>
          </a:ln>
        </p:spPr>
      </p:sp>
      <p:sp>
        <p:nvSpPr>
          <p:cNvPr id="11" name="stat-num-1"/>
          <p:cNvSpPr txBox="1"/>
          <p:nvPr/>
        </p:nvSpPr>
        <p:spPr>
          <a:xfrm>
            <a:off x="7498080" y="3200400"/>
            <a:ext cx="3931920" cy="640080"/>
          </a:xfrm>
          <a:prstGeom prst="rect">
            <a:avLst/>
          </a:prstGeom>
          <a:noFill/>
          <a:ln/>
        </p:spPr>
        <p:txBody>
          <a:bodyPr wrap="square" lIns="0" tIns="0" rIns="0" bIns="0" rtlCol="0" anchor="t"/>
          <a:lstStyle/>
          <a:p>
            <a:pPr indent="0" marL="0">
              <a:buNone/>
            </a:pPr>
            <a:r>
              <a:rPr lang="en-US" sz="3400" b="1" dirty="0">
                <a:solidFill>
                  <a:schemeClr val="accent1"/>
                </a:solidFill>
              </a:rPr>
              <a:t>1,824</a:t>
            </a:r>
            <a:endParaRPr lang="en-US" sz="3400" dirty="0"/>
          </a:p>
        </p:txBody>
      </p:sp>
      <p:sp>
        <p:nvSpPr>
          <p:cNvPr id="12" name="stat-label-1"/>
          <p:cNvSpPr txBox="1"/>
          <p:nvPr/>
        </p:nvSpPr>
        <p:spPr>
          <a:xfrm>
            <a:off x="7498080" y="3886200"/>
            <a:ext cx="3931920" cy="502920"/>
          </a:xfrm>
          <a:prstGeom prst="rect">
            <a:avLst/>
          </a:prstGeom>
          <a:noFill/>
          <a:ln/>
        </p:spPr>
        <p:txBody>
          <a:bodyPr wrap="square" lIns="0" tIns="0" rIns="0" bIns="0" rtlCol="0" anchor="t"/>
          <a:lstStyle/>
          <a:p>
            <a:pPr indent="0" marL="0">
              <a:buNone/>
            </a:pPr>
            <a:r>
              <a:rPr lang="en-US" sz="1300" dirty="0">
                <a:solidFill>
                  <a:schemeClr val="bg2"/>
                </a:solidFill>
              </a:rPr>
              <a:t>시즌별 팀 자리 × 타 팀 후보 조합을 같은 기준으로 검토</a:t>
            </a:r>
            <a:endParaRPr lang="en-US" sz="1300" dirty="0"/>
          </a:p>
        </p:txBody>
      </p:sp>
      <p:sp>
        <p:nvSpPr>
          <p:cNvPr id="13" name="stat-card-2"/>
          <p:cNvSpPr/>
          <p:nvPr/>
        </p:nvSpPr>
        <p:spPr>
          <a:xfrm>
            <a:off x="7223760" y="4663440"/>
            <a:ext cx="4434840" cy="1463040"/>
          </a:xfrm>
          <a:prstGeom prst="roundRect">
            <a:avLst>
              <a:gd name="adj" fmla="val 5000"/>
            </a:avLst>
          </a:prstGeom>
          <a:solidFill>
            <a:srgbClr val="24242E"/>
          </a:solidFill>
          <a:ln w="9525">
            <a:solidFill>
              <a:srgbClr val="33333F"/>
            </a:solidFill>
            <a:prstDash val="solid"/>
          </a:ln>
        </p:spPr>
      </p:sp>
      <p:sp>
        <p:nvSpPr>
          <p:cNvPr id="14" name="stat-num-2"/>
          <p:cNvSpPr txBox="1"/>
          <p:nvPr/>
        </p:nvSpPr>
        <p:spPr>
          <a:xfrm>
            <a:off x="7498080" y="4846320"/>
            <a:ext cx="3931920" cy="640080"/>
          </a:xfrm>
          <a:prstGeom prst="rect">
            <a:avLst/>
          </a:prstGeom>
          <a:noFill/>
          <a:ln/>
        </p:spPr>
        <p:txBody>
          <a:bodyPr wrap="square" lIns="0" tIns="0" rIns="0" bIns="0" rtlCol="0" anchor="t"/>
          <a:lstStyle/>
          <a:p>
            <a:pPr indent="0" marL="0">
              <a:buNone/>
            </a:pPr>
            <a:r>
              <a:rPr lang="en-US" sz="3400" b="1" dirty="0">
                <a:solidFill>
                  <a:schemeClr val="accent3"/>
                </a:solidFill>
              </a:rPr>
              <a:t>FAIL 0</a:t>
            </a:r>
            <a:endParaRPr lang="en-US" sz="3400" dirty="0"/>
          </a:p>
        </p:txBody>
      </p:sp>
      <p:sp>
        <p:nvSpPr>
          <p:cNvPr id="15" name="stat-label-2"/>
          <p:cNvSpPr txBox="1"/>
          <p:nvPr/>
        </p:nvSpPr>
        <p:spPr>
          <a:xfrm>
            <a:off x="7498080" y="5532120"/>
            <a:ext cx="3931920" cy="502920"/>
          </a:xfrm>
          <a:prstGeom prst="rect">
            <a:avLst/>
          </a:prstGeom>
          <a:noFill/>
          <a:ln/>
        </p:spPr>
        <p:txBody>
          <a:bodyPr wrap="square" lIns="0" tIns="0" rIns="0" bIns="0" rtlCol="0" anchor="t"/>
          <a:lstStyle/>
          <a:p>
            <a:pPr indent="0" marL="0">
              <a:buNone/>
            </a:pPr>
            <a:r>
              <a:rPr lang="en-US" sz="1300" dirty="0">
                <a:solidFill>
                  <a:schemeClr val="bg2"/>
                </a:solidFill>
              </a:rPr>
              <a:t>정제 후 검증 151개 항목 (pandas = MySQL 결과 일치)</a:t>
            </a:r>
            <a:endParaRPr lang="en-US" sz="1300" dirty="0"/>
          </a:p>
        </p:txBody>
      </p:sp>
      <p:sp>
        <p:nvSpPr>
          <p:cNvPr id="25" name="Slide Number Placeholder 0"/>
          <p:cNvSpPr>
            <a:spLocks noGrp="1"/>
          </p:cNvSpPr>
          <p:nvPr>
            <p:ph type="sldNum" sz="quarter" idx="4294967295"/>
          </p:nvPr>
        </p:nvSpPr>
        <p:spPr>
          <a:xfrm>
            <a:off x="11064240" y="393192"/>
            <a:ext cx="640080" cy="411480"/>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Malgun Gothic"/>
                <a:ea typeface="Malgun Gothic"/>
                <a:cs typeface="Malgun Gothic"/>
              </a:defRPr>
            </a:lvl1pPr>
          </a:lstStyle>
          <a:p>
            <a:pPr algn="l"/>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indent="0" marL="0">
              <a:buNone/>
            </a:pPr>
            <a:r>
              <a:rPr lang="en-US" sz="3200" b="1" dirty="0">
                <a:solidFill>
                  <a:schemeClr val="bg1"/>
                </a:solidFill>
              </a:rPr>
              <a:t>레이스 운영처럼: 데이터에서 출발해 결론까지</a:t>
            </a:r>
            <a:endParaRPr lang="en-US" sz="3200" dirty="0"/>
          </a:p>
        </p:txBody>
      </p:sp>
      <p:sp>
        <p:nvSpPr>
          <p:cNvPr id="3" name="step-card-0"/>
          <p:cNvSpPr/>
          <p:nvPr/>
        </p:nvSpPr>
        <p:spPr>
          <a:xfrm>
            <a:off x="548640" y="1600200"/>
            <a:ext cx="1737360" cy="2834640"/>
          </a:xfrm>
          <a:prstGeom prst="roundRect">
            <a:avLst>
              <a:gd name="adj" fmla="val 4211"/>
            </a:avLst>
          </a:prstGeom>
          <a:solidFill>
            <a:srgbClr val="24242E"/>
          </a:solidFill>
          <a:ln w="9525">
            <a:solidFill>
              <a:srgbClr val="33333F"/>
            </a:solidFill>
            <a:prstDash val="solid"/>
          </a:ln>
        </p:spPr>
      </p:sp>
      <p:sp>
        <p:nvSpPr>
          <p:cNvPr id="4" name="step-lap-0"/>
          <p:cNvSpPr txBox="1"/>
          <p:nvPr/>
        </p:nvSpPr>
        <p:spPr>
          <a:xfrm>
            <a:off x="731520" y="1783080"/>
            <a:ext cx="1463040" cy="320040"/>
          </a:xfrm>
          <a:prstGeom prst="rect">
            <a:avLst/>
          </a:prstGeom>
          <a:noFill/>
          <a:ln/>
        </p:spPr>
        <p:txBody>
          <a:bodyPr wrap="square" lIns="0" tIns="0" rIns="0" bIns="0" rtlCol="0" anchor="t"/>
          <a:lstStyle/>
          <a:p>
            <a:pPr indent="0" marL="0">
              <a:buNone/>
            </a:pPr>
            <a:r>
              <a:rPr lang="en-US" sz="1100" b="1" spc="200" kern="0" dirty="0">
                <a:solidFill>
                  <a:schemeClr val="accent4"/>
                </a:solidFill>
              </a:rPr>
              <a:t>LAP 1</a:t>
            </a:r>
            <a:endParaRPr lang="en-US" sz="1100" dirty="0"/>
          </a:p>
        </p:txBody>
      </p:sp>
      <p:sp>
        <p:nvSpPr>
          <p:cNvPr id="5" name="step-num-0"/>
          <p:cNvSpPr txBox="1"/>
          <p:nvPr/>
        </p:nvSpPr>
        <p:spPr>
          <a:xfrm>
            <a:off x="731520" y="2148840"/>
            <a:ext cx="1463040" cy="731520"/>
          </a:xfrm>
          <a:prstGeom prst="rect">
            <a:avLst/>
          </a:prstGeom>
          <a:noFill/>
          <a:ln/>
        </p:spPr>
        <p:txBody>
          <a:bodyPr wrap="square" lIns="0" tIns="0" rIns="0" bIns="0" rtlCol="0" anchor="t"/>
          <a:lstStyle/>
          <a:p>
            <a:pPr indent="0" marL="0">
              <a:buNone/>
            </a:pPr>
            <a:r>
              <a:rPr lang="en-US" sz="3600" b="1" dirty="0">
                <a:solidFill>
                  <a:schemeClr val="bg1"/>
                </a:solidFill>
              </a:rPr>
              <a:t>01</a:t>
            </a:r>
            <a:endParaRPr lang="en-US" sz="3600" dirty="0"/>
          </a:p>
        </p:txBody>
      </p:sp>
      <p:sp>
        <p:nvSpPr>
          <p:cNvPr id="6" name="step-title-0"/>
          <p:cNvSpPr txBox="1"/>
          <p:nvPr/>
        </p:nvSpPr>
        <p:spPr>
          <a:xfrm>
            <a:off x="731520" y="2971800"/>
            <a:ext cx="1463040" cy="411480"/>
          </a:xfrm>
          <a:prstGeom prst="rect">
            <a:avLst/>
          </a:prstGeom>
          <a:noFill/>
          <a:ln/>
        </p:spPr>
        <p:txBody>
          <a:bodyPr wrap="square" lIns="0" tIns="0" rIns="0" bIns="0" rtlCol="0" anchor="t"/>
          <a:lstStyle/>
          <a:p>
            <a:pPr indent="0" marL="0">
              <a:buNone/>
            </a:pPr>
            <a:r>
              <a:rPr lang="en-US" sz="1600" b="1" dirty="0">
                <a:solidFill>
                  <a:schemeClr val="bg1"/>
                </a:solidFill>
              </a:rPr>
              <a:t>데이터 확인</a:t>
            </a:r>
            <a:endParaRPr lang="en-US" sz="1600" dirty="0"/>
          </a:p>
        </p:txBody>
      </p:sp>
      <p:sp>
        <p:nvSpPr>
          <p:cNvPr id="7" name="step-desc-0"/>
          <p:cNvSpPr txBox="1"/>
          <p:nvPr/>
        </p:nvSpPr>
        <p:spPr>
          <a:xfrm>
            <a:off x="731520" y="3429000"/>
            <a:ext cx="1417320" cy="868680"/>
          </a:xfrm>
          <a:prstGeom prst="rect">
            <a:avLst/>
          </a:prstGeom>
          <a:noFill/>
          <a:ln/>
        </p:spPr>
        <p:txBody>
          <a:bodyPr wrap="square" lIns="0" tIns="0" rIns="0" bIns="0" rtlCol="0" anchor="t"/>
          <a:lstStyle/>
          <a:p>
            <a:pPr indent="0" marL="0">
              <a:buNone/>
            </a:pPr>
            <a:r>
              <a:rPr lang="en-US" sz="1200" dirty="0">
                <a:solidFill>
                  <a:schemeClr val="bg2"/>
                </a:solidFill>
              </a:rPr>
              <a:t>오염 6종의 범위·품질 파악</a:t>
            </a:r>
            <a:endParaRPr lang="en-US" sz="1200" dirty="0"/>
          </a:p>
        </p:txBody>
      </p:sp>
      <p:sp>
        <p:nvSpPr>
          <p:cNvPr id="8" name="step-card-1"/>
          <p:cNvSpPr/>
          <p:nvPr/>
        </p:nvSpPr>
        <p:spPr>
          <a:xfrm>
            <a:off x="2441448" y="1600200"/>
            <a:ext cx="1737360" cy="2834640"/>
          </a:xfrm>
          <a:prstGeom prst="roundRect">
            <a:avLst>
              <a:gd name="adj" fmla="val 4211"/>
            </a:avLst>
          </a:prstGeom>
          <a:solidFill>
            <a:srgbClr val="24242E"/>
          </a:solidFill>
          <a:ln w="9525">
            <a:solidFill>
              <a:srgbClr val="33333F"/>
            </a:solidFill>
            <a:prstDash val="solid"/>
          </a:ln>
        </p:spPr>
      </p:sp>
      <p:sp>
        <p:nvSpPr>
          <p:cNvPr id="9" name="step-lap-1"/>
          <p:cNvSpPr txBox="1"/>
          <p:nvPr/>
        </p:nvSpPr>
        <p:spPr>
          <a:xfrm>
            <a:off x="2624328" y="1783080"/>
            <a:ext cx="1463040" cy="320040"/>
          </a:xfrm>
          <a:prstGeom prst="rect">
            <a:avLst/>
          </a:prstGeom>
          <a:noFill/>
          <a:ln/>
        </p:spPr>
        <p:txBody>
          <a:bodyPr wrap="square" lIns="0" tIns="0" rIns="0" bIns="0" rtlCol="0" anchor="t"/>
          <a:lstStyle/>
          <a:p>
            <a:pPr indent="0" marL="0">
              <a:buNone/>
            </a:pPr>
            <a:r>
              <a:rPr lang="en-US" sz="1100" b="1" spc="200" kern="0" dirty="0">
                <a:solidFill>
                  <a:schemeClr val="accent4"/>
                </a:solidFill>
              </a:rPr>
              <a:t>LAP 2</a:t>
            </a:r>
            <a:endParaRPr lang="en-US" sz="1100" dirty="0"/>
          </a:p>
        </p:txBody>
      </p:sp>
      <p:sp>
        <p:nvSpPr>
          <p:cNvPr id="10" name="step-num-1"/>
          <p:cNvSpPr txBox="1"/>
          <p:nvPr/>
        </p:nvSpPr>
        <p:spPr>
          <a:xfrm>
            <a:off x="2624328" y="2148840"/>
            <a:ext cx="1463040" cy="731520"/>
          </a:xfrm>
          <a:prstGeom prst="rect">
            <a:avLst/>
          </a:prstGeom>
          <a:noFill/>
          <a:ln/>
        </p:spPr>
        <p:txBody>
          <a:bodyPr wrap="square" lIns="0" tIns="0" rIns="0" bIns="0" rtlCol="0" anchor="t"/>
          <a:lstStyle/>
          <a:p>
            <a:pPr indent="0" marL="0">
              <a:buNone/>
            </a:pPr>
            <a:r>
              <a:rPr lang="en-US" sz="3600" b="1" dirty="0">
                <a:solidFill>
                  <a:schemeClr val="bg1"/>
                </a:solidFill>
              </a:rPr>
              <a:t>02</a:t>
            </a:r>
            <a:endParaRPr lang="en-US" sz="3600" dirty="0"/>
          </a:p>
        </p:txBody>
      </p:sp>
      <p:sp>
        <p:nvSpPr>
          <p:cNvPr id="11" name="step-title-1"/>
          <p:cNvSpPr txBox="1"/>
          <p:nvPr/>
        </p:nvSpPr>
        <p:spPr>
          <a:xfrm>
            <a:off x="2624328" y="2971800"/>
            <a:ext cx="1463040" cy="411480"/>
          </a:xfrm>
          <a:prstGeom prst="rect">
            <a:avLst/>
          </a:prstGeom>
          <a:noFill/>
          <a:ln/>
        </p:spPr>
        <p:txBody>
          <a:bodyPr wrap="square" lIns="0" tIns="0" rIns="0" bIns="0" rtlCol="0" anchor="t"/>
          <a:lstStyle/>
          <a:p>
            <a:pPr indent="0" marL="0">
              <a:buNone/>
            </a:pPr>
            <a:r>
              <a:rPr lang="en-US" sz="1600" b="1" dirty="0">
                <a:solidFill>
                  <a:schemeClr val="bg1"/>
                </a:solidFill>
              </a:rPr>
              <a:t>정제·검증</a:t>
            </a:r>
            <a:endParaRPr lang="en-US" sz="1600" dirty="0"/>
          </a:p>
        </p:txBody>
      </p:sp>
      <p:sp>
        <p:nvSpPr>
          <p:cNvPr id="12" name="step-desc-1"/>
          <p:cNvSpPr txBox="1"/>
          <p:nvPr/>
        </p:nvSpPr>
        <p:spPr>
          <a:xfrm>
            <a:off x="2624328" y="3429000"/>
            <a:ext cx="1417320" cy="868680"/>
          </a:xfrm>
          <a:prstGeom prst="rect">
            <a:avLst/>
          </a:prstGeom>
          <a:noFill/>
          <a:ln/>
        </p:spPr>
        <p:txBody>
          <a:bodyPr wrap="square" lIns="0" tIns="0" rIns="0" bIns="0" rtlCol="0" anchor="t"/>
          <a:lstStyle/>
          <a:p>
            <a:pPr indent="0" marL="0">
              <a:buNone/>
            </a:pPr>
            <a:r>
              <a:rPr lang="en-US" sz="1200" dirty="0">
                <a:solidFill>
                  <a:schemeClr val="bg2"/>
                </a:solidFill>
              </a:rPr>
              <a:t>탐지·복구·격리, VC01~VC71</a:t>
            </a:r>
            <a:endParaRPr lang="en-US" sz="1200" dirty="0"/>
          </a:p>
        </p:txBody>
      </p:sp>
      <p:sp>
        <p:nvSpPr>
          <p:cNvPr id="13" name="step-card-2"/>
          <p:cNvSpPr/>
          <p:nvPr/>
        </p:nvSpPr>
        <p:spPr>
          <a:xfrm>
            <a:off x="4334256" y="1600200"/>
            <a:ext cx="1737360" cy="2834640"/>
          </a:xfrm>
          <a:prstGeom prst="roundRect">
            <a:avLst>
              <a:gd name="adj" fmla="val 4211"/>
            </a:avLst>
          </a:prstGeom>
          <a:solidFill>
            <a:srgbClr val="24242E"/>
          </a:solidFill>
          <a:ln w="9525">
            <a:solidFill>
              <a:srgbClr val="33333F"/>
            </a:solidFill>
            <a:prstDash val="solid"/>
          </a:ln>
        </p:spPr>
      </p:sp>
      <p:sp>
        <p:nvSpPr>
          <p:cNvPr id="14" name="step-lap-2"/>
          <p:cNvSpPr txBox="1"/>
          <p:nvPr/>
        </p:nvSpPr>
        <p:spPr>
          <a:xfrm>
            <a:off x="4517136" y="1783080"/>
            <a:ext cx="1463040" cy="320040"/>
          </a:xfrm>
          <a:prstGeom prst="rect">
            <a:avLst/>
          </a:prstGeom>
          <a:noFill/>
          <a:ln/>
        </p:spPr>
        <p:txBody>
          <a:bodyPr wrap="square" lIns="0" tIns="0" rIns="0" bIns="0" rtlCol="0" anchor="t"/>
          <a:lstStyle/>
          <a:p>
            <a:pPr indent="0" marL="0">
              <a:buNone/>
            </a:pPr>
            <a:r>
              <a:rPr lang="en-US" sz="1100" b="1" spc="200" kern="0" dirty="0">
                <a:solidFill>
                  <a:schemeClr val="accent4"/>
                </a:solidFill>
              </a:rPr>
              <a:t>LAP 3</a:t>
            </a:r>
            <a:endParaRPr lang="en-US" sz="1100" dirty="0"/>
          </a:p>
        </p:txBody>
      </p:sp>
      <p:sp>
        <p:nvSpPr>
          <p:cNvPr id="15" name="step-num-2"/>
          <p:cNvSpPr txBox="1"/>
          <p:nvPr/>
        </p:nvSpPr>
        <p:spPr>
          <a:xfrm>
            <a:off x="4517136" y="2148840"/>
            <a:ext cx="1463040" cy="731520"/>
          </a:xfrm>
          <a:prstGeom prst="rect">
            <a:avLst/>
          </a:prstGeom>
          <a:noFill/>
          <a:ln/>
        </p:spPr>
        <p:txBody>
          <a:bodyPr wrap="square" lIns="0" tIns="0" rIns="0" bIns="0" rtlCol="0" anchor="t"/>
          <a:lstStyle/>
          <a:p>
            <a:pPr indent="0" marL="0">
              <a:buNone/>
            </a:pPr>
            <a:r>
              <a:rPr lang="en-US" sz="3600" b="1" dirty="0">
                <a:solidFill>
                  <a:schemeClr val="bg1"/>
                </a:solidFill>
              </a:rPr>
              <a:t>03</a:t>
            </a:r>
            <a:endParaRPr lang="en-US" sz="3600" dirty="0"/>
          </a:p>
        </p:txBody>
      </p:sp>
      <p:sp>
        <p:nvSpPr>
          <p:cNvPr id="16" name="step-title-2"/>
          <p:cNvSpPr txBox="1"/>
          <p:nvPr/>
        </p:nvSpPr>
        <p:spPr>
          <a:xfrm>
            <a:off x="4517136" y="2971800"/>
            <a:ext cx="1463040" cy="411480"/>
          </a:xfrm>
          <a:prstGeom prst="rect">
            <a:avLst/>
          </a:prstGeom>
          <a:noFill/>
          <a:ln/>
        </p:spPr>
        <p:txBody>
          <a:bodyPr wrap="square" lIns="0" tIns="0" rIns="0" bIns="0" rtlCol="0" anchor="t"/>
          <a:lstStyle/>
          <a:p>
            <a:pPr indent="0" marL="0">
              <a:buNone/>
            </a:pPr>
            <a:r>
              <a:rPr lang="en-US" sz="1600" b="1" dirty="0">
                <a:solidFill>
                  <a:schemeClr val="bg1"/>
                </a:solidFill>
              </a:rPr>
              <a:t>탐색·비교</a:t>
            </a:r>
            <a:endParaRPr lang="en-US" sz="1600" dirty="0"/>
          </a:p>
        </p:txBody>
      </p:sp>
      <p:sp>
        <p:nvSpPr>
          <p:cNvPr id="17" name="step-desc-2"/>
          <p:cNvSpPr txBox="1"/>
          <p:nvPr/>
        </p:nvSpPr>
        <p:spPr>
          <a:xfrm>
            <a:off x="4517136" y="3429000"/>
            <a:ext cx="1417320" cy="868680"/>
          </a:xfrm>
          <a:prstGeom prst="rect">
            <a:avLst/>
          </a:prstGeom>
          <a:noFill/>
          <a:ln/>
        </p:spPr>
        <p:txBody>
          <a:bodyPr wrap="square" lIns="0" tIns="0" rIns="0" bIns="0" rtlCol="0" anchor="t"/>
          <a:lstStyle/>
          <a:p>
            <a:pPr indent="0" marL="0">
              <a:buNone/>
            </a:pPr>
            <a:r>
              <a:rPr lang="en-US" sz="1200" dirty="0">
                <a:solidFill>
                  <a:schemeClr val="bg2"/>
                </a:solidFill>
              </a:rPr>
              <a:t>페이스·타이어·피트 비교</a:t>
            </a:r>
            <a:endParaRPr lang="en-US" sz="1200" dirty="0"/>
          </a:p>
        </p:txBody>
      </p:sp>
      <p:sp>
        <p:nvSpPr>
          <p:cNvPr id="18" name="step-card-3"/>
          <p:cNvSpPr/>
          <p:nvPr/>
        </p:nvSpPr>
        <p:spPr>
          <a:xfrm>
            <a:off x="6227064" y="1600200"/>
            <a:ext cx="1737360" cy="2834640"/>
          </a:xfrm>
          <a:prstGeom prst="roundRect">
            <a:avLst>
              <a:gd name="adj" fmla="val 4211"/>
            </a:avLst>
          </a:prstGeom>
          <a:solidFill>
            <a:srgbClr val="3A0A08"/>
          </a:solidFill>
          <a:ln w="19050">
            <a:solidFill>
              <a:srgbClr val="E10600"/>
            </a:solidFill>
            <a:prstDash val="solid"/>
          </a:ln>
        </p:spPr>
      </p:sp>
      <p:sp>
        <p:nvSpPr>
          <p:cNvPr id="19" name="step-lap-3"/>
          <p:cNvSpPr txBox="1"/>
          <p:nvPr/>
        </p:nvSpPr>
        <p:spPr>
          <a:xfrm>
            <a:off x="6409944" y="1783080"/>
            <a:ext cx="1463040" cy="320040"/>
          </a:xfrm>
          <a:prstGeom prst="rect">
            <a:avLst/>
          </a:prstGeom>
          <a:noFill/>
          <a:ln/>
        </p:spPr>
        <p:txBody>
          <a:bodyPr wrap="square" lIns="0" tIns="0" rIns="0" bIns="0" rtlCol="0" anchor="t"/>
          <a:lstStyle/>
          <a:p>
            <a:pPr indent="0" marL="0">
              <a:buNone/>
            </a:pPr>
            <a:r>
              <a:rPr lang="en-US" sz="1100" b="1" spc="200" kern="0" dirty="0">
                <a:solidFill>
                  <a:schemeClr val="accent1"/>
                </a:solidFill>
              </a:rPr>
              <a:t>PIT STOP</a:t>
            </a:r>
            <a:endParaRPr lang="en-US" sz="1100" dirty="0"/>
          </a:p>
        </p:txBody>
      </p:sp>
      <p:sp>
        <p:nvSpPr>
          <p:cNvPr id="20" name="step-num-3"/>
          <p:cNvSpPr txBox="1"/>
          <p:nvPr/>
        </p:nvSpPr>
        <p:spPr>
          <a:xfrm>
            <a:off x="6409944" y="2148840"/>
            <a:ext cx="1463040" cy="731520"/>
          </a:xfrm>
          <a:prstGeom prst="rect">
            <a:avLst/>
          </a:prstGeom>
          <a:noFill/>
          <a:ln/>
        </p:spPr>
        <p:txBody>
          <a:bodyPr wrap="square" lIns="0" tIns="0" rIns="0" bIns="0" rtlCol="0" anchor="t"/>
          <a:lstStyle/>
          <a:p>
            <a:pPr indent="0" marL="0">
              <a:buNone/>
            </a:pPr>
            <a:r>
              <a:rPr lang="en-US" sz="3600" b="1" dirty="0">
                <a:solidFill>
                  <a:schemeClr val="accent1"/>
                </a:solidFill>
              </a:rPr>
              <a:t>04</a:t>
            </a:r>
            <a:endParaRPr lang="en-US" sz="3600" dirty="0"/>
          </a:p>
        </p:txBody>
      </p:sp>
      <p:sp>
        <p:nvSpPr>
          <p:cNvPr id="21" name="step-title-3"/>
          <p:cNvSpPr txBox="1"/>
          <p:nvPr/>
        </p:nvSpPr>
        <p:spPr>
          <a:xfrm>
            <a:off x="6409944" y="2971800"/>
            <a:ext cx="1463040" cy="411480"/>
          </a:xfrm>
          <a:prstGeom prst="rect">
            <a:avLst/>
          </a:prstGeom>
          <a:noFill/>
          <a:ln/>
        </p:spPr>
        <p:txBody>
          <a:bodyPr wrap="square" lIns="0" tIns="0" rIns="0" bIns="0" rtlCol="0" anchor="t"/>
          <a:lstStyle/>
          <a:p>
            <a:pPr indent="0" marL="0">
              <a:buNone/>
            </a:pPr>
            <a:r>
              <a:rPr lang="en-US" sz="1600" b="1" dirty="0">
                <a:solidFill>
                  <a:schemeClr val="bg1"/>
                </a:solidFill>
              </a:rPr>
              <a:t>추가 수집</a:t>
            </a:r>
            <a:endParaRPr lang="en-US" sz="1600" dirty="0"/>
          </a:p>
        </p:txBody>
      </p:sp>
      <p:sp>
        <p:nvSpPr>
          <p:cNvPr id="22" name="step-desc-3"/>
          <p:cNvSpPr txBox="1"/>
          <p:nvPr/>
        </p:nvSpPr>
        <p:spPr>
          <a:xfrm>
            <a:off x="6409944" y="3429000"/>
            <a:ext cx="1417320" cy="868680"/>
          </a:xfrm>
          <a:prstGeom prst="rect">
            <a:avLst/>
          </a:prstGeom>
          <a:noFill/>
          <a:ln/>
        </p:spPr>
        <p:txBody>
          <a:bodyPr wrap="square" lIns="0" tIns="0" rIns="0" bIns="0" rtlCol="0" anchor="t"/>
          <a:lstStyle/>
          <a:p>
            <a:pPr indent="0" marL="0">
              <a:buNone/>
            </a:pPr>
            <a:r>
              <a:rPr lang="en-US" sz="1200" dirty="0">
                <a:solidFill>
                  <a:schemeClr val="bg2"/>
                </a:solidFill>
              </a:rPr>
              <a:t>결과·순위·경기 상황 보완 5종</a:t>
            </a:r>
            <a:endParaRPr lang="en-US" sz="1200" dirty="0"/>
          </a:p>
        </p:txBody>
      </p:sp>
      <p:sp>
        <p:nvSpPr>
          <p:cNvPr id="23" name="step-card-4"/>
          <p:cNvSpPr/>
          <p:nvPr/>
        </p:nvSpPr>
        <p:spPr>
          <a:xfrm>
            <a:off x="8119872" y="1600200"/>
            <a:ext cx="1737360" cy="2834640"/>
          </a:xfrm>
          <a:prstGeom prst="roundRect">
            <a:avLst>
              <a:gd name="adj" fmla="val 4211"/>
            </a:avLst>
          </a:prstGeom>
          <a:solidFill>
            <a:srgbClr val="24242E"/>
          </a:solidFill>
          <a:ln w="9525">
            <a:solidFill>
              <a:srgbClr val="33333F"/>
            </a:solidFill>
            <a:prstDash val="solid"/>
          </a:ln>
        </p:spPr>
      </p:sp>
      <p:sp>
        <p:nvSpPr>
          <p:cNvPr id="24" name="step-lap-4"/>
          <p:cNvSpPr txBox="1"/>
          <p:nvPr/>
        </p:nvSpPr>
        <p:spPr>
          <a:xfrm>
            <a:off x="8302752" y="1783080"/>
            <a:ext cx="1463040" cy="320040"/>
          </a:xfrm>
          <a:prstGeom prst="rect">
            <a:avLst/>
          </a:prstGeom>
          <a:noFill/>
          <a:ln/>
        </p:spPr>
        <p:txBody>
          <a:bodyPr wrap="square" lIns="0" tIns="0" rIns="0" bIns="0" rtlCol="0" anchor="t"/>
          <a:lstStyle/>
          <a:p>
            <a:pPr indent="0" marL="0">
              <a:buNone/>
            </a:pPr>
            <a:r>
              <a:rPr lang="en-US" sz="1100" b="1" spc="200" kern="0" dirty="0">
                <a:solidFill>
                  <a:schemeClr val="accent4"/>
                </a:solidFill>
              </a:rPr>
              <a:t>LAP 5</a:t>
            </a:r>
            <a:endParaRPr lang="en-US" sz="1100" dirty="0"/>
          </a:p>
        </p:txBody>
      </p:sp>
      <p:sp>
        <p:nvSpPr>
          <p:cNvPr id="25" name="step-num-4"/>
          <p:cNvSpPr txBox="1"/>
          <p:nvPr/>
        </p:nvSpPr>
        <p:spPr>
          <a:xfrm>
            <a:off x="8302752" y="2148840"/>
            <a:ext cx="1463040" cy="731520"/>
          </a:xfrm>
          <a:prstGeom prst="rect">
            <a:avLst/>
          </a:prstGeom>
          <a:noFill/>
          <a:ln/>
        </p:spPr>
        <p:txBody>
          <a:bodyPr wrap="square" lIns="0" tIns="0" rIns="0" bIns="0" rtlCol="0" anchor="t"/>
          <a:lstStyle/>
          <a:p>
            <a:pPr indent="0" marL="0">
              <a:buNone/>
            </a:pPr>
            <a:r>
              <a:rPr lang="en-US" sz="3600" b="1" dirty="0">
                <a:solidFill>
                  <a:schemeClr val="bg1"/>
                </a:solidFill>
              </a:rPr>
              <a:t>05</a:t>
            </a:r>
            <a:endParaRPr lang="en-US" sz="3600" dirty="0"/>
          </a:p>
        </p:txBody>
      </p:sp>
      <p:sp>
        <p:nvSpPr>
          <p:cNvPr id="26" name="step-title-4"/>
          <p:cNvSpPr txBox="1"/>
          <p:nvPr/>
        </p:nvSpPr>
        <p:spPr>
          <a:xfrm>
            <a:off x="8302752" y="2971800"/>
            <a:ext cx="1463040" cy="411480"/>
          </a:xfrm>
          <a:prstGeom prst="rect">
            <a:avLst/>
          </a:prstGeom>
          <a:noFill/>
          <a:ln/>
        </p:spPr>
        <p:txBody>
          <a:bodyPr wrap="square" lIns="0" tIns="0" rIns="0" bIns="0" rtlCol="0" anchor="t"/>
          <a:lstStyle/>
          <a:p>
            <a:pPr indent="0" marL="0">
              <a:buNone/>
            </a:pPr>
            <a:r>
              <a:rPr lang="en-US" sz="1600" b="1" dirty="0">
                <a:solidFill>
                  <a:schemeClr val="bg1"/>
                </a:solidFill>
              </a:rPr>
              <a:t>결론 도출</a:t>
            </a:r>
            <a:endParaRPr lang="en-US" sz="1600" dirty="0"/>
          </a:p>
        </p:txBody>
      </p:sp>
      <p:sp>
        <p:nvSpPr>
          <p:cNvPr id="27" name="step-desc-4"/>
          <p:cNvSpPr txBox="1"/>
          <p:nvPr/>
        </p:nvSpPr>
        <p:spPr>
          <a:xfrm>
            <a:off x="8302752" y="3429000"/>
            <a:ext cx="1417320" cy="868680"/>
          </a:xfrm>
          <a:prstGeom prst="rect">
            <a:avLst/>
          </a:prstGeom>
          <a:noFill/>
          <a:ln/>
        </p:spPr>
        <p:txBody>
          <a:bodyPr wrap="square" lIns="0" tIns="0" rIns="0" bIns="0" rtlCol="0" anchor="t"/>
          <a:lstStyle/>
          <a:p>
            <a:pPr indent="0" marL="0">
              <a:buNone/>
            </a:pPr>
            <a:r>
              <a:rPr lang="en-US" sz="1200" dirty="0">
                <a:solidFill>
                  <a:schemeClr val="bg2"/>
                </a:solidFill>
              </a:rPr>
              <a:t>관측 결과에 근거한 판단</a:t>
            </a:r>
            <a:endParaRPr lang="en-US" sz="1200" dirty="0"/>
          </a:p>
        </p:txBody>
      </p:sp>
      <p:sp>
        <p:nvSpPr>
          <p:cNvPr id="28" name="step-card-5"/>
          <p:cNvSpPr/>
          <p:nvPr/>
        </p:nvSpPr>
        <p:spPr>
          <a:xfrm>
            <a:off x="10012680" y="1600200"/>
            <a:ext cx="1737360" cy="2834640"/>
          </a:xfrm>
          <a:prstGeom prst="roundRect">
            <a:avLst>
              <a:gd name="adj" fmla="val 4211"/>
            </a:avLst>
          </a:prstGeom>
          <a:solidFill>
            <a:srgbClr val="24242E"/>
          </a:solidFill>
          <a:ln w="9525">
            <a:solidFill>
              <a:srgbClr val="33333F"/>
            </a:solidFill>
            <a:prstDash val="solid"/>
          </a:ln>
        </p:spPr>
      </p:sp>
      <p:sp>
        <p:nvSpPr>
          <p:cNvPr id="29" name="step-lap-5"/>
          <p:cNvSpPr txBox="1"/>
          <p:nvPr/>
        </p:nvSpPr>
        <p:spPr>
          <a:xfrm>
            <a:off x="10195560" y="1783080"/>
            <a:ext cx="1463040" cy="320040"/>
          </a:xfrm>
          <a:prstGeom prst="rect">
            <a:avLst/>
          </a:prstGeom>
          <a:noFill/>
          <a:ln/>
        </p:spPr>
        <p:txBody>
          <a:bodyPr wrap="square" lIns="0" tIns="0" rIns="0" bIns="0" rtlCol="0" anchor="t"/>
          <a:lstStyle/>
          <a:p>
            <a:pPr indent="0" marL="0">
              <a:buNone/>
            </a:pPr>
            <a:r>
              <a:rPr lang="en-US" sz="1100" b="1" spc="200" kern="0" dirty="0">
                <a:solidFill>
                  <a:schemeClr val="accent4"/>
                </a:solidFill>
              </a:rPr>
              <a:t>LAP 6</a:t>
            </a:r>
            <a:endParaRPr lang="en-US" sz="1100" dirty="0"/>
          </a:p>
        </p:txBody>
      </p:sp>
      <p:sp>
        <p:nvSpPr>
          <p:cNvPr id="30" name="step-num-5"/>
          <p:cNvSpPr txBox="1"/>
          <p:nvPr/>
        </p:nvSpPr>
        <p:spPr>
          <a:xfrm>
            <a:off x="10195560" y="2148840"/>
            <a:ext cx="1463040" cy="731520"/>
          </a:xfrm>
          <a:prstGeom prst="rect">
            <a:avLst/>
          </a:prstGeom>
          <a:noFill/>
          <a:ln/>
        </p:spPr>
        <p:txBody>
          <a:bodyPr wrap="square" lIns="0" tIns="0" rIns="0" bIns="0" rtlCol="0" anchor="t"/>
          <a:lstStyle/>
          <a:p>
            <a:pPr indent="0" marL="0">
              <a:buNone/>
            </a:pPr>
            <a:r>
              <a:rPr lang="en-US" sz="3600" b="1" dirty="0">
                <a:solidFill>
                  <a:schemeClr val="bg1"/>
                </a:solidFill>
              </a:rPr>
              <a:t>06</a:t>
            </a:r>
            <a:endParaRPr lang="en-US" sz="3600" dirty="0"/>
          </a:p>
        </p:txBody>
      </p:sp>
      <p:sp>
        <p:nvSpPr>
          <p:cNvPr id="31" name="step-title-5"/>
          <p:cNvSpPr txBox="1"/>
          <p:nvPr/>
        </p:nvSpPr>
        <p:spPr>
          <a:xfrm>
            <a:off x="10195560" y="2971800"/>
            <a:ext cx="1463040" cy="411480"/>
          </a:xfrm>
          <a:prstGeom prst="rect">
            <a:avLst/>
          </a:prstGeom>
          <a:noFill/>
          <a:ln/>
        </p:spPr>
        <p:txBody>
          <a:bodyPr wrap="square" lIns="0" tIns="0" rIns="0" bIns="0" rtlCol="0" anchor="t"/>
          <a:lstStyle/>
          <a:p>
            <a:pPr indent="0" marL="0">
              <a:buNone/>
            </a:pPr>
            <a:r>
              <a:rPr lang="en-US" sz="1600" b="1" dirty="0">
                <a:solidFill>
                  <a:schemeClr val="bg1"/>
                </a:solidFill>
              </a:rPr>
              <a:t>의미 해석</a:t>
            </a:r>
            <a:endParaRPr lang="en-US" sz="1600" dirty="0"/>
          </a:p>
        </p:txBody>
      </p:sp>
      <p:sp>
        <p:nvSpPr>
          <p:cNvPr id="32" name="step-desc-5"/>
          <p:cNvSpPr txBox="1"/>
          <p:nvPr/>
        </p:nvSpPr>
        <p:spPr>
          <a:xfrm>
            <a:off x="10195560" y="3429000"/>
            <a:ext cx="1417320" cy="868680"/>
          </a:xfrm>
          <a:prstGeom prst="rect">
            <a:avLst/>
          </a:prstGeom>
          <a:noFill/>
          <a:ln/>
        </p:spPr>
        <p:txBody>
          <a:bodyPr wrap="square" lIns="0" tIns="0" rIns="0" bIns="0" rtlCol="0" anchor="t"/>
          <a:lstStyle/>
          <a:p>
            <a:pPr indent="0" marL="0">
              <a:buNone/>
            </a:pPr>
            <a:r>
              <a:rPr lang="en-US" sz="1200" dirty="0">
                <a:solidFill>
                  <a:schemeClr val="bg2"/>
                </a:solidFill>
              </a:rPr>
              <a:t>영입·팀 운영 시사점</a:t>
            </a:r>
            <a:endParaRPr lang="en-US" sz="1200" dirty="0"/>
          </a:p>
        </p:txBody>
      </p:sp>
      <p:sp>
        <p:nvSpPr>
          <p:cNvPr id="33" name="flow-note"/>
          <p:cNvSpPr/>
          <p:nvPr/>
        </p:nvSpPr>
        <p:spPr>
          <a:xfrm>
            <a:off x="548640" y="4800600"/>
            <a:ext cx="11109960" cy="1325880"/>
          </a:xfrm>
          <a:prstGeom prst="roundRect">
            <a:avLst>
              <a:gd name="adj" fmla="val 5517"/>
            </a:avLst>
          </a:prstGeom>
          <a:solidFill>
            <a:srgbClr val="15151E"/>
          </a:solidFill>
          <a:ln w="9525">
            <a:solidFill>
              <a:srgbClr val="33333F"/>
            </a:solidFill>
            <a:prstDash val="solid"/>
          </a:ln>
        </p:spPr>
      </p:sp>
      <p:sp>
        <p:nvSpPr>
          <p:cNvPr id="34" name="flow-note-text"/>
          <p:cNvSpPr txBox="1"/>
          <p:nvPr/>
        </p:nvSpPr>
        <p:spPr>
          <a:xfrm>
            <a:off x="868680" y="5029200"/>
            <a:ext cx="10515600" cy="914400"/>
          </a:xfrm>
          <a:prstGeom prst="rect">
            <a:avLst/>
          </a:prstGeom>
          <a:noFill/>
          <a:ln/>
        </p:spPr>
        <p:txBody>
          <a:bodyPr wrap="square" lIns="0" tIns="0" rIns="0" bIns="0" rtlCol="0" anchor="t"/>
          <a:lstStyle/>
          <a:p>
            <a:pPr indent="0" marL="0">
              <a:buNone/>
            </a:pPr>
            <a:r>
              <a:rPr lang="en-US" sz="1400" b="1" dirty="0">
                <a:solidFill>
                  <a:schemeClr val="accent1"/>
                </a:solidFill>
              </a:rPr>
              <a:t>왜 중간에 추가 수집?  </a:t>
            </a:r>
            <a:pPr indent="0" marL="0">
              <a:buNone/>
            </a:pPr>
            <a:r>
              <a:rPr lang="en-US" sz="1400" dirty="0">
                <a:solidFill>
                  <a:schemeClr val="bg2"/>
                </a:solidFill>
              </a:rPr>
              <a:t>정제한 6종만으로는 주행 지표의 차이가 실제 결과로 이어졌는지, 순위 변화가 SC/VSC 같은 경기 상황 때문인지 설명할 수 없었습니다. 그래서 출발 순위·경기 결과·주행 순위·경기 통제·격차 5종을 분석 도중 보완했습니다.</a:t>
            </a:r>
            <a:endParaRPr lang="en-US" sz="1400" dirty="0"/>
          </a:p>
        </p:txBody>
      </p:sp>
      <p:sp>
        <p:nvSpPr>
          <p:cNvPr id="25" name="Slide Number Placeholder 0"/>
          <p:cNvSpPr>
            <a:spLocks noGrp="1"/>
          </p:cNvSpPr>
          <p:nvPr>
            <p:ph type="sldNum" sz="quarter" idx="4294967295"/>
          </p:nvPr>
        </p:nvSpPr>
        <p:spPr>
          <a:xfrm>
            <a:off x="11064240" y="393192"/>
            <a:ext cx="640080" cy="411480"/>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Malgun Gothic"/>
                <a:ea typeface="Malgun Gothic"/>
                <a:cs typeface="Malgun Gothic"/>
              </a:defRPr>
            </a:lvl1pPr>
          </a:lstStyle>
          <a:p>
            <a:pPr algn="l"/>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731520" y="1554480"/>
            <a:ext cx="5486400" cy="822960"/>
          </a:xfrm>
          <a:prstGeom prst="rect">
            <a:avLst/>
          </a:prstGeom>
          <a:noFill/>
          <a:ln/>
        </p:spPr>
        <p:txBody>
          <a:bodyPr wrap="square" lIns="0" tIns="0" rIns="0" bIns="0" rtlCol="0"/>
          <a:lstStyle/>
          <a:p>
            <a:pPr indent="0" marL="0">
              <a:buNone/>
            </a:pPr>
            <a:r>
              <a:rPr lang="en-US" sz="5400" b="1" dirty="0">
                <a:solidFill>
                  <a:schemeClr val="accent1"/>
                </a:solidFill>
              </a:rPr>
              <a:t>01</a:t>
            </a:r>
            <a:endParaRPr lang="en-US" sz="5400" dirty="0"/>
          </a:p>
        </p:txBody>
      </p:sp>
      <p:sp>
        <p:nvSpPr>
          <p:cNvPr id="3" name="Text 0"/>
          <p:cNvSpPr/>
          <p:nvPr>
            <p:ph idx="101" type="title" hasCustomPrompt="1"/>
          </p:nvPr>
        </p:nvSpPr>
        <p:spPr>
          <a:xfrm>
            <a:off x="731520" y="2468880"/>
            <a:ext cx="10058400" cy="1005840"/>
          </a:xfrm>
          <a:prstGeom prst="rect">
            <a:avLst/>
          </a:prstGeom>
          <a:noFill/>
          <a:ln/>
        </p:spPr>
        <p:txBody>
          <a:bodyPr wrap="square" lIns="0" tIns="0" rIns="0" bIns="0" rtlCol="0"/>
          <a:lstStyle/>
          <a:p>
            <a:pPr indent="0" marL="0">
              <a:buNone/>
            </a:pPr>
            <a:r>
              <a:rPr lang="en-US" sz="4400" b="1" dirty="0">
                <a:solidFill>
                  <a:schemeClr val="bg1"/>
                </a:solidFill>
              </a:rPr>
              <a:t>데이터를 믿을 수 있게</a:t>
            </a:r>
            <a:endParaRPr lang="en-US" sz="4400" dirty="0"/>
          </a:p>
        </p:txBody>
      </p:sp>
      <p:sp>
        <p:nvSpPr>
          <p:cNvPr id="4" name="Text 0"/>
          <p:cNvSpPr/>
          <p:nvPr>
            <p:ph idx="102" type="body" hasCustomPrompt="1"/>
          </p:nvPr>
        </p:nvSpPr>
        <p:spPr>
          <a:xfrm>
            <a:off x="731520" y="3566160"/>
            <a:ext cx="9601200" cy="914400"/>
          </a:xfrm>
          <a:prstGeom prst="rect">
            <a:avLst/>
          </a:prstGeom>
          <a:noFill/>
          <a:ln/>
        </p:spPr>
        <p:txBody>
          <a:bodyPr wrap="square" lIns="0" tIns="0" rIns="0" bIns="0" rtlCol="0" anchor="t"/>
          <a:lstStyle/>
          <a:p>
            <a:pPr indent="0" marL="0">
              <a:buNone/>
            </a:pPr>
            <a:r>
              <a:rPr lang="en-US" sz="2000" dirty="0">
                <a:solidFill>
                  <a:schemeClr val="bg2"/>
                </a:solidFill>
              </a:rPr>
              <a:t>원본 보존 → 진단·복구·격리 → 같은 기준으로 두 번 검증</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indent="0" marL="0">
              <a:buNone/>
            </a:pPr>
            <a:r>
              <a:rPr lang="en-US" sz="3200" b="1" dirty="0">
                <a:solidFill>
                  <a:schemeClr val="bg1"/>
                </a:solidFill>
              </a:rPr>
              <a:t>원천 데이터 11종: 오염 6종 + 추가 5종</a:t>
            </a:r>
            <a:endParaRPr lang="en-US" sz="3200" dirty="0"/>
          </a:p>
        </p:txBody>
      </p:sp>
      <p:sp>
        <p:nvSpPr>
          <p:cNvPr id="3" name="table-base-h"/>
          <p:cNvSpPr txBox="1"/>
          <p:nvPr/>
        </p:nvSpPr>
        <p:spPr>
          <a:xfrm>
            <a:off x="548640" y="1325880"/>
            <a:ext cx="5486400" cy="365760"/>
          </a:xfrm>
          <a:prstGeom prst="rect">
            <a:avLst/>
          </a:prstGeom>
          <a:noFill/>
          <a:ln/>
        </p:spPr>
        <p:txBody>
          <a:bodyPr wrap="square" lIns="0" tIns="0" rIns="0" bIns="0" rtlCol="0" anchor="t"/>
          <a:lstStyle/>
          <a:p>
            <a:pPr indent="0" marL="0">
              <a:buNone/>
            </a:pPr>
            <a:r>
              <a:rPr lang="en-US" sz="1600" b="1" dirty="0">
                <a:solidFill>
                  <a:schemeClr val="bg1"/>
                </a:solidFill>
              </a:rPr>
              <a:t>먼저 확보한 오염 데이터 6종</a:t>
            </a:r>
            <a:endParaRPr lang="en-US" sz="1600" dirty="0"/>
          </a:p>
        </p:txBody>
      </p:sp>
      <p:graphicFrame>
        <p:nvGraphicFramePr>
          <p:cNvPr id="6" name="table-base"/>
          <p:cNvGraphicFramePr>
            <a:graphicFrameLocks noGrp="1"/>
          </p:cNvGraphicFramePr>
          <p:nvPr>
            <p:extLst>
              <p:ext uri="{D42A27DB-BD31-4B8C-83A1-F6EECF244321}">
                <p14:modId xmlns:p14="http://schemas.microsoft.com/office/powerpoint/2010/main" val="1579011935"/>
              </p:ext>
            </p:extLst>
          </p:nvPr>
        </p:nvGraphicFramePr>
        <p:xfrm>
          <a:off x="548640" y="1783080"/>
          <a:ext cx="5486400" cy="914400"/>
        </p:xfrm>
        <a:graphic>
          <a:graphicData uri="http://schemas.openxmlformats.org/drawingml/2006/table">
            <a:tbl>
              <a:tblPr/>
              <a:tblGrid>
                <a:gridCol w="1463040"/>
                <a:gridCol w="1143000"/>
                <a:gridCol w="2880360"/>
              </a:tblGrid>
              <a:tr h="457200">
                <a:tc>
                  <a:txBody>
                    <a:bodyPr/>
                    <a:lstStyle/>
                    <a:p>
                      <a:pPr indent="0" marL="0">
                        <a:buNone/>
                      </a:pPr>
                      <a:r>
                        <a:rPr lang="en-US" sz="1200" b="1" dirty="0">
                          <a:solidFill>
                            <a:srgbClr val="FFFFFF"/>
                          </a:solidFill>
                        </a:rPr>
                        <a:t>데이터</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3A3A46"/>
                    </a:solidFill>
                  </a:tcPr>
                </a:tc>
                <a:tc>
                  <a:txBody>
                    <a:bodyPr/>
                    <a:lstStyle/>
                    <a:p>
                      <a:pPr algn="r" indent="0" marL="0">
                        <a:buNone/>
                      </a:pPr>
                      <a:r>
                        <a:rPr lang="en-US" sz="1200" b="1" dirty="0">
                          <a:solidFill>
                            <a:srgbClr val="FFFFFF"/>
                          </a:solidFill>
                        </a:rPr>
                        <a:t>행 수</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3A3A46"/>
                    </a:solidFill>
                  </a:tcPr>
                </a:tc>
                <a:tc>
                  <a:txBody>
                    <a:bodyPr/>
                    <a:lstStyle/>
                    <a:p>
                      <a:pPr indent="0" marL="0">
                        <a:buNone/>
                      </a:pPr>
                      <a:r>
                        <a:rPr lang="en-US" sz="1200" b="1" dirty="0">
                          <a:solidFill>
                            <a:srgbClr val="FFFFFF"/>
                          </a:solidFill>
                        </a:rPr>
                        <a:t>쓰임</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3A3A46"/>
                    </a:solidFill>
                  </a:tcPr>
                </a:tc>
              </a:tr>
              <a:tr h="457200">
                <a:tc>
                  <a:txBody>
                    <a:bodyPr/>
                    <a:lstStyle/>
                    <a:p>
                      <a:pPr indent="0" marL="0">
                        <a:buNone/>
                      </a:pPr>
                      <a:r>
                        <a:rPr lang="en-US" sz="1200" b="1" dirty="0">
                          <a:solidFill>
                            <a:srgbClr val="FFFFFF"/>
                          </a:solidFill>
                        </a:rPr>
                        <a:t>sessions</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24242E"/>
                    </a:solidFill>
                  </a:tcPr>
                </a:tc>
                <a:tc>
                  <a:txBody>
                    <a:bodyPr/>
                    <a:lstStyle/>
                    <a:p>
                      <a:pPr algn="r" indent="0" marL="0">
                        <a:buNone/>
                      </a:pPr>
                      <a:r>
                        <a:rPr lang="en-US" sz="1200" dirty="0">
                          <a:solidFill>
                            <a:srgbClr val="FFFFFF"/>
                          </a:solidFill>
                        </a:rPr>
                        <a:t>87</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24242E"/>
                    </a:solidFill>
                  </a:tcPr>
                </a:tc>
                <a:tc>
                  <a:txBody>
                    <a:bodyPr/>
                    <a:lstStyle/>
                    <a:p>
                      <a:pPr indent="0" marL="0">
                        <a:buNone/>
                      </a:pPr>
                      <a:r>
                        <a:rPr lang="en-US" sz="1200" dirty="0">
                          <a:solidFill>
                            <a:srgbClr val="B9BAC4"/>
                          </a:solidFill>
                        </a:rPr>
                        <a:t>시즌·경기·서킷</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24242E"/>
                    </a:solidFill>
                  </a:tcPr>
                </a:tc>
              </a:tr>
              <a:tr h="457200">
                <a:tc>
                  <a:txBody>
                    <a:bodyPr/>
                    <a:lstStyle/>
                    <a:p>
                      <a:pPr indent="0" marL="0">
                        <a:buNone/>
                      </a:pPr>
                      <a:r>
                        <a:rPr lang="en-US" sz="1200" b="1" dirty="0">
                          <a:solidFill>
                            <a:srgbClr val="FFFFFF"/>
                          </a:solidFill>
                        </a:rPr>
                        <a:t>drivers</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c>
                  <a:txBody>
                    <a:bodyPr/>
                    <a:lstStyle/>
                    <a:p>
                      <a:pPr algn="r" indent="0" marL="0">
                        <a:buNone/>
                      </a:pPr>
                      <a:r>
                        <a:rPr lang="en-US" sz="1200" dirty="0">
                          <a:solidFill>
                            <a:srgbClr val="FFFFFF"/>
                          </a:solidFill>
                        </a:rPr>
                        <a:t>1,771</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c>
                  <a:txBody>
                    <a:bodyPr/>
                    <a:lstStyle/>
                    <a:p>
                      <a:pPr indent="0" marL="0">
                        <a:buNone/>
                      </a:pPr>
                      <a:r>
                        <a:rPr lang="en-US" sz="1200" dirty="0">
                          <a:solidFill>
                            <a:srgbClr val="B9BAC4"/>
                          </a:solidFill>
                        </a:rPr>
                        <a:t>선수 신원·당시 소속</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r>
              <a:tr h="457200">
                <a:tc>
                  <a:txBody>
                    <a:bodyPr/>
                    <a:lstStyle/>
                    <a:p>
                      <a:pPr indent="0" marL="0">
                        <a:buNone/>
                      </a:pPr>
                      <a:r>
                        <a:rPr lang="en-US" sz="1200" b="1" dirty="0">
                          <a:solidFill>
                            <a:srgbClr val="FFFFFF"/>
                          </a:solidFill>
                        </a:rPr>
                        <a:t>laps</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24242E"/>
                    </a:solidFill>
                  </a:tcPr>
                </a:tc>
                <a:tc>
                  <a:txBody>
                    <a:bodyPr/>
                    <a:lstStyle/>
                    <a:p>
                      <a:pPr algn="r" indent="0" marL="0">
                        <a:buNone/>
                      </a:pPr>
                      <a:r>
                        <a:rPr lang="en-US" sz="1200" dirty="0">
                          <a:solidFill>
                            <a:srgbClr val="FFFFFF"/>
                          </a:solidFill>
                        </a:rPr>
                        <a:t>97,018</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24242E"/>
                    </a:solidFill>
                  </a:tcPr>
                </a:tc>
                <a:tc>
                  <a:txBody>
                    <a:bodyPr/>
                    <a:lstStyle/>
                    <a:p>
                      <a:pPr indent="0" marL="0">
                        <a:buNone/>
                      </a:pPr>
                      <a:r>
                        <a:rPr lang="en-US" sz="1200" dirty="0">
                          <a:solidFill>
                            <a:srgbClr val="B9BAC4"/>
                          </a:solidFill>
                        </a:rPr>
                        <a:t>랩·섹터 페이스</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24242E"/>
                    </a:solidFill>
                  </a:tcPr>
                </a:tc>
              </a:tr>
              <a:tr h="457200">
                <a:tc>
                  <a:txBody>
                    <a:bodyPr/>
                    <a:lstStyle/>
                    <a:p>
                      <a:pPr indent="0" marL="0">
                        <a:buNone/>
                      </a:pPr>
                      <a:r>
                        <a:rPr lang="en-US" sz="1200" b="1" dirty="0">
                          <a:solidFill>
                            <a:srgbClr val="FFFFFF"/>
                          </a:solidFill>
                        </a:rPr>
                        <a:t>stints</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c>
                  <a:txBody>
                    <a:bodyPr/>
                    <a:lstStyle/>
                    <a:p>
                      <a:pPr algn="r" indent="0" marL="0">
                        <a:buNone/>
                      </a:pPr>
                      <a:r>
                        <a:rPr lang="en-US" sz="1200" dirty="0">
                          <a:solidFill>
                            <a:srgbClr val="FFFFFF"/>
                          </a:solidFill>
                        </a:rPr>
                        <a:t>5,040</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c>
                  <a:txBody>
                    <a:bodyPr/>
                    <a:lstStyle/>
                    <a:p>
                      <a:pPr indent="0" marL="0">
                        <a:buNone/>
                      </a:pPr>
                      <a:r>
                        <a:rPr lang="en-US" sz="1200" dirty="0">
                          <a:solidFill>
                            <a:srgbClr val="B9BAC4"/>
                          </a:solidFill>
                        </a:rPr>
                        <a:t>타이어 구간</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r>
              <a:tr h="457200">
                <a:tc>
                  <a:txBody>
                    <a:bodyPr/>
                    <a:lstStyle/>
                    <a:p>
                      <a:pPr indent="0" marL="0">
                        <a:buNone/>
                      </a:pPr>
                      <a:r>
                        <a:rPr lang="en-US" sz="1200" b="1" dirty="0">
                          <a:solidFill>
                            <a:srgbClr val="FFFFFF"/>
                          </a:solidFill>
                        </a:rPr>
                        <a:t>weather</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24242E"/>
                    </a:solidFill>
                  </a:tcPr>
                </a:tc>
                <a:tc>
                  <a:txBody>
                    <a:bodyPr/>
                    <a:lstStyle/>
                    <a:p>
                      <a:pPr algn="r" indent="0" marL="0">
                        <a:buNone/>
                      </a:pPr>
                      <a:r>
                        <a:rPr lang="en-US" sz="1200" dirty="0">
                          <a:solidFill>
                            <a:srgbClr val="FFFFFF"/>
                          </a:solidFill>
                        </a:rPr>
                        <a:t>13,928</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24242E"/>
                    </a:solidFill>
                  </a:tcPr>
                </a:tc>
                <a:tc>
                  <a:txBody>
                    <a:bodyPr/>
                    <a:lstStyle/>
                    <a:p>
                      <a:pPr indent="0" marL="0">
                        <a:buNone/>
                      </a:pPr>
                      <a:r>
                        <a:rPr lang="en-US" sz="1200" dirty="0">
                          <a:solidFill>
                            <a:srgbClr val="B9BAC4"/>
                          </a:solidFill>
                        </a:rPr>
                        <a:t>강수·노면 조건</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24242E"/>
                    </a:solidFill>
                  </a:tcPr>
                </a:tc>
              </a:tr>
              <a:tr h="457200">
                <a:tc>
                  <a:txBody>
                    <a:bodyPr/>
                    <a:lstStyle/>
                    <a:p>
                      <a:pPr indent="0" marL="0">
                        <a:buNone/>
                      </a:pPr>
                      <a:r>
                        <a:rPr lang="en-US" sz="1200" b="1" dirty="0">
                          <a:solidFill>
                            <a:srgbClr val="FFFFFF"/>
                          </a:solidFill>
                        </a:rPr>
                        <a:t>pit</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c>
                  <a:txBody>
                    <a:bodyPr/>
                    <a:lstStyle/>
                    <a:p>
                      <a:pPr algn="r" indent="0" marL="0">
                        <a:buNone/>
                      </a:pPr>
                      <a:r>
                        <a:rPr lang="en-US" sz="1200" dirty="0">
                          <a:solidFill>
                            <a:srgbClr val="FFFFFF"/>
                          </a:solidFill>
                        </a:rPr>
                        <a:t>3,029</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c>
                  <a:txBody>
                    <a:bodyPr/>
                    <a:lstStyle/>
                    <a:p>
                      <a:pPr indent="0" marL="0">
                        <a:buNone/>
                      </a:pPr>
                      <a:r>
                        <a:rPr lang="en-US" sz="1200" dirty="0">
                          <a:solidFill>
                            <a:srgbClr val="B9BAC4"/>
                          </a:solidFill>
                        </a:rPr>
                        <a:t>피트 횟수·시간</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r>
            </a:tbl>
          </a:graphicData>
        </a:graphic>
      </p:graphicFrame>
      <p:sp>
        <p:nvSpPr>
          <p:cNvPr id="5" name="table-extra-h"/>
          <p:cNvSpPr txBox="1"/>
          <p:nvPr/>
        </p:nvSpPr>
        <p:spPr>
          <a:xfrm>
            <a:off x="6172200" y="1325880"/>
            <a:ext cx="5486400" cy="365760"/>
          </a:xfrm>
          <a:prstGeom prst="rect">
            <a:avLst/>
          </a:prstGeom>
          <a:noFill/>
          <a:ln/>
        </p:spPr>
        <p:txBody>
          <a:bodyPr wrap="square" lIns="0" tIns="0" rIns="0" bIns="0" rtlCol="0" anchor="t"/>
          <a:lstStyle/>
          <a:p>
            <a:pPr indent="0" marL="0">
              <a:buNone/>
            </a:pPr>
            <a:r>
              <a:rPr lang="en-US" sz="1600" b="1" dirty="0">
                <a:solidFill>
                  <a:schemeClr val="accent1"/>
                </a:solidFill>
              </a:rPr>
              <a:t>분석 중 추가 수집 5종 (OpenF1)</a:t>
            </a:r>
            <a:endParaRPr lang="en-US" sz="1600" dirty="0"/>
          </a:p>
        </p:txBody>
      </p:sp>
      <p:graphicFrame>
        <p:nvGraphicFramePr>
          <p:cNvPr id="11" name="table-extra"/>
          <p:cNvGraphicFramePr>
            <a:graphicFrameLocks noGrp="1"/>
          </p:cNvGraphicFramePr>
          <p:nvPr>
            <p:extLst>
              <p:ext uri="{D42A27DB-BD31-4B8C-83A1-F6EECF244321}">
                <p14:modId xmlns:p14="http://schemas.microsoft.com/office/powerpoint/2010/main" val="1579011935"/>
              </p:ext>
            </p:extLst>
          </p:nvPr>
        </p:nvGraphicFramePr>
        <p:xfrm>
          <a:off x="6172200" y="1783080"/>
          <a:ext cx="5486400" cy="914400"/>
        </p:xfrm>
        <a:graphic>
          <a:graphicData uri="http://schemas.openxmlformats.org/drawingml/2006/table">
            <a:tbl>
              <a:tblPr/>
              <a:tblGrid>
                <a:gridCol w="1463040"/>
                <a:gridCol w="1143000"/>
                <a:gridCol w="2880360"/>
              </a:tblGrid>
              <a:tr h="457200">
                <a:tc>
                  <a:txBody>
                    <a:bodyPr/>
                    <a:lstStyle/>
                    <a:p>
                      <a:pPr indent="0" marL="0">
                        <a:buNone/>
                      </a:pPr>
                      <a:r>
                        <a:rPr lang="en-US" sz="1200" b="1" dirty="0">
                          <a:solidFill>
                            <a:srgbClr val="FFFFFF"/>
                          </a:solidFill>
                        </a:rPr>
                        <a:t>데이터</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3A3A46"/>
                    </a:solidFill>
                  </a:tcPr>
                </a:tc>
                <a:tc>
                  <a:txBody>
                    <a:bodyPr/>
                    <a:lstStyle/>
                    <a:p>
                      <a:pPr algn="r" indent="0" marL="0">
                        <a:buNone/>
                      </a:pPr>
                      <a:r>
                        <a:rPr lang="en-US" sz="1200" b="1" dirty="0">
                          <a:solidFill>
                            <a:srgbClr val="FFFFFF"/>
                          </a:solidFill>
                        </a:rPr>
                        <a:t>행 수</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3A3A46"/>
                    </a:solidFill>
                  </a:tcPr>
                </a:tc>
                <a:tc>
                  <a:txBody>
                    <a:bodyPr/>
                    <a:lstStyle/>
                    <a:p>
                      <a:pPr indent="0" marL="0">
                        <a:buNone/>
                      </a:pPr>
                      <a:r>
                        <a:rPr lang="en-US" sz="1200" b="1" dirty="0">
                          <a:solidFill>
                            <a:srgbClr val="FFFFFF"/>
                          </a:solidFill>
                        </a:rPr>
                        <a:t>쓰임</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3A3A46"/>
                    </a:solidFill>
                  </a:tcPr>
                </a:tc>
              </a:tr>
              <a:tr h="457200">
                <a:tc>
                  <a:txBody>
                    <a:bodyPr/>
                    <a:lstStyle/>
                    <a:p>
                      <a:pPr indent="0" marL="0">
                        <a:buNone/>
                      </a:pPr>
                      <a:r>
                        <a:rPr lang="en-US" sz="1200" b="1" dirty="0">
                          <a:solidFill>
                            <a:srgbClr val="FFFFFF"/>
                          </a:solidFill>
                        </a:rPr>
                        <a:t>starting_grid</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24242E"/>
                    </a:solidFill>
                  </a:tcPr>
                </a:tc>
                <a:tc>
                  <a:txBody>
                    <a:bodyPr/>
                    <a:lstStyle/>
                    <a:p>
                      <a:pPr algn="r" indent="0" marL="0">
                        <a:buNone/>
                      </a:pPr>
                      <a:r>
                        <a:rPr lang="en-US" sz="1200" dirty="0">
                          <a:solidFill>
                            <a:srgbClr val="FFFFFF"/>
                          </a:solidFill>
                        </a:rPr>
                        <a:t>1,770</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24242E"/>
                    </a:solidFill>
                  </a:tcPr>
                </a:tc>
                <a:tc>
                  <a:txBody>
                    <a:bodyPr/>
                    <a:lstStyle/>
                    <a:p>
                      <a:pPr indent="0" marL="0">
                        <a:buNone/>
                      </a:pPr>
                      <a:r>
                        <a:rPr lang="en-US" sz="1200" dirty="0">
                          <a:solidFill>
                            <a:srgbClr val="B9BAC4"/>
                          </a:solidFill>
                        </a:rPr>
                        <a:t>출발 순위</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24242E"/>
                    </a:solidFill>
                  </a:tcPr>
                </a:tc>
              </a:tr>
              <a:tr h="457200">
                <a:tc>
                  <a:txBody>
                    <a:bodyPr/>
                    <a:lstStyle/>
                    <a:p>
                      <a:pPr indent="0" marL="0">
                        <a:buNone/>
                      </a:pPr>
                      <a:r>
                        <a:rPr lang="en-US" sz="1200" b="1" dirty="0">
                          <a:solidFill>
                            <a:srgbClr val="FFFFFF"/>
                          </a:solidFill>
                        </a:rPr>
                        <a:t>session_result</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c>
                  <a:txBody>
                    <a:bodyPr/>
                    <a:lstStyle/>
                    <a:p>
                      <a:pPr algn="r" indent="0" marL="0">
                        <a:buNone/>
                      </a:pPr>
                      <a:r>
                        <a:rPr lang="en-US" sz="1200" dirty="0">
                          <a:solidFill>
                            <a:srgbClr val="FFFFFF"/>
                          </a:solidFill>
                        </a:rPr>
                        <a:t>1,771</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c>
                  <a:txBody>
                    <a:bodyPr/>
                    <a:lstStyle/>
                    <a:p>
                      <a:pPr indent="0" marL="0">
                        <a:buNone/>
                      </a:pPr>
                      <a:r>
                        <a:rPr lang="en-US" sz="1200" dirty="0">
                          <a:solidFill>
                            <a:srgbClr val="B9BAC4"/>
                          </a:solidFill>
                        </a:rPr>
                        <a:t>결과·본경기 포인트</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r>
              <a:tr h="457200">
                <a:tc>
                  <a:txBody>
                    <a:bodyPr/>
                    <a:lstStyle/>
                    <a:p>
                      <a:pPr indent="0" marL="0">
                        <a:buNone/>
                      </a:pPr>
                      <a:r>
                        <a:rPr lang="en-US" sz="1200" b="1" dirty="0">
                          <a:solidFill>
                            <a:srgbClr val="FFFFFF"/>
                          </a:solidFill>
                        </a:rPr>
                        <a:t>position</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24242E"/>
                    </a:solidFill>
                  </a:tcPr>
                </a:tc>
                <a:tc>
                  <a:txBody>
                    <a:bodyPr/>
                    <a:lstStyle/>
                    <a:p>
                      <a:pPr algn="r" indent="0" marL="0">
                        <a:buNone/>
                      </a:pPr>
                      <a:r>
                        <a:rPr lang="en-US" sz="1200" dirty="0">
                          <a:solidFill>
                            <a:srgbClr val="FFFFFF"/>
                          </a:solidFill>
                        </a:rPr>
                        <a:t>42,952</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24242E"/>
                    </a:solidFill>
                  </a:tcPr>
                </a:tc>
                <a:tc>
                  <a:txBody>
                    <a:bodyPr/>
                    <a:lstStyle/>
                    <a:p>
                      <a:pPr indent="0" marL="0">
                        <a:buNone/>
                      </a:pPr>
                      <a:r>
                        <a:rPr lang="en-US" sz="1200" dirty="0">
                          <a:solidFill>
                            <a:srgbClr val="B9BAC4"/>
                          </a:solidFill>
                        </a:rPr>
                        <a:t>경기 중 순위</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24242E"/>
                    </a:solidFill>
                  </a:tcPr>
                </a:tc>
              </a:tr>
              <a:tr h="457200">
                <a:tc>
                  <a:txBody>
                    <a:bodyPr/>
                    <a:lstStyle/>
                    <a:p>
                      <a:pPr indent="0" marL="0">
                        <a:buNone/>
                      </a:pPr>
                      <a:r>
                        <a:rPr lang="en-US" sz="1200" b="1" dirty="0">
                          <a:solidFill>
                            <a:srgbClr val="FFFFFF"/>
                          </a:solidFill>
                        </a:rPr>
                        <a:t>race_control</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c>
                  <a:txBody>
                    <a:bodyPr/>
                    <a:lstStyle/>
                    <a:p>
                      <a:pPr algn="r" indent="0" marL="0">
                        <a:buNone/>
                      </a:pPr>
                      <a:r>
                        <a:rPr lang="en-US" sz="1200" dirty="0">
                          <a:solidFill>
                            <a:srgbClr val="FFFFFF"/>
                          </a:solidFill>
                        </a:rPr>
                        <a:t>9,499</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c>
                  <a:txBody>
                    <a:bodyPr/>
                    <a:lstStyle/>
                    <a:p>
                      <a:pPr indent="0" marL="0">
                        <a:buNone/>
                      </a:pPr>
                      <a:r>
                        <a:rPr lang="en-US" sz="1200" dirty="0">
                          <a:solidFill>
                            <a:srgbClr val="B9BAC4"/>
                          </a:solidFill>
                        </a:rPr>
                        <a:t>SC/VSC·황기 구간</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r>
              <a:tr h="457200">
                <a:tc>
                  <a:txBody>
                    <a:bodyPr/>
                    <a:lstStyle/>
                    <a:p>
                      <a:pPr indent="0" marL="0">
                        <a:buNone/>
                      </a:pPr>
                      <a:r>
                        <a:rPr lang="en-US" sz="1200" b="1" dirty="0">
                          <a:solidFill>
                            <a:srgbClr val="FFFFFF"/>
                          </a:solidFill>
                        </a:rPr>
                        <a:t>intervals</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24242E"/>
                    </a:solidFill>
                  </a:tcPr>
                </a:tc>
                <a:tc>
                  <a:txBody>
                    <a:bodyPr/>
                    <a:lstStyle/>
                    <a:p>
                      <a:pPr algn="r" indent="0" marL="0">
                        <a:buNone/>
                      </a:pPr>
                      <a:r>
                        <a:rPr lang="en-US" sz="1200" dirty="0">
                          <a:solidFill>
                            <a:srgbClr val="FFFFFF"/>
                          </a:solidFill>
                        </a:rPr>
                        <a:t>2,107,568</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24242E"/>
                    </a:solidFill>
                  </a:tcPr>
                </a:tc>
                <a:tc>
                  <a:txBody>
                    <a:bodyPr/>
                    <a:lstStyle/>
                    <a:p>
                      <a:pPr indent="0" marL="0">
                        <a:buNone/>
                      </a:pPr>
                      <a:r>
                        <a:rPr lang="en-US" sz="1200" dirty="0">
                          <a:solidFill>
                            <a:srgbClr val="B9BAC4"/>
                          </a:solidFill>
                        </a:rPr>
                        <a:t>차량 간 격차</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24242E"/>
                    </a:solidFill>
                  </a:tcPr>
                </a:tc>
              </a:tr>
            </a:tbl>
          </a:graphicData>
        </a:graphic>
      </p:graphicFrame>
      <p:sp>
        <p:nvSpPr>
          <p:cNvPr id="7" name="data-scope"/>
          <p:cNvSpPr txBox="1"/>
          <p:nvPr/>
        </p:nvSpPr>
        <p:spPr>
          <a:xfrm>
            <a:off x="548640" y="5623560"/>
            <a:ext cx="10972800" cy="365760"/>
          </a:xfrm>
          <a:prstGeom prst="rect">
            <a:avLst/>
          </a:prstGeom>
          <a:noFill/>
          <a:ln/>
        </p:spPr>
        <p:txBody>
          <a:bodyPr wrap="square" lIns="0" tIns="0" rIns="0" bIns="0" rtlCol="0" anchor="t"/>
          <a:lstStyle/>
          <a:p>
            <a:pPr indent="0" marL="0">
              <a:buNone/>
            </a:pPr>
            <a:r>
              <a:rPr lang="en-US" sz="1200" dirty="0">
                <a:solidFill>
                  <a:schemeClr val="accent4"/>
                </a:solidFill>
              </a:rPr>
              <a:t>범위: 2023 ~ 2026-10-14 종료된 본경기(Race) 87경기 · 연결 키 session_key / driver_number</a:t>
            </a:r>
            <a:endParaRPr lang="en-US" sz="1200" dirty="0"/>
          </a:p>
        </p:txBody>
      </p:sp>
      <p:sp>
        <p:nvSpPr>
          <p:cNvPr id="25" name="Slide Number Placeholder 0"/>
          <p:cNvSpPr>
            <a:spLocks noGrp="1"/>
          </p:cNvSpPr>
          <p:nvPr>
            <p:ph type="sldNum" sz="quarter" idx="4294967295"/>
          </p:nvPr>
        </p:nvSpPr>
        <p:spPr>
          <a:xfrm>
            <a:off x="11064240" y="393192"/>
            <a:ext cx="640080" cy="411480"/>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Malgun Gothic"/>
                <a:ea typeface="Malgun Gothic"/>
                <a:cs typeface="Malgun Gothic"/>
              </a:defRPr>
            </a:lvl1pPr>
          </a:lstStyle>
          <a:p>
            <a:pPr algn="l"/>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indent="0" marL="0">
              <a:buNone/>
            </a:pPr>
            <a:r>
              <a:rPr lang="en-US" sz="3200" b="1" dirty="0">
                <a:solidFill>
                  <a:schemeClr val="bg1"/>
                </a:solidFill>
              </a:rPr>
              <a:t>정제: 28,052건 탐지, 근거가 있을 때만 고쳤다</a:t>
            </a:r>
            <a:endParaRPr lang="en-US" sz="3200" dirty="0"/>
          </a:p>
        </p:txBody>
      </p:sp>
      <p:sp>
        <p:nvSpPr>
          <p:cNvPr id="3" name="tile-0"/>
          <p:cNvSpPr/>
          <p:nvPr/>
        </p:nvSpPr>
        <p:spPr>
          <a:xfrm>
            <a:off x="548640" y="1325880"/>
            <a:ext cx="2075688" cy="1371600"/>
          </a:xfrm>
          <a:prstGeom prst="roundRect">
            <a:avLst>
              <a:gd name="adj" fmla="val 5333"/>
            </a:avLst>
          </a:prstGeom>
          <a:solidFill>
            <a:srgbClr val="24242E"/>
          </a:solidFill>
          <a:ln w="9525">
            <a:solidFill>
              <a:srgbClr val="33333F"/>
            </a:solidFill>
            <a:prstDash val="solid"/>
          </a:ln>
        </p:spPr>
      </p:sp>
      <p:sp>
        <p:nvSpPr>
          <p:cNvPr id="4" name="tile-0-num"/>
          <p:cNvSpPr txBox="1"/>
          <p:nvPr/>
        </p:nvSpPr>
        <p:spPr>
          <a:xfrm>
            <a:off x="777240" y="1463040"/>
            <a:ext cx="1737360" cy="685800"/>
          </a:xfrm>
          <a:prstGeom prst="rect">
            <a:avLst/>
          </a:prstGeom>
          <a:noFill/>
          <a:ln/>
        </p:spPr>
        <p:txBody>
          <a:bodyPr wrap="square" lIns="0" tIns="0" rIns="0" bIns="0" rtlCol="0" anchor="t"/>
          <a:lstStyle/>
          <a:p>
            <a:pPr indent="0" marL="0">
              <a:buNone/>
            </a:pPr>
            <a:r>
              <a:rPr lang="en-US" sz="3600" b="1" dirty="0">
                <a:solidFill>
                  <a:schemeClr val="bg1"/>
                </a:solidFill>
              </a:rPr>
              <a:t>28,052</a:t>
            </a:r>
            <a:endParaRPr lang="en-US" sz="3600" dirty="0"/>
          </a:p>
        </p:txBody>
      </p:sp>
      <p:sp>
        <p:nvSpPr>
          <p:cNvPr id="5" name="tile-0-label"/>
          <p:cNvSpPr txBox="1"/>
          <p:nvPr/>
        </p:nvSpPr>
        <p:spPr>
          <a:xfrm>
            <a:off x="777240" y="2176272"/>
            <a:ext cx="1737360" cy="502920"/>
          </a:xfrm>
          <a:prstGeom prst="rect">
            <a:avLst/>
          </a:prstGeom>
          <a:noFill/>
          <a:ln/>
        </p:spPr>
        <p:txBody>
          <a:bodyPr wrap="square" lIns="0" tIns="0" rIns="0" bIns="0" rtlCol="0" anchor="t"/>
          <a:lstStyle/>
          <a:p>
            <a:pPr indent="0" marL="0">
              <a:buNone/>
            </a:pPr>
            <a:r>
              <a:rPr lang="en-US" sz="1200" dirty="0">
                <a:solidFill>
                  <a:schemeClr val="bg2"/>
                </a:solidFill>
              </a:rPr>
              <a:t>탐지 이슈</a:t>
            </a:r>
            <a:endParaRPr lang="en-US" sz="1200" dirty="0"/>
          </a:p>
        </p:txBody>
      </p:sp>
      <p:sp>
        <p:nvSpPr>
          <p:cNvPr id="6" name="tile-1"/>
          <p:cNvSpPr/>
          <p:nvPr/>
        </p:nvSpPr>
        <p:spPr>
          <a:xfrm>
            <a:off x="2807208" y="1325880"/>
            <a:ext cx="2075688" cy="1371600"/>
          </a:xfrm>
          <a:prstGeom prst="roundRect">
            <a:avLst>
              <a:gd name="adj" fmla="val 5333"/>
            </a:avLst>
          </a:prstGeom>
          <a:solidFill>
            <a:srgbClr val="24242E"/>
          </a:solidFill>
          <a:ln w="9525">
            <a:solidFill>
              <a:srgbClr val="33333F"/>
            </a:solidFill>
            <a:prstDash val="solid"/>
          </a:ln>
        </p:spPr>
      </p:sp>
      <p:sp>
        <p:nvSpPr>
          <p:cNvPr id="7" name="tile-1-num"/>
          <p:cNvSpPr txBox="1"/>
          <p:nvPr/>
        </p:nvSpPr>
        <p:spPr>
          <a:xfrm>
            <a:off x="3035808" y="1463040"/>
            <a:ext cx="1737360" cy="685800"/>
          </a:xfrm>
          <a:prstGeom prst="rect">
            <a:avLst/>
          </a:prstGeom>
          <a:noFill/>
          <a:ln/>
        </p:spPr>
        <p:txBody>
          <a:bodyPr wrap="square" lIns="0" tIns="0" rIns="0" bIns="0" rtlCol="0" anchor="t"/>
          <a:lstStyle/>
          <a:p>
            <a:pPr indent="0" marL="0">
              <a:buNone/>
            </a:pPr>
            <a:r>
              <a:rPr lang="en-US" sz="3600" b="1" dirty="0">
                <a:solidFill>
                  <a:schemeClr val="accent3"/>
                </a:solidFill>
              </a:rPr>
              <a:t>1,335</a:t>
            </a:r>
            <a:endParaRPr lang="en-US" sz="3600" dirty="0"/>
          </a:p>
        </p:txBody>
      </p:sp>
      <p:sp>
        <p:nvSpPr>
          <p:cNvPr id="8" name="tile-1-label"/>
          <p:cNvSpPr txBox="1"/>
          <p:nvPr/>
        </p:nvSpPr>
        <p:spPr>
          <a:xfrm>
            <a:off x="3035808" y="2176272"/>
            <a:ext cx="1737360" cy="502920"/>
          </a:xfrm>
          <a:prstGeom prst="rect">
            <a:avLst/>
          </a:prstGeom>
          <a:noFill/>
          <a:ln/>
        </p:spPr>
        <p:txBody>
          <a:bodyPr wrap="square" lIns="0" tIns="0" rIns="0" bIns="0" rtlCol="0" anchor="t"/>
          <a:lstStyle/>
          <a:p>
            <a:pPr indent="0" marL="0">
              <a:buNone/>
            </a:pPr>
            <a:r>
              <a:rPr lang="en-US" sz="1200" dirty="0">
                <a:solidFill>
                  <a:schemeClr val="bg2"/>
                </a:solidFill>
              </a:rPr>
              <a:t>자동 복구 셀</a:t>
            </a:r>
            <a:endParaRPr lang="en-US" sz="1200" dirty="0"/>
          </a:p>
        </p:txBody>
      </p:sp>
      <p:sp>
        <p:nvSpPr>
          <p:cNvPr id="9" name="tile-2"/>
          <p:cNvSpPr/>
          <p:nvPr/>
        </p:nvSpPr>
        <p:spPr>
          <a:xfrm>
            <a:off x="5065776" y="1325880"/>
            <a:ext cx="2075688" cy="1371600"/>
          </a:xfrm>
          <a:prstGeom prst="roundRect">
            <a:avLst>
              <a:gd name="adj" fmla="val 5333"/>
            </a:avLst>
          </a:prstGeom>
          <a:solidFill>
            <a:srgbClr val="24242E"/>
          </a:solidFill>
          <a:ln w="9525">
            <a:solidFill>
              <a:srgbClr val="33333F"/>
            </a:solidFill>
            <a:prstDash val="solid"/>
          </a:ln>
        </p:spPr>
      </p:sp>
      <p:sp>
        <p:nvSpPr>
          <p:cNvPr id="10" name="tile-2-num"/>
          <p:cNvSpPr txBox="1"/>
          <p:nvPr/>
        </p:nvSpPr>
        <p:spPr>
          <a:xfrm>
            <a:off x="5294376" y="1463040"/>
            <a:ext cx="1737360" cy="685800"/>
          </a:xfrm>
          <a:prstGeom prst="rect">
            <a:avLst/>
          </a:prstGeom>
          <a:noFill/>
          <a:ln/>
        </p:spPr>
        <p:txBody>
          <a:bodyPr wrap="square" lIns="0" tIns="0" rIns="0" bIns="0" rtlCol="0" anchor="t"/>
          <a:lstStyle/>
          <a:p>
            <a:pPr indent="0" marL="0">
              <a:buNone/>
            </a:pPr>
            <a:r>
              <a:rPr lang="en-US" sz="3600" b="1" dirty="0">
                <a:solidFill>
                  <a:schemeClr val="bg2"/>
                </a:solidFill>
              </a:rPr>
              <a:t>24,824</a:t>
            </a:r>
            <a:endParaRPr lang="en-US" sz="3600" dirty="0"/>
          </a:p>
        </p:txBody>
      </p:sp>
      <p:sp>
        <p:nvSpPr>
          <p:cNvPr id="11" name="tile-2-label"/>
          <p:cNvSpPr txBox="1"/>
          <p:nvPr/>
        </p:nvSpPr>
        <p:spPr>
          <a:xfrm>
            <a:off x="5294376" y="2176272"/>
            <a:ext cx="1737360" cy="502920"/>
          </a:xfrm>
          <a:prstGeom prst="rect">
            <a:avLst/>
          </a:prstGeom>
          <a:noFill/>
          <a:ln/>
        </p:spPr>
        <p:txBody>
          <a:bodyPr wrap="square" lIns="0" tIns="0" rIns="0" bIns="0" rtlCol="0" anchor="t"/>
          <a:lstStyle/>
          <a:p>
            <a:pPr indent="0" marL="0">
              <a:buNone/>
            </a:pPr>
            <a:r>
              <a:rPr lang="en-US" sz="1200" dirty="0">
                <a:solidFill>
                  <a:schemeClr val="bg2"/>
                </a:solidFill>
              </a:rPr>
              <a:t>허용 (원천 특성)</a:t>
            </a:r>
            <a:endParaRPr lang="en-US" sz="1200" dirty="0"/>
          </a:p>
        </p:txBody>
      </p:sp>
      <p:sp>
        <p:nvSpPr>
          <p:cNvPr id="12" name="tile-3"/>
          <p:cNvSpPr/>
          <p:nvPr/>
        </p:nvSpPr>
        <p:spPr>
          <a:xfrm>
            <a:off x="7324344" y="1325880"/>
            <a:ext cx="2075688" cy="1371600"/>
          </a:xfrm>
          <a:prstGeom prst="roundRect">
            <a:avLst>
              <a:gd name="adj" fmla="val 5333"/>
            </a:avLst>
          </a:prstGeom>
          <a:solidFill>
            <a:srgbClr val="24242E"/>
          </a:solidFill>
          <a:ln w="9525">
            <a:solidFill>
              <a:srgbClr val="33333F"/>
            </a:solidFill>
            <a:prstDash val="solid"/>
          </a:ln>
        </p:spPr>
      </p:sp>
      <p:sp>
        <p:nvSpPr>
          <p:cNvPr id="13" name="tile-3-num"/>
          <p:cNvSpPr txBox="1"/>
          <p:nvPr/>
        </p:nvSpPr>
        <p:spPr>
          <a:xfrm>
            <a:off x="7552944" y="1463040"/>
            <a:ext cx="1737360" cy="685800"/>
          </a:xfrm>
          <a:prstGeom prst="rect">
            <a:avLst/>
          </a:prstGeom>
          <a:noFill/>
          <a:ln/>
        </p:spPr>
        <p:txBody>
          <a:bodyPr wrap="square" lIns="0" tIns="0" rIns="0" bIns="0" rtlCol="0" anchor="t"/>
          <a:lstStyle/>
          <a:p>
            <a:pPr indent="0" marL="0">
              <a:buNone/>
            </a:pPr>
            <a:r>
              <a:rPr lang="en-US" sz="3600" b="1" dirty="0">
                <a:solidFill>
                  <a:schemeClr val="accent2"/>
                </a:solidFill>
              </a:rPr>
              <a:t>1,893</a:t>
            </a:r>
            <a:endParaRPr lang="en-US" sz="3600" dirty="0"/>
          </a:p>
        </p:txBody>
      </p:sp>
      <p:sp>
        <p:nvSpPr>
          <p:cNvPr id="14" name="tile-3-label"/>
          <p:cNvSpPr txBox="1"/>
          <p:nvPr/>
        </p:nvSpPr>
        <p:spPr>
          <a:xfrm>
            <a:off x="7552944" y="2176272"/>
            <a:ext cx="1737360" cy="502920"/>
          </a:xfrm>
          <a:prstGeom prst="rect">
            <a:avLst/>
          </a:prstGeom>
          <a:noFill/>
          <a:ln/>
        </p:spPr>
        <p:txBody>
          <a:bodyPr wrap="square" lIns="0" tIns="0" rIns="0" bIns="0" rtlCol="0" anchor="t"/>
          <a:lstStyle/>
          <a:p>
            <a:pPr indent="0" marL="0">
              <a:buNone/>
            </a:pPr>
            <a:r>
              <a:rPr lang="en-US" sz="1200" dirty="0">
                <a:solidFill>
                  <a:schemeClr val="bg2"/>
                </a:solidFill>
              </a:rPr>
              <a:t>검토 필요</a:t>
            </a:r>
            <a:endParaRPr lang="en-US" sz="1200" dirty="0"/>
          </a:p>
        </p:txBody>
      </p:sp>
      <p:sp>
        <p:nvSpPr>
          <p:cNvPr id="15" name="tile-4"/>
          <p:cNvSpPr/>
          <p:nvPr/>
        </p:nvSpPr>
        <p:spPr>
          <a:xfrm>
            <a:off x="9582912" y="1325880"/>
            <a:ext cx="2075688" cy="1371600"/>
          </a:xfrm>
          <a:prstGeom prst="roundRect">
            <a:avLst>
              <a:gd name="adj" fmla="val 5333"/>
            </a:avLst>
          </a:prstGeom>
          <a:solidFill>
            <a:srgbClr val="24242E"/>
          </a:solidFill>
          <a:ln w="9525">
            <a:solidFill>
              <a:srgbClr val="33333F"/>
            </a:solidFill>
            <a:prstDash val="solid"/>
          </a:ln>
        </p:spPr>
      </p:sp>
      <p:sp>
        <p:nvSpPr>
          <p:cNvPr id="16" name="tile-4-num"/>
          <p:cNvSpPr txBox="1"/>
          <p:nvPr/>
        </p:nvSpPr>
        <p:spPr>
          <a:xfrm>
            <a:off x="9811512" y="1463040"/>
            <a:ext cx="1737360" cy="685800"/>
          </a:xfrm>
          <a:prstGeom prst="rect">
            <a:avLst/>
          </a:prstGeom>
          <a:noFill/>
          <a:ln/>
        </p:spPr>
        <p:txBody>
          <a:bodyPr wrap="square" lIns="0" tIns="0" rIns="0" bIns="0" rtlCol="0" anchor="t"/>
          <a:lstStyle/>
          <a:p>
            <a:pPr indent="0" marL="0">
              <a:buNone/>
            </a:pPr>
            <a:r>
              <a:rPr lang="en-US" sz="3600" b="1" dirty="0">
                <a:solidFill>
                  <a:schemeClr val="accent1"/>
                </a:solidFill>
              </a:rPr>
              <a:t>2</a:t>
            </a:r>
            <a:endParaRPr lang="en-US" sz="3600" dirty="0"/>
          </a:p>
        </p:txBody>
      </p:sp>
      <p:sp>
        <p:nvSpPr>
          <p:cNvPr id="17" name="tile-4-label"/>
          <p:cNvSpPr txBox="1"/>
          <p:nvPr/>
        </p:nvSpPr>
        <p:spPr>
          <a:xfrm>
            <a:off x="9811512" y="2176272"/>
            <a:ext cx="1737360" cy="502920"/>
          </a:xfrm>
          <a:prstGeom prst="rect">
            <a:avLst/>
          </a:prstGeom>
          <a:noFill/>
          <a:ln/>
        </p:spPr>
        <p:txBody>
          <a:bodyPr wrap="square" lIns="0" tIns="0" rIns="0" bIns="0" rtlCol="0" anchor="t"/>
          <a:lstStyle/>
          <a:p>
            <a:pPr indent="0" marL="0">
              <a:buNone/>
            </a:pPr>
            <a:r>
              <a:rPr lang="en-US" sz="1200" dirty="0">
                <a:solidFill>
                  <a:schemeClr val="bg2"/>
                </a:solidFill>
              </a:rPr>
              <a:t>격리 행</a:t>
            </a:r>
            <a:endParaRPr lang="en-US" sz="1200" dirty="0"/>
          </a:p>
        </p:txBody>
      </p:sp>
      <p:graphicFrame>
        <p:nvGraphicFramePr>
          <p:cNvPr id="18" name="chart-errtype" descr=""/>
          <p:cNvGraphicFramePr/>
          <p:nvPr/>
        </p:nvGraphicFramePr>
        <p:xfrm>
          <a:off x="548640" y="2926080"/>
          <a:ext cx="6766560" cy="3291840"/>
        </p:xfrm>
        <a:graphic xmlns:a="http://schemas.openxmlformats.org/drawingml/2006/main">
          <a:graphicData uri="http://schemas.openxmlformats.org/drawingml/2006/chart">
            <c:chart xmlns:c="http://schemas.openxmlformats.org/drawingml/2006/chart" r:id="rId1"/>
          </a:graphicData>
        </a:graphic>
      </p:graphicFrame>
      <p:sp>
        <p:nvSpPr>
          <p:cNvPr id="19" name="principle-card"/>
          <p:cNvSpPr/>
          <p:nvPr/>
        </p:nvSpPr>
        <p:spPr>
          <a:xfrm>
            <a:off x="7589520" y="2926080"/>
            <a:ext cx="4069080" cy="3291840"/>
          </a:xfrm>
          <a:prstGeom prst="roundRect">
            <a:avLst>
              <a:gd name="adj" fmla="val 2222"/>
            </a:avLst>
          </a:prstGeom>
          <a:solidFill>
            <a:srgbClr val="15151E"/>
          </a:solidFill>
          <a:ln w="9525">
            <a:solidFill>
              <a:srgbClr val="33333F"/>
            </a:solidFill>
            <a:prstDash val="solid"/>
          </a:ln>
        </p:spPr>
      </p:sp>
      <p:sp>
        <p:nvSpPr>
          <p:cNvPr id="20" name="principle-h"/>
          <p:cNvSpPr txBox="1"/>
          <p:nvPr/>
        </p:nvSpPr>
        <p:spPr>
          <a:xfrm>
            <a:off x="7863840" y="3108960"/>
            <a:ext cx="3657600" cy="365760"/>
          </a:xfrm>
          <a:prstGeom prst="rect">
            <a:avLst/>
          </a:prstGeom>
          <a:noFill/>
          <a:ln/>
        </p:spPr>
        <p:txBody>
          <a:bodyPr wrap="square" lIns="0" tIns="0" rIns="0" bIns="0" rtlCol="0" anchor="t"/>
          <a:lstStyle/>
          <a:p>
            <a:pPr indent="0" marL="0">
              <a:buNone/>
            </a:pPr>
            <a:r>
              <a:rPr lang="en-US" sz="1600" b="1" dirty="0">
                <a:solidFill>
                  <a:schemeClr val="accent1"/>
                </a:solidFill>
              </a:rPr>
              <a:t>정제 원칙</a:t>
            </a:r>
            <a:endParaRPr lang="en-US" sz="1600" dirty="0"/>
          </a:p>
        </p:txBody>
      </p:sp>
      <p:sp>
        <p:nvSpPr>
          <p:cNvPr id="21" name="principle-list"/>
          <p:cNvSpPr txBox="1"/>
          <p:nvPr/>
        </p:nvSpPr>
        <p:spPr>
          <a:xfrm>
            <a:off x="7863840" y="3611880"/>
            <a:ext cx="3611880" cy="2377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원본 파일은 수정하지 않고 보존</a:t>
            </a:r>
            <a:endParaRPr lang="en-US" sz="1400" dirty="0"/>
          </a:p>
          <a:p>
            <a:pPr marL="342900" indent="-342900">
              <a:spcAft>
                <a:spcPts val="800"/>
              </a:spcAft>
              <a:buSzPct val="100000"/>
              <a:buChar char="•"/>
            </a:pPr>
            <a:r>
              <a:rPr lang="en-US" sz="1400" dirty="0">
                <a:solidFill>
                  <a:schemeClr val="bg1"/>
                </a:solidFill>
              </a:rPr>
              <a:t>중앙값 같은 통계값으로 결측을 채우지 않음</a:t>
            </a:r>
            <a:endParaRPr lang="en-US" sz="1400" dirty="0"/>
          </a:p>
          <a:p>
            <a:pPr marL="342900" indent="-342900">
              <a:spcAft>
                <a:spcPts val="800"/>
              </a:spcAft>
              <a:buSzPct val="100000"/>
              <a:buChar char="•"/>
            </a:pPr>
            <a:r>
              <a:rPr lang="en-US" sz="1400" dirty="0">
                <a:solidFill>
                  <a:schemeClr val="bg1"/>
                </a:solidFill>
              </a:rPr>
              <a:t>1랩 랩타임 결측 등 원천 특성은 허용으로 기록</a:t>
            </a:r>
            <a:endParaRPr lang="en-US" sz="1400" dirty="0"/>
          </a:p>
          <a:p>
            <a:pPr marL="342900" indent="-342900">
              <a:spcAft>
                <a:spcPts val="800"/>
              </a:spcAft>
              <a:buSzPct val="100000"/>
              <a:buChar char="•"/>
            </a:pPr>
            <a:r>
              <a:rPr lang="en-US" sz="1400" dirty="0">
                <a:solidFill>
                  <a:schemeClr val="bg1"/>
                </a:solidFill>
              </a:rPr>
              <a:t>복구 후 같은 규칙으로 다시 검사</a:t>
            </a:r>
            <a:endParaRPr lang="en-US" sz="1400" dirty="0"/>
          </a:p>
        </p:txBody>
      </p:sp>
      <p:sp>
        <p:nvSpPr>
          <p:cNvPr id="22" name="errtype-note"/>
          <p:cNvSpPr txBox="1"/>
          <p:nvPr/>
        </p:nvSpPr>
        <p:spPr>
          <a:xfrm>
            <a:off x="548640" y="6172200"/>
            <a:ext cx="6766560" cy="274320"/>
          </a:xfrm>
          <a:prstGeom prst="rect">
            <a:avLst/>
          </a:prstGeom>
          <a:noFill/>
          <a:ln/>
        </p:spPr>
        <p:txBody>
          <a:bodyPr wrap="square" lIns="0" tIns="0" rIns="0" bIns="0" rtlCol="0" anchor="t"/>
          <a:lstStyle/>
          <a:p>
            <a:pPr indent="0" marL="0">
              <a:buNone/>
            </a:pPr>
            <a:r>
              <a:rPr lang="en-US" sz="1000" dirty="0">
                <a:solidFill>
                  <a:schemeClr val="accent4"/>
                </a:solidFill>
              </a:rPr>
              <a:t>막대는 로그 눈금 · 결측 27,485건 중 24,813건이 원천 특성(허용)</a:t>
            </a:r>
            <a:endParaRPr lang="en-US" sz="1000" dirty="0"/>
          </a:p>
        </p:txBody>
      </p:sp>
      <p:sp>
        <p:nvSpPr>
          <p:cNvPr id="25" name="Slide Number Placeholder 0"/>
          <p:cNvSpPr>
            <a:spLocks noGrp="1"/>
          </p:cNvSpPr>
          <p:nvPr>
            <p:ph type="sldNum" sz="quarter" idx="4294967295"/>
          </p:nvPr>
        </p:nvSpPr>
        <p:spPr>
          <a:xfrm>
            <a:off x="11064240" y="393192"/>
            <a:ext cx="640080" cy="411480"/>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Malgun Gothic"/>
                <a:ea typeface="Malgun Gothic"/>
                <a:cs typeface="Malgun Gothic"/>
              </a:defRPr>
            </a:lvl1pPr>
          </a:lstStyle>
          <a:p>
            <a:pPr algn="l"/>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indent="0" marL="0">
              <a:buNone/>
            </a:pPr>
            <a:r>
              <a:rPr lang="en-US" sz="3200" b="1" dirty="0">
                <a:solidFill>
                  <a:schemeClr val="bg1"/>
                </a:solidFill>
              </a:rPr>
              <a:t>검증: 151개 규칙을 pandas·MySQL에서 두 번</a:t>
            </a:r>
            <a:endParaRPr lang="en-US" sz="3200" dirty="0"/>
          </a:p>
        </p:txBody>
      </p:sp>
      <p:graphicFrame>
        <p:nvGraphicFramePr>
          <p:cNvPr id="3" name="chart-validation" descr=""/>
          <p:cNvGraphicFramePr/>
          <p:nvPr/>
        </p:nvGraphicFramePr>
        <p:xfrm>
          <a:off x="548640" y="1371600"/>
          <a:ext cx="4206240" cy="4206240"/>
        </p:xfrm>
        <a:graphic xmlns:a="http://schemas.openxmlformats.org/drawingml/2006/main">
          <a:graphicData uri="http://schemas.openxmlformats.org/drawingml/2006/chart">
            <c:chart xmlns:c="http://schemas.openxmlformats.org/drawingml/2006/chart" r:id="rId1"/>
          </a:graphicData>
        </a:graphic>
      </p:graphicFrame>
      <p:sp>
        <p:nvSpPr>
          <p:cNvPr id="4" name="donut-center"/>
          <p:cNvSpPr txBox="1"/>
          <p:nvPr/>
        </p:nvSpPr>
        <p:spPr>
          <a:xfrm>
            <a:off x="1463040" y="2788920"/>
            <a:ext cx="2377440" cy="640080"/>
          </a:xfrm>
          <a:prstGeom prst="rect">
            <a:avLst/>
          </a:prstGeom>
          <a:noFill/>
          <a:ln/>
        </p:spPr>
        <p:txBody>
          <a:bodyPr wrap="square" lIns="0" tIns="0" rIns="0" bIns="0" rtlCol="0" anchor="t"/>
          <a:lstStyle/>
          <a:p>
            <a:pPr algn="ctr" indent="0" marL="0">
              <a:buNone/>
            </a:pPr>
            <a:r>
              <a:rPr lang="en-US" sz="3000" b="1" dirty="0">
                <a:solidFill>
                  <a:schemeClr val="accent3"/>
                </a:solidFill>
              </a:rPr>
              <a:t>FAIL 0</a:t>
            </a:r>
            <a:endParaRPr lang="en-US" sz="3000" dirty="0"/>
          </a:p>
        </p:txBody>
      </p:sp>
      <p:sp>
        <p:nvSpPr>
          <p:cNvPr id="5" name="donut-center-sub"/>
          <p:cNvSpPr txBox="1"/>
          <p:nvPr/>
        </p:nvSpPr>
        <p:spPr>
          <a:xfrm>
            <a:off x="1463040" y="3383280"/>
            <a:ext cx="2377440" cy="365760"/>
          </a:xfrm>
          <a:prstGeom prst="rect">
            <a:avLst/>
          </a:prstGeom>
          <a:noFill/>
          <a:ln/>
        </p:spPr>
        <p:txBody>
          <a:bodyPr wrap="square" lIns="0" tIns="0" rIns="0" bIns="0" rtlCol="0" anchor="t"/>
          <a:lstStyle/>
          <a:p>
            <a:pPr algn="ctr" indent="0" marL="0">
              <a:buNone/>
            </a:pPr>
            <a:r>
              <a:rPr lang="en-US" sz="1300" dirty="0">
                <a:solidFill>
                  <a:schemeClr val="bg2"/>
                </a:solidFill>
              </a:rPr>
              <a:t>151개 검사</a:t>
            </a:r>
            <a:endParaRPr lang="en-US" sz="1300" dirty="0"/>
          </a:p>
        </p:txBody>
      </p:sp>
      <p:sp>
        <p:nvSpPr>
          <p:cNvPr id="6" name="check-0"/>
          <p:cNvSpPr/>
          <p:nvPr/>
        </p:nvSpPr>
        <p:spPr>
          <a:xfrm>
            <a:off x="5120640" y="1417320"/>
            <a:ext cx="6537960" cy="868680"/>
          </a:xfrm>
          <a:prstGeom prst="roundRect">
            <a:avLst>
              <a:gd name="adj" fmla="val 8421"/>
            </a:avLst>
          </a:prstGeom>
          <a:solidFill>
            <a:srgbClr val="24242E"/>
          </a:solidFill>
          <a:ln w="9525">
            <a:solidFill>
              <a:srgbClr val="33333F"/>
            </a:solidFill>
            <a:prstDash val="solid"/>
          </a:ln>
        </p:spPr>
      </p:sp>
      <p:sp>
        <p:nvSpPr>
          <p:cNvPr id="7" name="check-badge-0"/>
          <p:cNvSpPr/>
          <p:nvPr/>
        </p:nvSpPr>
        <p:spPr>
          <a:xfrm>
            <a:off x="5349240" y="1600200"/>
            <a:ext cx="502920" cy="502920"/>
          </a:xfrm>
          <a:prstGeom prst="ellipse">
            <a:avLst/>
          </a:prstGeom>
          <a:solidFill>
            <a:srgbClr val="2BD47D"/>
          </a:solidFill>
          <a:ln w="12700">
            <a:solidFill>
              <a:srgbClr val="2BD47D"/>
            </a:solidFill>
            <a:prstDash val="solid"/>
          </a:ln>
        </p:spPr>
      </p:sp>
      <p:sp>
        <p:nvSpPr>
          <p:cNvPr id="8" name="check-badge-0-t"/>
          <p:cNvSpPr txBox="1"/>
          <p:nvPr/>
        </p:nvSpPr>
        <p:spPr>
          <a:xfrm>
            <a:off x="5349240" y="1600200"/>
            <a:ext cx="502920" cy="502920"/>
          </a:xfrm>
          <a:prstGeom prst="rect">
            <a:avLst/>
          </a:prstGeom>
          <a:noFill/>
          <a:ln/>
        </p:spPr>
        <p:txBody>
          <a:bodyPr wrap="square" lIns="0" tIns="0" rIns="0" bIns="0" rtlCol="0" anchor="ctr"/>
          <a:lstStyle/>
          <a:p>
            <a:pPr algn="ctr" indent="0" marL="0">
              <a:buNone/>
            </a:pPr>
            <a:r>
              <a:rPr lang="en-US" sz="1700" b="1" dirty="0">
                <a:solidFill>
                  <a:srgbClr val="15151E"/>
                </a:solidFill>
              </a:rPr>
              <a:t>✓</a:t>
            </a:r>
            <a:endParaRPr lang="en-US" sz="1700" dirty="0"/>
          </a:p>
        </p:txBody>
      </p:sp>
      <p:sp>
        <p:nvSpPr>
          <p:cNvPr id="9" name="check-h-0"/>
          <p:cNvSpPr txBox="1"/>
          <p:nvPr/>
        </p:nvSpPr>
        <p:spPr>
          <a:xfrm>
            <a:off x="6080760" y="1536192"/>
            <a:ext cx="5394960" cy="320040"/>
          </a:xfrm>
          <a:prstGeom prst="rect">
            <a:avLst/>
          </a:prstGeom>
          <a:noFill/>
          <a:ln/>
        </p:spPr>
        <p:txBody>
          <a:bodyPr wrap="square" lIns="0" tIns="0" rIns="0" bIns="0" rtlCol="0" anchor="t"/>
          <a:lstStyle/>
          <a:p>
            <a:pPr indent="0" marL="0">
              <a:buNone/>
            </a:pPr>
            <a:r>
              <a:rPr lang="en-US" sz="1500" b="1" dirty="0">
                <a:solidFill>
                  <a:schemeClr val="bg1"/>
                </a:solidFill>
              </a:rPr>
              <a:t>pandas ↔ MySQL</a:t>
            </a:r>
            <a:endParaRPr lang="en-US" sz="1500" dirty="0"/>
          </a:p>
        </p:txBody>
      </p:sp>
      <p:sp>
        <p:nvSpPr>
          <p:cNvPr id="10" name="check-d-0"/>
          <p:cNvSpPr txBox="1"/>
          <p:nvPr/>
        </p:nvSpPr>
        <p:spPr>
          <a:xfrm>
            <a:off x="6080760" y="1874520"/>
            <a:ext cx="5394960" cy="320040"/>
          </a:xfrm>
          <a:prstGeom prst="rect">
            <a:avLst/>
          </a:prstGeom>
          <a:noFill/>
          <a:ln/>
        </p:spPr>
        <p:txBody>
          <a:bodyPr wrap="square" lIns="0" tIns="0" rIns="0" bIns="0" rtlCol="0" anchor="t"/>
          <a:lstStyle/>
          <a:p>
            <a:pPr indent="0" marL="0">
              <a:buNone/>
            </a:pPr>
            <a:r>
              <a:rPr lang="en-US" sz="1200" dirty="0">
                <a:solidFill>
                  <a:schemeClr val="bg2"/>
                </a:solidFill>
              </a:rPr>
              <a:t>같은 검사 ID·대상의 위반 건수가 151개 모두 일치</a:t>
            </a:r>
            <a:endParaRPr lang="en-US" sz="1200" dirty="0"/>
          </a:p>
        </p:txBody>
      </p:sp>
      <p:sp>
        <p:nvSpPr>
          <p:cNvPr id="11" name="check-1"/>
          <p:cNvSpPr/>
          <p:nvPr/>
        </p:nvSpPr>
        <p:spPr>
          <a:xfrm>
            <a:off x="5120640" y="2441448"/>
            <a:ext cx="6537960" cy="868680"/>
          </a:xfrm>
          <a:prstGeom prst="roundRect">
            <a:avLst>
              <a:gd name="adj" fmla="val 8421"/>
            </a:avLst>
          </a:prstGeom>
          <a:solidFill>
            <a:srgbClr val="24242E"/>
          </a:solidFill>
          <a:ln w="9525">
            <a:solidFill>
              <a:srgbClr val="33333F"/>
            </a:solidFill>
            <a:prstDash val="solid"/>
          </a:ln>
        </p:spPr>
      </p:sp>
      <p:sp>
        <p:nvSpPr>
          <p:cNvPr id="12" name="check-badge-1"/>
          <p:cNvSpPr/>
          <p:nvPr/>
        </p:nvSpPr>
        <p:spPr>
          <a:xfrm>
            <a:off x="5349240" y="2624328"/>
            <a:ext cx="502920" cy="502920"/>
          </a:xfrm>
          <a:prstGeom prst="ellipse">
            <a:avLst/>
          </a:prstGeom>
          <a:solidFill>
            <a:srgbClr val="2BD47D"/>
          </a:solidFill>
          <a:ln w="12700">
            <a:solidFill>
              <a:srgbClr val="2BD47D"/>
            </a:solidFill>
            <a:prstDash val="solid"/>
          </a:ln>
        </p:spPr>
      </p:sp>
      <p:sp>
        <p:nvSpPr>
          <p:cNvPr id="13" name="check-badge-1-t"/>
          <p:cNvSpPr txBox="1"/>
          <p:nvPr/>
        </p:nvSpPr>
        <p:spPr>
          <a:xfrm>
            <a:off x="5349240" y="2624328"/>
            <a:ext cx="502920" cy="502920"/>
          </a:xfrm>
          <a:prstGeom prst="rect">
            <a:avLst/>
          </a:prstGeom>
          <a:noFill/>
          <a:ln/>
        </p:spPr>
        <p:txBody>
          <a:bodyPr wrap="square" lIns="0" tIns="0" rIns="0" bIns="0" rtlCol="0" anchor="ctr"/>
          <a:lstStyle/>
          <a:p>
            <a:pPr algn="ctr" indent="0" marL="0">
              <a:buNone/>
            </a:pPr>
            <a:r>
              <a:rPr lang="en-US" sz="1700" b="1" dirty="0">
                <a:solidFill>
                  <a:srgbClr val="15151E"/>
                </a:solidFill>
              </a:rPr>
              <a:t>✓</a:t>
            </a:r>
            <a:endParaRPr lang="en-US" sz="1700" dirty="0"/>
          </a:p>
        </p:txBody>
      </p:sp>
      <p:sp>
        <p:nvSpPr>
          <p:cNvPr id="14" name="check-h-1"/>
          <p:cNvSpPr txBox="1"/>
          <p:nvPr/>
        </p:nvSpPr>
        <p:spPr>
          <a:xfrm>
            <a:off x="6080760" y="2560320"/>
            <a:ext cx="5394960" cy="320040"/>
          </a:xfrm>
          <a:prstGeom prst="rect">
            <a:avLst/>
          </a:prstGeom>
          <a:noFill/>
          <a:ln/>
        </p:spPr>
        <p:txBody>
          <a:bodyPr wrap="square" lIns="0" tIns="0" rIns="0" bIns="0" rtlCol="0" anchor="t"/>
          <a:lstStyle/>
          <a:p>
            <a:pPr indent="0" marL="0">
              <a:buNone/>
            </a:pPr>
            <a:r>
              <a:rPr lang="en-US" sz="1500" b="1" dirty="0">
                <a:solidFill>
                  <a:schemeClr val="bg1"/>
                </a:solidFill>
              </a:rPr>
              <a:t>행 수 대사</a:t>
            </a:r>
            <a:endParaRPr lang="en-US" sz="1500" dirty="0"/>
          </a:p>
        </p:txBody>
      </p:sp>
      <p:sp>
        <p:nvSpPr>
          <p:cNvPr id="15" name="check-d-1"/>
          <p:cNvSpPr txBox="1"/>
          <p:nvPr/>
        </p:nvSpPr>
        <p:spPr>
          <a:xfrm>
            <a:off x="6080760" y="2898648"/>
            <a:ext cx="5394960" cy="320040"/>
          </a:xfrm>
          <a:prstGeom prst="rect">
            <a:avLst/>
          </a:prstGeom>
          <a:noFill/>
          <a:ln/>
        </p:spPr>
        <p:txBody>
          <a:bodyPr wrap="square" lIns="0" tIns="0" rIns="0" bIns="0" rtlCol="0" anchor="t"/>
          <a:lstStyle/>
          <a:p>
            <a:pPr indent="0" marL="0">
              <a:buNone/>
            </a:pPr>
            <a:r>
              <a:rPr lang="en-US" sz="1200" dirty="0">
                <a:solidFill>
                  <a:schemeClr val="bg2"/>
                </a:solidFill>
              </a:rPr>
              <a:t>원본 120,873 = 유지 119,579 + 복구 1,292 + 격리 2 + 제거 0</a:t>
            </a:r>
            <a:endParaRPr lang="en-US" sz="1200" dirty="0"/>
          </a:p>
        </p:txBody>
      </p:sp>
      <p:sp>
        <p:nvSpPr>
          <p:cNvPr id="16" name="check-2"/>
          <p:cNvSpPr/>
          <p:nvPr/>
        </p:nvSpPr>
        <p:spPr>
          <a:xfrm>
            <a:off x="5120640" y="3465576"/>
            <a:ext cx="6537960" cy="868680"/>
          </a:xfrm>
          <a:prstGeom prst="roundRect">
            <a:avLst>
              <a:gd name="adj" fmla="val 8421"/>
            </a:avLst>
          </a:prstGeom>
          <a:solidFill>
            <a:srgbClr val="24242E"/>
          </a:solidFill>
          <a:ln w="9525">
            <a:solidFill>
              <a:srgbClr val="33333F"/>
            </a:solidFill>
            <a:prstDash val="solid"/>
          </a:ln>
        </p:spPr>
      </p:sp>
      <p:sp>
        <p:nvSpPr>
          <p:cNvPr id="17" name="check-badge-2"/>
          <p:cNvSpPr/>
          <p:nvPr/>
        </p:nvSpPr>
        <p:spPr>
          <a:xfrm>
            <a:off x="5349240" y="3648456"/>
            <a:ext cx="502920" cy="502920"/>
          </a:xfrm>
          <a:prstGeom prst="ellipse">
            <a:avLst/>
          </a:prstGeom>
          <a:solidFill>
            <a:srgbClr val="2BD47D"/>
          </a:solidFill>
          <a:ln w="12700">
            <a:solidFill>
              <a:srgbClr val="2BD47D"/>
            </a:solidFill>
            <a:prstDash val="solid"/>
          </a:ln>
        </p:spPr>
      </p:sp>
      <p:sp>
        <p:nvSpPr>
          <p:cNvPr id="18" name="check-badge-2-t"/>
          <p:cNvSpPr txBox="1"/>
          <p:nvPr/>
        </p:nvSpPr>
        <p:spPr>
          <a:xfrm>
            <a:off x="5349240" y="3648456"/>
            <a:ext cx="502920" cy="502920"/>
          </a:xfrm>
          <a:prstGeom prst="rect">
            <a:avLst/>
          </a:prstGeom>
          <a:noFill/>
          <a:ln/>
        </p:spPr>
        <p:txBody>
          <a:bodyPr wrap="square" lIns="0" tIns="0" rIns="0" bIns="0" rtlCol="0" anchor="ctr"/>
          <a:lstStyle/>
          <a:p>
            <a:pPr algn="ctr" indent="0" marL="0">
              <a:buNone/>
            </a:pPr>
            <a:r>
              <a:rPr lang="en-US" sz="1700" b="1" dirty="0">
                <a:solidFill>
                  <a:srgbClr val="15151E"/>
                </a:solidFill>
              </a:rPr>
              <a:t>✓</a:t>
            </a:r>
            <a:endParaRPr lang="en-US" sz="1700" dirty="0"/>
          </a:p>
        </p:txBody>
      </p:sp>
      <p:sp>
        <p:nvSpPr>
          <p:cNvPr id="19" name="check-h-2"/>
          <p:cNvSpPr txBox="1"/>
          <p:nvPr/>
        </p:nvSpPr>
        <p:spPr>
          <a:xfrm>
            <a:off x="6080760" y="3584448"/>
            <a:ext cx="5394960" cy="320040"/>
          </a:xfrm>
          <a:prstGeom prst="rect">
            <a:avLst/>
          </a:prstGeom>
          <a:noFill/>
          <a:ln/>
        </p:spPr>
        <p:txBody>
          <a:bodyPr wrap="square" lIns="0" tIns="0" rIns="0" bIns="0" rtlCol="0" anchor="t"/>
          <a:lstStyle/>
          <a:p>
            <a:pPr indent="0" marL="0">
              <a:buNone/>
            </a:pPr>
            <a:r>
              <a:rPr lang="en-US" sz="1500" b="1" dirty="0">
                <a:solidFill>
                  <a:schemeClr val="bg1"/>
                </a:solidFill>
              </a:rPr>
              <a:t>적재 대사</a:t>
            </a:r>
            <a:endParaRPr lang="en-US" sz="1500" dirty="0"/>
          </a:p>
        </p:txBody>
      </p:sp>
      <p:sp>
        <p:nvSpPr>
          <p:cNvPr id="20" name="check-d-2"/>
          <p:cNvSpPr txBox="1"/>
          <p:nvPr/>
        </p:nvSpPr>
        <p:spPr>
          <a:xfrm>
            <a:off x="6080760" y="3922776"/>
            <a:ext cx="5394960" cy="320040"/>
          </a:xfrm>
          <a:prstGeom prst="rect">
            <a:avLst/>
          </a:prstGeom>
          <a:noFill/>
          <a:ln/>
        </p:spPr>
        <p:txBody>
          <a:bodyPr wrap="square" lIns="0" tIns="0" rIns="0" bIns="0" rtlCol="0" anchor="t"/>
          <a:lstStyle/>
          <a:p>
            <a:pPr indent="0" marL="0">
              <a:buNone/>
            </a:pPr>
            <a:r>
              <a:rPr lang="en-US" sz="1200" dirty="0">
                <a:solidFill>
                  <a:schemeClr val="bg2"/>
                </a:solidFill>
              </a:rPr>
              <a:t>스테이징 → 정규화 스키마 13개 테이블 차이 0</a:t>
            </a:r>
            <a:endParaRPr lang="en-US" sz="1200" dirty="0"/>
          </a:p>
        </p:txBody>
      </p:sp>
      <p:sp>
        <p:nvSpPr>
          <p:cNvPr id="21" name="check-3"/>
          <p:cNvSpPr/>
          <p:nvPr/>
        </p:nvSpPr>
        <p:spPr>
          <a:xfrm>
            <a:off x="5120640" y="4489704"/>
            <a:ext cx="6537960" cy="868680"/>
          </a:xfrm>
          <a:prstGeom prst="roundRect">
            <a:avLst>
              <a:gd name="adj" fmla="val 8421"/>
            </a:avLst>
          </a:prstGeom>
          <a:solidFill>
            <a:srgbClr val="24242E"/>
          </a:solidFill>
          <a:ln w="9525">
            <a:solidFill>
              <a:srgbClr val="33333F"/>
            </a:solidFill>
            <a:prstDash val="solid"/>
          </a:ln>
        </p:spPr>
      </p:sp>
      <p:sp>
        <p:nvSpPr>
          <p:cNvPr id="22" name="check-badge-3"/>
          <p:cNvSpPr/>
          <p:nvPr/>
        </p:nvSpPr>
        <p:spPr>
          <a:xfrm>
            <a:off x="5349240" y="4672584"/>
            <a:ext cx="502920" cy="502920"/>
          </a:xfrm>
          <a:prstGeom prst="ellipse">
            <a:avLst/>
          </a:prstGeom>
          <a:solidFill>
            <a:srgbClr val="2BD47D"/>
          </a:solidFill>
          <a:ln w="12700">
            <a:solidFill>
              <a:srgbClr val="2BD47D"/>
            </a:solidFill>
            <a:prstDash val="solid"/>
          </a:ln>
        </p:spPr>
      </p:sp>
      <p:sp>
        <p:nvSpPr>
          <p:cNvPr id="23" name="check-badge-3-t"/>
          <p:cNvSpPr txBox="1"/>
          <p:nvPr/>
        </p:nvSpPr>
        <p:spPr>
          <a:xfrm>
            <a:off x="5349240" y="4672584"/>
            <a:ext cx="502920" cy="502920"/>
          </a:xfrm>
          <a:prstGeom prst="rect">
            <a:avLst/>
          </a:prstGeom>
          <a:noFill/>
          <a:ln/>
        </p:spPr>
        <p:txBody>
          <a:bodyPr wrap="square" lIns="0" tIns="0" rIns="0" bIns="0" rtlCol="0" anchor="ctr"/>
          <a:lstStyle/>
          <a:p>
            <a:pPr algn="ctr" indent="0" marL="0">
              <a:buNone/>
            </a:pPr>
            <a:r>
              <a:rPr lang="en-US" sz="1700" b="1" dirty="0">
                <a:solidFill>
                  <a:srgbClr val="15151E"/>
                </a:solidFill>
              </a:rPr>
              <a:t>✓</a:t>
            </a:r>
            <a:endParaRPr lang="en-US" sz="1700" dirty="0"/>
          </a:p>
        </p:txBody>
      </p:sp>
      <p:sp>
        <p:nvSpPr>
          <p:cNvPr id="24" name="check-h-3"/>
          <p:cNvSpPr txBox="1"/>
          <p:nvPr/>
        </p:nvSpPr>
        <p:spPr>
          <a:xfrm>
            <a:off x="6080760" y="4608576"/>
            <a:ext cx="5394960" cy="320040"/>
          </a:xfrm>
          <a:prstGeom prst="rect">
            <a:avLst/>
          </a:prstGeom>
          <a:noFill/>
          <a:ln/>
        </p:spPr>
        <p:txBody>
          <a:bodyPr wrap="square" lIns="0" tIns="0" rIns="0" bIns="0" rtlCol="0" anchor="t"/>
          <a:lstStyle/>
          <a:p>
            <a:pPr indent="0" marL="0">
              <a:buNone/>
            </a:pPr>
            <a:r>
              <a:rPr lang="en-US" sz="1500" b="1" dirty="0">
                <a:solidFill>
                  <a:schemeClr val="bg1"/>
                </a:solidFill>
              </a:rPr>
              <a:t>포인트 점검</a:t>
            </a:r>
            <a:endParaRPr lang="en-US" sz="1500" dirty="0"/>
          </a:p>
        </p:txBody>
      </p:sp>
      <p:sp>
        <p:nvSpPr>
          <p:cNvPr id="25" name="check-d-3"/>
          <p:cNvSpPr txBox="1"/>
          <p:nvPr/>
        </p:nvSpPr>
        <p:spPr>
          <a:xfrm>
            <a:off x="6080760" y="4946904"/>
            <a:ext cx="5394960" cy="320040"/>
          </a:xfrm>
          <a:prstGeom prst="rect">
            <a:avLst/>
          </a:prstGeom>
          <a:noFill/>
          <a:ln/>
        </p:spPr>
        <p:txBody>
          <a:bodyPr wrap="square" lIns="0" tIns="0" rIns="0" bIns="0" rtlCol="0" anchor="t"/>
          <a:lstStyle/>
          <a:p>
            <a:pPr indent="0" marL="0">
              <a:buNone/>
            </a:pPr>
            <a:r>
              <a:rPr lang="en-US" sz="1200" dirty="0">
                <a:solidFill>
                  <a:schemeClr val="bg2"/>
                </a:solidFill>
              </a:rPr>
              <a:t>2023~2026 시즌별 드라이버 포인트 합 = 팀 합</a:t>
            </a:r>
            <a:endParaRPr lang="en-US" sz="1200" dirty="0"/>
          </a:p>
        </p:txBody>
      </p:sp>
      <p:sp>
        <p:nvSpPr>
          <p:cNvPr id="26" name="warn-note"/>
          <p:cNvSpPr txBox="1"/>
          <p:nvPr/>
        </p:nvSpPr>
        <p:spPr>
          <a:xfrm>
            <a:off x="5120640" y="5577840"/>
            <a:ext cx="6537960" cy="548640"/>
          </a:xfrm>
          <a:prstGeom prst="rect">
            <a:avLst/>
          </a:prstGeom>
          <a:noFill/>
          <a:ln/>
        </p:spPr>
        <p:txBody>
          <a:bodyPr wrap="square" lIns="0" tIns="0" rIns="0" bIns="0" rtlCol="0" anchor="t"/>
          <a:lstStyle/>
          <a:p>
            <a:pPr indent="0" marL="0">
              <a:buNone/>
            </a:pPr>
            <a:r>
              <a:rPr lang="en-US" sz="1200" dirty="0">
                <a:solidFill>
                  <a:schemeClr val="accent2"/>
                </a:solidFill>
              </a:rPr>
              <a:t>WARN 7: 스틴트에 걸리지 않는 랩 280건, 섹터 합 불일치 20건 등 원천 특성 — 분석에서 제외·보류 기준으로 관리</a:t>
            </a:r>
            <a:endParaRPr lang="en-US" sz="1200" dirty="0"/>
          </a:p>
        </p:txBody>
      </p:sp>
      <p:sp>
        <p:nvSpPr>
          <p:cNvPr id="25" name="Slide Number Placeholder 0"/>
          <p:cNvSpPr>
            <a:spLocks noGrp="1"/>
          </p:cNvSpPr>
          <p:nvPr>
            <p:ph type="sldNum" sz="quarter" idx="4294967295"/>
          </p:nvPr>
        </p:nvSpPr>
        <p:spPr>
          <a:xfrm>
            <a:off x="11064240" y="393192"/>
            <a:ext cx="640080" cy="411480"/>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Malgun Gothic"/>
                <a:ea typeface="Malgun Gothic"/>
                <a:cs typeface="Malgun Gothic"/>
              </a:defRPr>
            </a:lvl1pPr>
          </a:lstStyle>
          <a:p>
            <a:pPr algn="l"/>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indent="0" marL="0">
              <a:buNone/>
            </a:pPr>
            <a:r>
              <a:rPr lang="en-US" sz="3200" b="1" dirty="0">
                <a:solidFill>
                  <a:schemeClr val="bg1"/>
                </a:solidFill>
              </a:rPr>
              <a:t>메달리온 구조: Bronze → Silver → Gold → 화면</a:t>
            </a:r>
            <a:endParaRPr lang="en-US" sz="3200" dirty="0"/>
          </a:p>
        </p:txBody>
      </p:sp>
      <p:sp>
        <p:nvSpPr>
          <p:cNvPr id="3" name="layer-0"/>
          <p:cNvSpPr/>
          <p:nvPr/>
        </p:nvSpPr>
        <p:spPr>
          <a:xfrm>
            <a:off x="548640" y="1371600"/>
            <a:ext cx="2788920" cy="3337560"/>
          </a:xfrm>
          <a:prstGeom prst="roundRect">
            <a:avLst>
              <a:gd name="adj" fmla="val 2623"/>
            </a:avLst>
          </a:prstGeom>
          <a:solidFill>
            <a:srgbClr val="24242E"/>
          </a:solidFill>
          <a:ln w="9525">
            <a:solidFill>
              <a:srgbClr val="33333F"/>
            </a:solidFill>
            <a:prstDash val="solid"/>
          </a:ln>
        </p:spPr>
      </p:sp>
      <p:sp>
        <p:nvSpPr>
          <p:cNvPr id="4" name="layer-badge-0"/>
          <p:cNvSpPr/>
          <p:nvPr/>
        </p:nvSpPr>
        <p:spPr>
          <a:xfrm>
            <a:off x="777240" y="1600200"/>
            <a:ext cx="640080" cy="640080"/>
          </a:xfrm>
          <a:prstGeom prst="ellipse">
            <a:avLst/>
          </a:prstGeom>
          <a:solidFill>
            <a:srgbClr val="CD7F32"/>
          </a:solidFill>
          <a:ln w="12700">
            <a:solidFill>
              <a:srgbClr val="CD7F32"/>
            </a:solidFill>
            <a:prstDash val="solid"/>
          </a:ln>
        </p:spPr>
      </p:sp>
      <p:sp>
        <p:nvSpPr>
          <p:cNvPr id="5" name="layer-badge-0-t"/>
          <p:cNvSpPr txBox="1"/>
          <p:nvPr/>
        </p:nvSpPr>
        <p:spPr>
          <a:xfrm>
            <a:off x="777240" y="1600200"/>
            <a:ext cx="640080" cy="640080"/>
          </a:xfrm>
          <a:prstGeom prst="rect">
            <a:avLst/>
          </a:prstGeom>
          <a:noFill/>
          <a:ln/>
        </p:spPr>
        <p:txBody>
          <a:bodyPr wrap="square" lIns="0" tIns="0" rIns="0" bIns="0" rtlCol="0" anchor="ctr"/>
          <a:lstStyle/>
          <a:p>
            <a:pPr algn="ctr" indent="0" marL="0">
              <a:buNone/>
            </a:pPr>
            <a:r>
              <a:rPr lang="en-US" sz="2100" b="1" dirty="0">
                <a:solidFill>
                  <a:srgbClr val="15151E"/>
                </a:solidFill>
              </a:rPr>
              <a:t>1</a:t>
            </a:r>
            <a:endParaRPr lang="en-US" sz="2100" dirty="0"/>
          </a:p>
        </p:txBody>
      </p:sp>
      <p:sp>
        <p:nvSpPr>
          <p:cNvPr id="6" name="layer-name-0"/>
          <p:cNvSpPr txBox="1"/>
          <p:nvPr/>
        </p:nvSpPr>
        <p:spPr>
          <a:xfrm>
            <a:off x="1554480" y="1600200"/>
            <a:ext cx="1645920" cy="365760"/>
          </a:xfrm>
          <a:prstGeom prst="rect">
            <a:avLst/>
          </a:prstGeom>
          <a:noFill/>
          <a:ln/>
        </p:spPr>
        <p:txBody>
          <a:bodyPr wrap="square" lIns="0" tIns="0" rIns="0" bIns="0" rtlCol="0" anchor="t"/>
          <a:lstStyle/>
          <a:p>
            <a:pPr indent="0" marL="0">
              <a:buNone/>
            </a:pPr>
            <a:r>
              <a:rPr lang="en-US" sz="1800" b="1" dirty="0">
                <a:solidFill>
                  <a:srgbClr val="CD7F32"/>
                </a:solidFill>
              </a:rPr>
              <a:t>BRONZE</a:t>
            </a:r>
            <a:endParaRPr lang="en-US" sz="1800" dirty="0"/>
          </a:p>
        </p:txBody>
      </p:sp>
      <p:sp>
        <p:nvSpPr>
          <p:cNvPr id="7" name="layer-sub-0"/>
          <p:cNvSpPr txBox="1"/>
          <p:nvPr/>
        </p:nvSpPr>
        <p:spPr>
          <a:xfrm>
            <a:off x="1554480" y="1938528"/>
            <a:ext cx="1645920" cy="320040"/>
          </a:xfrm>
          <a:prstGeom prst="rect">
            <a:avLst/>
          </a:prstGeom>
          <a:noFill/>
          <a:ln/>
        </p:spPr>
        <p:txBody>
          <a:bodyPr wrap="square" lIns="0" tIns="0" rIns="0" bIns="0" rtlCol="0" anchor="t"/>
          <a:lstStyle/>
          <a:p>
            <a:pPr indent="0" marL="0">
              <a:buNone/>
            </a:pPr>
            <a:r>
              <a:rPr lang="en-US" sz="1200" dirty="0">
                <a:solidFill>
                  <a:schemeClr val="bg2"/>
                </a:solidFill>
              </a:rPr>
              <a:t>원본 보존</a:t>
            </a:r>
            <a:endParaRPr lang="en-US" sz="1200" dirty="0"/>
          </a:p>
        </p:txBody>
      </p:sp>
      <p:sp>
        <p:nvSpPr>
          <p:cNvPr id="8" name="layer-items-0"/>
          <p:cNvSpPr txBox="1"/>
          <p:nvPr/>
        </p:nvSpPr>
        <p:spPr>
          <a:xfrm>
            <a:off x="777240" y="2514600"/>
            <a:ext cx="2423160"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bg1"/>
                </a:solidFill>
              </a:rPr>
              <a:t>원본 6종 + 체크섬·명세 대조</a:t>
            </a:r>
            <a:endParaRPr lang="en-US" sz="1300" dirty="0"/>
          </a:p>
          <a:p>
            <a:pPr marL="342900" indent="-342900">
              <a:spcAft>
                <a:spcPts val="600"/>
              </a:spcAft>
              <a:buSzPct val="100000"/>
              <a:buChar char="•"/>
            </a:pPr>
            <a:r>
              <a:rPr lang="en-US" sz="1300" dirty="0">
                <a:solidFill>
                  <a:schemeClr val="bg1"/>
                </a:solidFill>
              </a:rPr>
              <a:t>추가 5종 zip (자동 압축 해제)</a:t>
            </a:r>
            <a:endParaRPr lang="en-US" sz="1300" dirty="0"/>
          </a:p>
          <a:p>
            <a:pPr marL="342900" indent="-342900">
              <a:spcAft>
                <a:spcPts val="600"/>
              </a:spcAft>
              <a:buSzPct val="100000"/>
              <a:buChar char="•"/>
            </a:pPr>
            <a:r>
              <a:rPr lang="en-US" sz="1300" dirty="0">
                <a:solidFill>
                  <a:schemeClr val="bg1"/>
                </a:solidFill>
              </a:rPr>
              <a:t>MySQL 문자열 스테이징 stg_*</a:t>
            </a:r>
            <a:endParaRPr lang="en-US" sz="1300" dirty="0"/>
          </a:p>
        </p:txBody>
      </p:sp>
      <p:sp>
        <p:nvSpPr>
          <p:cNvPr id="9" name="layer-1"/>
          <p:cNvSpPr/>
          <p:nvPr/>
        </p:nvSpPr>
        <p:spPr>
          <a:xfrm>
            <a:off x="3611880" y="1371600"/>
            <a:ext cx="2788920" cy="3337560"/>
          </a:xfrm>
          <a:prstGeom prst="roundRect">
            <a:avLst>
              <a:gd name="adj" fmla="val 2623"/>
            </a:avLst>
          </a:prstGeom>
          <a:solidFill>
            <a:srgbClr val="24242E"/>
          </a:solidFill>
          <a:ln w="9525">
            <a:solidFill>
              <a:srgbClr val="33333F"/>
            </a:solidFill>
            <a:prstDash val="solid"/>
          </a:ln>
        </p:spPr>
      </p:sp>
      <p:sp>
        <p:nvSpPr>
          <p:cNvPr id="10" name="layer-badge-1"/>
          <p:cNvSpPr/>
          <p:nvPr/>
        </p:nvSpPr>
        <p:spPr>
          <a:xfrm>
            <a:off x="3840480" y="1600200"/>
            <a:ext cx="640080" cy="640080"/>
          </a:xfrm>
          <a:prstGeom prst="ellipse">
            <a:avLst/>
          </a:prstGeom>
          <a:solidFill>
            <a:srgbClr val="C9CBD3"/>
          </a:solidFill>
          <a:ln w="12700">
            <a:solidFill>
              <a:srgbClr val="C9CBD3"/>
            </a:solidFill>
            <a:prstDash val="solid"/>
          </a:ln>
        </p:spPr>
      </p:sp>
      <p:sp>
        <p:nvSpPr>
          <p:cNvPr id="11" name="layer-badge-1-t"/>
          <p:cNvSpPr txBox="1"/>
          <p:nvPr/>
        </p:nvSpPr>
        <p:spPr>
          <a:xfrm>
            <a:off x="3840480" y="1600200"/>
            <a:ext cx="640080" cy="640080"/>
          </a:xfrm>
          <a:prstGeom prst="rect">
            <a:avLst/>
          </a:prstGeom>
          <a:noFill/>
          <a:ln/>
        </p:spPr>
        <p:txBody>
          <a:bodyPr wrap="square" lIns="0" tIns="0" rIns="0" bIns="0" rtlCol="0" anchor="ctr"/>
          <a:lstStyle/>
          <a:p>
            <a:pPr algn="ctr" indent="0" marL="0">
              <a:buNone/>
            </a:pPr>
            <a:r>
              <a:rPr lang="en-US" sz="2100" b="1" dirty="0">
                <a:solidFill>
                  <a:srgbClr val="15151E"/>
                </a:solidFill>
              </a:rPr>
              <a:t>2</a:t>
            </a:r>
            <a:endParaRPr lang="en-US" sz="2100" dirty="0"/>
          </a:p>
        </p:txBody>
      </p:sp>
      <p:sp>
        <p:nvSpPr>
          <p:cNvPr id="12" name="layer-name-1"/>
          <p:cNvSpPr txBox="1"/>
          <p:nvPr/>
        </p:nvSpPr>
        <p:spPr>
          <a:xfrm>
            <a:off x="4617720" y="1600200"/>
            <a:ext cx="1645920" cy="365760"/>
          </a:xfrm>
          <a:prstGeom prst="rect">
            <a:avLst/>
          </a:prstGeom>
          <a:noFill/>
          <a:ln/>
        </p:spPr>
        <p:txBody>
          <a:bodyPr wrap="square" lIns="0" tIns="0" rIns="0" bIns="0" rtlCol="0" anchor="t"/>
          <a:lstStyle/>
          <a:p>
            <a:pPr indent="0" marL="0">
              <a:buNone/>
            </a:pPr>
            <a:r>
              <a:rPr lang="en-US" sz="1800" b="1" dirty="0">
                <a:solidFill>
                  <a:srgbClr val="C9CBD3"/>
                </a:solidFill>
              </a:rPr>
              <a:t>SILVER</a:t>
            </a:r>
            <a:endParaRPr lang="en-US" sz="1800" dirty="0"/>
          </a:p>
        </p:txBody>
      </p:sp>
      <p:sp>
        <p:nvSpPr>
          <p:cNvPr id="13" name="layer-sub-1"/>
          <p:cNvSpPr txBox="1"/>
          <p:nvPr/>
        </p:nvSpPr>
        <p:spPr>
          <a:xfrm>
            <a:off x="4617720" y="1938528"/>
            <a:ext cx="1645920" cy="320040"/>
          </a:xfrm>
          <a:prstGeom prst="rect">
            <a:avLst/>
          </a:prstGeom>
          <a:noFill/>
          <a:ln/>
        </p:spPr>
        <p:txBody>
          <a:bodyPr wrap="square" lIns="0" tIns="0" rIns="0" bIns="0" rtlCol="0" anchor="t"/>
          <a:lstStyle/>
          <a:p>
            <a:pPr indent="0" marL="0">
              <a:buNone/>
            </a:pPr>
            <a:r>
              <a:rPr lang="en-US" sz="1200" dirty="0">
                <a:solidFill>
                  <a:schemeClr val="bg2"/>
                </a:solidFill>
              </a:rPr>
              <a:t>정제·연결</a:t>
            </a:r>
            <a:endParaRPr lang="en-US" sz="1200" dirty="0"/>
          </a:p>
        </p:txBody>
      </p:sp>
      <p:sp>
        <p:nvSpPr>
          <p:cNvPr id="14" name="layer-items-1"/>
          <p:cNvSpPr txBox="1"/>
          <p:nvPr/>
        </p:nvSpPr>
        <p:spPr>
          <a:xfrm>
            <a:off x="3840480" y="2514600"/>
            <a:ext cx="2423160"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bg1"/>
                </a:solidFill>
              </a:rPr>
              <a:t>repaired / quarantine CSV</a:t>
            </a:r>
            <a:endParaRPr lang="en-US" sz="1300" dirty="0"/>
          </a:p>
          <a:p>
            <a:pPr marL="342900" indent="-342900">
              <a:spcAft>
                <a:spcPts val="600"/>
              </a:spcAft>
              <a:buSzPct val="100000"/>
              <a:buChar char="•"/>
            </a:pPr>
            <a:r>
              <a:rPr lang="en-US" sz="1300" dirty="0">
                <a:solidFill>
                  <a:schemeClr val="bg1"/>
                </a:solidFill>
              </a:rPr>
              <a:t>검증 VC01~VC71 (pandas·MySQL)</a:t>
            </a:r>
            <a:endParaRPr lang="en-US" sz="1300" dirty="0"/>
          </a:p>
          <a:p>
            <a:pPr marL="342900" indent="-342900">
              <a:spcAft>
                <a:spcPts val="600"/>
              </a:spcAft>
              <a:buSzPct val="100000"/>
              <a:buChar char="•"/>
            </a:pPr>
            <a:r>
              <a:rPr lang="en-US" sz="1300" dirty="0">
                <a:solidFill>
                  <a:schemeClr val="bg1"/>
                </a:solidFill>
              </a:rPr>
              <a:t>정규화 스키마 lap·stint·result…</a:t>
            </a:r>
            <a:endParaRPr lang="en-US" sz="1300" dirty="0"/>
          </a:p>
        </p:txBody>
      </p:sp>
      <p:sp>
        <p:nvSpPr>
          <p:cNvPr id="15" name="layer-2"/>
          <p:cNvSpPr/>
          <p:nvPr/>
        </p:nvSpPr>
        <p:spPr>
          <a:xfrm>
            <a:off x="6675120" y="1371600"/>
            <a:ext cx="2788920" cy="3337560"/>
          </a:xfrm>
          <a:prstGeom prst="roundRect">
            <a:avLst>
              <a:gd name="adj" fmla="val 2623"/>
            </a:avLst>
          </a:prstGeom>
          <a:solidFill>
            <a:srgbClr val="24242E"/>
          </a:solidFill>
          <a:ln w="9525">
            <a:solidFill>
              <a:srgbClr val="33333F"/>
            </a:solidFill>
            <a:prstDash val="solid"/>
          </a:ln>
        </p:spPr>
      </p:sp>
      <p:sp>
        <p:nvSpPr>
          <p:cNvPr id="16" name="layer-badge-2"/>
          <p:cNvSpPr/>
          <p:nvPr/>
        </p:nvSpPr>
        <p:spPr>
          <a:xfrm>
            <a:off x="6903720" y="1600200"/>
            <a:ext cx="640080" cy="640080"/>
          </a:xfrm>
          <a:prstGeom prst="ellipse">
            <a:avLst/>
          </a:prstGeom>
          <a:solidFill>
            <a:srgbClr val="FFC845"/>
          </a:solidFill>
          <a:ln w="12700">
            <a:solidFill>
              <a:srgbClr val="FFC845"/>
            </a:solidFill>
            <a:prstDash val="solid"/>
          </a:ln>
        </p:spPr>
      </p:sp>
      <p:sp>
        <p:nvSpPr>
          <p:cNvPr id="17" name="layer-badge-2-t"/>
          <p:cNvSpPr txBox="1"/>
          <p:nvPr/>
        </p:nvSpPr>
        <p:spPr>
          <a:xfrm>
            <a:off x="6903720" y="1600200"/>
            <a:ext cx="640080" cy="640080"/>
          </a:xfrm>
          <a:prstGeom prst="rect">
            <a:avLst/>
          </a:prstGeom>
          <a:noFill/>
          <a:ln/>
        </p:spPr>
        <p:txBody>
          <a:bodyPr wrap="square" lIns="0" tIns="0" rIns="0" bIns="0" rtlCol="0" anchor="ctr"/>
          <a:lstStyle/>
          <a:p>
            <a:pPr algn="ctr" indent="0" marL="0">
              <a:buNone/>
            </a:pPr>
            <a:r>
              <a:rPr lang="en-US" sz="2100" b="1" dirty="0">
                <a:solidFill>
                  <a:srgbClr val="15151E"/>
                </a:solidFill>
              </a:rPr>
              <a:t>3</a:t>
            </a:r>
            <a:endParaRPr lang="en-US" sz="2100" dirty="0"/>
          </a:p>
        </p:txBody>
      </p:sp>
      <p:sp>
        <p:nvSpPr>
          <p:cNvPr id="18" name="layer-name-2"/>
          <p:cNvSpPr txBox="1"/>
          <p:nvPr/>
        </p:nvSpPr>
        <p:spPr>
          <a:xfrm>
            <a:off x="7680960" y="1600200"/>
            <a:ext cx="1645920" cy="365760"/>
          </a:xfrm>
          <a:prstGeom prst="rect">
            <a:avLst/>
          </a:prstGeom>
          <a:noFill/>
          <a:ln/>
        </p:spPr>
        <p:txBody>
          <a:bodyPr wrap="square" lIns="0" tIns="0" rIns="0" bIns="0" rtlCol="0" anchor="t"/>
          <a:lstStyle/>
          <a:p>
            <a:pPr indent="0" marL="0">
              <a:buNone/>
            </a:pPr>
            <a:r>
              <a:rPr lang="en-US" sz="1800" b="1" dirty="0">
                <a:solidFill>
                  <a:srgbClr val="FFC845"/>
                </a:solidFill>
              </a:rPr>
              <a:t>GOLD</a:t>
            </a:r>
            <a:endParaRPr lang="en-US" sz="1800" dirty="0"/>
          </a:p>
        </p:txBody>
      </p:sp>
      <p:sp>
        <p:nvSpPr>
          <p:cNvPr id="19" name="layer-sub-2"/>
          <p:cNvSpPr txBox="1"/>
          <p:nvPr/>
        </p:nvSpPr>
        <p:spPr>
          <a:xfrm>
            <a:off x="7680960" y="1938528"/>
            <a:ext cx="1645920" cy="320040"/>
          </a:xfrm>
          <a:prstGeom prst="rect">
            <a:avLst/>
          </a:prstGeom>
          <a:noFill/>
          <a:ln/>
        </p:spPr>
        <p:txBody>
          <a:bodyPr wrap="square" lIns="0" tIns="0" rIns="0" bIns="0" rtlCol="0" anchor="t"/>
          <a:lstStyle/>
          <a:p>
            <a:pPr indent="0" marL="0">
              <a:buNone/>
            </a:pPr>
            <a:r>
              <a:rPr lang="en-US" sz="1200" dirty="0">
                <a:solidFill>
                  <a:schemeClr val="bg2"/>
                </a:solidFill>
              </a:rPr>
              <a:t>의사결정 지표</a:t>
            </a:r>
            <a:endParaRPr lang="en-US" sz="1200" dirty="0"/>
          </a:p>
        </p:txBody>
      </p:sp>
      <p:sp>
        <p:nvSpPr>
          <p:cNvPr id="20" name="layer-items-2"/>
          <p:cNvSpPr txBox="1"/>
          <p:nvPr/>
        </p:nvSpPr>
        <p:spPr>
          <a:xfrm>
            <a:off x="6903720" y="2514600"/>
            <a:ext cx="2423160"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bg1"/>
                </a:solidFill>
              </a:rPr>
              <a:t>gold_board_* 11개 테이블 (sql/06)</a:t>
            </a:r>
            <a:endParaRPr lang="en-US" sz="1300" dirty="0"/>
          </a:p>
          <a:p>
            <a:pPr marL="342900" indent="-342900">
              <a:spcAft>
                <a:spcPts val="600"/>
              </a:spcAft>
              <a:buSzPct val="100000"/>
              <a:buChar char="•"/>
            </a:pPr>
            <a:r>
              <a:rPr lang="en-US" sz="1300" dirty="0">
                <a:solidFill>
                  <a:schemeClr val="bg1"/>
                </a:solidFill>
              </a:rPr>
              <a:t>프로필·팀·경기 결과·후보 판정·품질</a:t>
            </a:r>
            <a:endParaRPr lang="en-US" sz="1300" dirty="0"/>
          </a:p>
          <a:p>
            <a:pPr marL="342900" indent="-342900">
              <a:spcAft>
                <a:spcPts val="600"/>
              </a:spcAft>
              <a:buSzPct val="100000"/>
              <a:buChar char="•"/>
            </a:pPr>
            <a:r>
              <a:rPr lang="en-US" sz="1300" dirty="0">
                <a:solidFill>
                  <a:schemeClr val="bg1"/>
                </a:solidFill>
              </a:rPr>
              <a:t>적재 후 원천과 값 일치 검증</a:t>
            </a:r>
            <a:endParaRPr lang="en-US" sz="1300" dirty="0"/>
          </a:p>
        </p:txBody>
      </p:sp>
      <p:sp>
        <p:nvSpPr>
          <p:cNvPr id="21" name="layer-app"/>
          <p:cNvSpPr/>
          <p:nvPr/>
        </p:nvSpPr>
        <p:spPr>
          <a:xfrm>
            <a:off x="9738360" y="1371600"/>
            <a:ext cx="1920240" cy="3337560"/>
          </a:xfrm>
          <a:prstGeom prst="roundRect">
            <a:avLst>
              <a:gd name="adj" fmla="val 3810"/>
            </a:avLst>
          </a:prstGeom>
          <a:solidFill>
            <a:srgbClr val="3A0A08"/>
          </a:solidFill>
          <a:ln w="19050">
            <a:solidFill>
              <a:srgbClr val="E10600"/>
            </a:solidFill>
            <a:prstDash val="solid"/>
          </a:ln>
        </p:spPr>
      </p:sp>
      <p:sp>
        <p:nvSpPr>
          <p:cNvPr id="22" name="app-name"/>
          <p:cNvSpPr txBox="1"/>
          <p:nvPr/>
        </p:nvSpPr>
        <p:spPr>
          <a:xfrm>
            <a:off x="9921240" y="1600200"/>
            <a:ext cx="1645920" cy="365760"/>
          </a:xfrm>
          <a:prstGeom prst="rect">
            <a:avLst/>
          </a:prstGeom>
          <a:noFill/>
          <a:ln/>
        </p:spPr>
        <p:txBody>
          <a:bodyPr wrap="square" lIns="0" tIns="0" rIns="0" bIns="0" rtlCol="0" anchor="t"/>
          <a:lstStyle/>
          <a:p>
            <a:pPr indent="0" marL="0">
              <a:buNone/>
            </a:pPr>
            <a:r>
              <a:rPr lang="en-US" sz="1800" b="1" dirty="0">
                <a:solidFill>
                  <a:schemeClr val="accent1"/>
                </a:solidFill>
              </a:rPr>
              <a:t>DJANGO</a:t>
            </a:r>
            <a:endParaRPr lang="en-US" sz="1800" dirty="0"/>
          </a:p>
        </p:txBody>
      </p:sp>
      <p:sp>
        <p:nvSpPr>
          <p:cNvPr id="23" name="app-items"/>
          <p:cNvSpPr txBox="1"/>
          <p:nvPr/>
        </p:nvSpPr>
        <p:spPr>
          <a:xfrm>
            <a:off x="9921240" y="2514600"/>
            <a:ext cx="1645920"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bg1"/>
                </a:solidFill>
              </a:rPr>
              <a:t>Decision Board</a:t>
            </a:r>
            <a:endParaRPr lang="en-US" sz="1300" dirty="0"/>
          </a:p>
          <a:p>
            <a:pPr marL="342900" indent="-342900">
              <a:spcAft>
                <a:spcPts val="600"/>
              </a:spcAft>
              <a:buSzPct val="100000"/>
              <a:buChar char="•"/>
            </a:pPr>
            <a:r>
              <a:rPr lang="en-US" sz="1300" dirty="0">
                <a:solidFill>
                  <a:schemeClr val="bg1"/>
                </a:solidFill>
              </a:rPr>
              <a:t>/data 조회</a:t>
            </a:r>
            <a:endParaRPr lang="en-US" sz="1300" dirty="0"/>
          </a:p>
          <a:p>
            <a:pPr marL="342900" indent="-342900">
              <a:spcAft>
                <a:spcPts val="600"/>
              </a:spcAft>
              <a:buSzPct val="100000"/>
              <a:buChar char="•"/>
            </a:pPr>
            <a:r>
              <a:rPr lang="en-US" sz="1300" dirty="0">
                <a:solidFill>
                  <a:schemeClr val="bg1"/>
                </a:solidFill>
              </a:rPr>
              <a:t>/ops 파이프라인 관리</a:t>
            </a:r>
            <a:endParaRPr lang="en-US" sz="1300" dirty="0"/>
          </a:p>
        </p:txBody>
      </p:sp>
      <p:sp>
        <p:nvSpPr>
          <p:cNvPr id="24" name="medallion-gap"/>
          <p:cNvSpPr/>
          <p:nvPr/>
        </p:nvSpPr>
        <p:spPr>
          <a:xfrm>
            <a:off x="548640" y="4937760"/>
            <a:ext cx="11109960" cy="1234440"/>
          </a:xfrm>
          <a:prstGeom prst="roundRect">
            <a:avLst>
              <a:gd name="adj" fmla="val 5926"/>
            </a:avLst>
          </a:prstGeom>
          <a:solidFill>
            <a:srgbClr val="15151E"/>
          </a:solidFill>
          <a:ln w="9525">
            <a:solidFill>
              <a:srgbClr val="33333F"/>
            </a:solidFill>
            <a:prstDash val="solid"/>
          </a:ln>
        </p:spPr>
      </p:sp>
      <p:sp>
        <p:nvSpPr>
          <p:cNvPr id="25" name="medallion-gap-text"/>
          <p:cNvSpPr txBox="1"/>
          <p:nvPr/>
        </p:nvSpPr>
        <p:spPr>
          <a:xfrm>
            <a:off x="868680" y="5138928"/>
            <a:ext cx="10515600" cy="868680"/>
          </a:xfrm>
          <a:prstGeom prst="rect">
            <a:avLst/>
          </a:prstGeom>
          <a:noFill/>
          <a:ln/>
        </p:spPr>
        <p:txBody>
          <a:bodyPr wrap="square" lIns="0" tIns="0" rIns="0" bIns="0" rtlCol="0" anchor="t"/>
          <a:lstStyle/>
          <a:p>
            <a:pPr indent="0" marL="0">
              <a:buNone/>
            </a:pPr>
            <a:r>
              <a:rPr lang="en-US" sz="1400" b="1" dirty="0">
                <a:solidFill>
                  <a:schemeClr val="accent2"/>
                </a:solidFill>
              </a:rPr>
              <a:t>보완할 점  </a:t>
            </a:r>
            <a:pPr indent="0" marL="0">
              <a:buNone/>
            </a:pPr>
            <a:r>
              <a:rPr lang="en-US" sz="1400" dirty="0">
                <a:solidFill>
                  <a:schemeClr val="bg2"/>
                </a:solidFill>
              </a:rPr>
              <a:t>Gold 수치를 계산한 분석 코드가 저장소에 없어 결과 파일을 적재 · 타이어(스틴트)·피트(이벤트) 단위 마트는 미구현 · 추가 5종의 원본 API 응답(JSON)과 수집 로그 미보존</a:t>
            </a:r>
            <a:endParaRPr lang="en-US" sz="1400" dirty="0"/>
          </a:p>
        </p:txBody>
      </p:sp>
      <p:sp>
        <p:nvSpPr>
          <p:cNvPr id="25" name="Slide Number Placeholder 0"/>
          <p:cNvSpPr>
            <a:spLocks noGrp="1"/>
          </p:cNvSpPr>
          <p:nvPr>
            <p:ph type="sldNum" sz="quarter" idx="4294967295"/>
          </p:nvPr>
        </p:nvSpPr>
        <p:spPr>
          <a:xfrm>
            <a:off x="11064240" y="393192"/>
            <a:ext cx="640080" cy="411480"/>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Malgun Gothic"/>
                <a:ea typeface="Malgun Gothic"/>
                <a:cs typeface="Malgun Gothic"/>
              </a:defRPr>
            </a:lvl1pPr>
          </a:lstStyle>
          <a:p>
            <a:pPr algn="l"/>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731520" y="1554480"/>
            <a:ext cx="5486400" cy="822960"/>
          </a:xfrm>
          <a:prstGeom prst="rect">
            <a:avLst/>
          </a:prstGeom>
          <a:noFill/>
          <a:ln/>
        </p:spPr>
        <p:txBody>
          <a:bodyPr wrap="square" lIns="0" tIns="0" rIns="0" bIns="0" rtlCol="0"/>
          <a:lstStyle/>
          <a:p>
            <a:pPr indent="0" marL="0">
              <a:buNone/>
            </a:pPr>
            <a:r>
              <a:rPr lang="en-US" sz="5400" b="1" dirty="0">
                <a:solidFill>
                  <a:schemeClr val="accent1"/>
                </a:solidFill>
              </a:rPr>
              <a:t>02</a:t>
            </a:r>
            <a:endParaRPr lang="en-US" sz="5400" dirty="0"/>
          </a:p>
        </p:txBody>
      </p:sp>
      <p:sp>
        <p:nvSpPr>
          <p:cNvPr id="3" name="Text 0"/>
          <p:cNvSpPr/>
          <p:nvPr>
            <p:ph idx="101" type="title" hasCustomPrompt="1"/>
          </p:nvPr>
        </p:nvSpPr>
        <p:spPr>
          <a:xfrm>
            <a:off x="731520" y="2468880"/>
            <a:ext cx="10058400" cy="1005840"/>
          </a:xfrm>
          <a:prstGeom prst="rect">
            <a:avLst/>
          </a:prstGeom>
          <a:noFill/>
          <a:ln/>
        </p:spPr>
        <p:txBody>
          <a:bodyPr wrap="square" lIns="0" tIns="0" rIns="0" bIns="0" rtlCol="0"/>
          <a:lstStyle/>
          <a:p>
            <a:pPr indent="0" marL="0">
              <a:buNone/>
            </a:pPr>
            <a:r>
              <a:rPr lang="en-US" sz="4400" b="1" dirty="0">
                <a:solidFill>
                  <a:schemeClr val="bg1"/>
                </a:solidFill>
              </a:rPr>
              <a:t>우리 팀에 맞는 드라이버 찾기</a:t>
            </a:r>
            <a:endParaRPr lang="en-US" sz="4400" dirty="0"/>
          </a:p>
        </p:txBody>
      </p:sp>
      <p:sp>
        <p:nvSpPr>
          <p:cNvPr id="4" name="Text 0"/>
          <p:cNvSpPr/>
          <p:nvPr>
            <p:ph idx="102" type="body" hasCustomPrompt="1"/>
          </p:nvPr>
        </p:nvSpPr>
        <p:spPr>
          <a:xfrm>
            <a:off x="731520" y="3566160"/>
            <a:ext cx="9601200" cy="914400"/>
          </a:xfrm>
          <a:prstGeom prst="rect">
            <a:avLst/>
          </a:prstGeom>
          <a:noFill/>
          <a:ln/>
        </p:spPr>
        <p:txBody>
          <a:bodyPr wrap="square" lIns="0" tIns="0" rIns="0" bIns="0" rtlCol="0" anchor="t"/>
          <a:lstStyle/>
          <a:p>
            <a:pPr indent="0" marL="0">
              <a:buNone/>
            </a:pPr>
            <a:r>
              <a:rPr lang="en-US" sz="2000" dirty="0">
                <a:solidFill>
                  <a:schemeClr val="bg2"/>
                </a:solidFill>
              </a:rPr>
              <a:t>사례: 2025 Aston Martin · 비교 기준 Lance STROLL 자리</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indent="0" marL="0">
              <a:buNone/>
            </a:pPr>
            <a:r>
              <a:rPr lang="en-US" sz="3200" b="1" dirty="0">
                <a:solidFill>
                  <a:schemeClr val="bg1"/>
                </a:solidFill>
              </a:rPr>
              <a:t>Decision Board: 팀 진단부터 후보 검토까지</a:t>
            </a:r>
            <a:endParaRPr lang="en-US" sz="3200" dirty="0"/>
          </a:p>
        </p:txBody>
      </p:sp>
      <p:pic>
        <p:nvPicPr>
          <p:cNvPr id="3" name="board-shot" descr="C:\Users\User\AppData\Local\Temp\claude\D--workspace-mlo-02-p2-team1\80d8d160-e2ae-4a70-aa59-51235a8aa30d\scratchpad\deck\board_top.png">    </p:cNvPr>
          <p:cNvPicPr>
            <a:picLocks noChangeAspect="1"/>
          </p:cNvPicPr>
          <p:nvPr/>
        </p:nvPicPr>
        <p:blipFill>
          <a:blip r:embed="rId1"/>
          <a:stretch>
            <a:fillRect/>
          </a:stretch>
        </p:blipFill>
        <p:spPr>
          <a:xfrm>
            <a:off x="548640" y="1371600"/>
            <a:ext cx="6949440" cy="4343400"/>
          </a:xfrm>
          <a:prstGeom prst="rect">
            <a:avLst/>
          </a:prstGeom>
        </p:spPr>
      </p:pic>
      <p:sp>
        <p:nvSpPr>
          <p:cNvPr id="4" name="sec-badge-0"/>
          <p:cNvSpPr/>
          <p:nvPr/>
        </p:nvSpPr>
        <p:spPr>
          <a:xfrm>
            <a:off x="7863840" y="1444752"/>
            <a:ext cx="457200" cy="457200"/>
          </a:xfrm>
          <a:prstGeom prst="ellipse">
            <a:avLst/>
          </a:prstGeom>
          <a:solidFill>
            <a:srgbClr val="3A3A46"/>
          </a:solidFill>
          <a:ln w="12700">
            <a:solidFill>
              <a:srgbClr val="3A3A46"/>
            </a:solidFill>
            <a:prstDash val="solid"/>
          </a:ln>
        </p:spPr>
      </p:sp>
      <p:sp>
        <p:nvSpPr>
          <p:cNvPr id="5" name="sec-badge-0-t"/>
          <p:cNvSpPr txBox="1"/>
          <p:nvPr/>
        </p:nvSpPr>
        <p:spPr>
          <a:xfrm>
            <a:off x="7863840" y="144475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01</a:t>
            </a:r>
            <a:endParaRPr lang="en-US" sz="1500" dirty="0"/>
          </a:p>
        </p:txBody>
      </p:sp>
      <p:sp>
        <p:nvSpPr>
          <p:cNvPr id="6" name="sec-name-0"/>
          <p:cNvSpPr txBox="1"/>
          <p:nvPr/>
        </p:nvSpPr>
        <p:spPr>
          <a:xfrm>
            <a:off x="8503920" y="1490472"/>
            <a:ext cx="3154680" cy="411480"/>
          </a:xfrm>
          <a:prstGeom prst="rect">
            <a:avLst/>
          </a:prstGeom>
          <a:noFill/>
          <a:ln/>
        </p:spPr>
        <p:txBody>
          <a:bodyPr wrap="square" lIns="0" tIns="0" rIns="0" bIns="0" rtlCol="0" anchor="t"/>
          <a:lstStyle/>
          <a:p>
            <a:pPr indent="0" marL="0">
              <a:buNone/>
            </a:pPr>
            <a:r>
              <a:rPr lang="en-US" sz="1500" dirty="0">
                <a:solidFill>
                  <a:schemeClr val="bg1"/>
                </a:solidFill>
              </a:rPr>
              <a:t>처음 생각 vs 데이터 결과</a:t>
            </a:r>
            <a:endParaRPr lang="en-US" sz="1500" dirty="0"/>
          </a:p>
        </p:txBody>
      </p:sp>
      <p:sp>
        <p:nvSpPr>
          <p:cNvPr id="7" name="sec-badge-1"/>
          <p:cNvSpPr/>
          <p:nvPr/>
        </p:nvSpPr>
        <p:spPr>
          <a:xfrm>
            <a:off x="7863840" y="2176272"/>
            <a:ext cx="457200" cy="457200"/>
          </a:xfrm>
          <a:prstGeom prst="ellipse">
            <a:avLst/>
          </a:prstGeom>
          <a:solidFill>
            <a:srgbClr val="3A3A46"/>
          </a:solidFill>
          <a:ln w="12700">
            <a:solidFill>
              <a:srgbClr val="3A3A46"/>
            </a:solidFill>
            <a:prstDash val="solid"/>
          </a:ln>
        </p:spPr>
      </p:sp>
      <p:sp>
        <p:nvSpPr>
          <p:cNvPr id="8" name="sec-badge-1-t"/>
          <p:cNvSpPr txBox="1"/>
          <p:nvPr/>
        </p:nvSpPr>
        <p:spPr>
          <a:xfrm>
            <a:off x="7863840" y="217627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02</a:t>
            </a:r>
            <a:endParaRPr lang="en-US" sz="1500" dirty="0"/>
          </a:p>
        </p:txBody>
      </p:sp>
      <p:sp>
        <p:nvSpPr>
          <p:cNvPr id="9" name="sec-name-1"/>
          <p:cNvSpPr txBox="1"/>
          <p:nvPr/>
        </p:nvSpPr>
        <p:spPr>
          <a:xfrm>
            <a:off x="8503920" y="2221992"/>
            <a:ext cx="3154680" cy="411480"/>
          </a:xfrm>
          <a:prstGeom prst="rect">
            <a:avLst/>
          </a:prstGeom>
          <a:noFill/>
          <a:ln/>
        </p:spPr>
        <p:txBody>
          <a:bodyPr wrap="square" lIns="0" tIns="0" rIns="0" bIns="0" rtlCol="0" anchor="t"/>
          <a:lstStyle/>
          <a:p>
            <a:pPr indent="0" marL="0">
              <a:buNone/>
            </a:pPr>
            <a:r>
              <a:rPr lang="en-US" sz="1500" dirty="0">
                <a:solidFill>
                  <a:schemeClr val="bg1"/>
                </a:solidFill>
              </a:rPr>
              <a:t>포인트와 경제적 의미</a:t>
            </a:r>
            <a:endParaRPr lang="en-US" sz="1500" dirty="0"/>
          </a:p>
        </p:txBody>
      </p:sp>
      <p:sp>
        <p:nvSpPr>
          <p:cNvPr id="10" name="sec-badge-2"/>
          <p:cNvSpPr/>
          <p:nvPr/>
        </p:nvSpPr>
        <p:spPr>
          <a:xfrm>
            <a:off x="7863840" y="2907792"/>
            <a:ext cx="457200" cy="457200"/>
          </a:xfrm>
          <a:prstGeom prst="ellipse">
            <a:avLst/>
          </a:prstGeom>
          <a:solidFill>
            <a:srgbClr val="E10600"/>
          </a:solidFill>
          <a:ln w="12700">
            <a:solidFill>
              <a:srgbClr val="E10600"/>
            </a:solidFill>
            <a:prstDash val="solid"/>
          </a:ln>
        </p:spPr>
      </p:sp>
      <p:sp>
        <p:nvSpPr>
          <p:cNvPr id="11" name="sec-badge-2-t"/>
          <p:cNvSpPr txBox="1"/>
          <p:nvPr/>
        </p:nvSpPr>
        <p:spPr>
          <a:xfrm>
            <a:off x="7863840" y="29077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03</a:t>
            </a:r>
            <a:endParaRPr lang="en-US" sz="1500" dirty="0"/>
          </a:p>
        </p:txBody>
      </p:sp>
      <p:sp>
        <p:nvSpPr>
          <p:cNvPr id="12" name="sec-name-2"/>
          <p:cNvSpPr txBox="1"/>
          <p:nvPr/>
        </p:nvSpPr>
        <p:spPr>
          <a:xfrm>
            <a:off x="8503920" y="2953512"/>
            <a:ext cx="3154680" cy="411480"/>
          </a:xfrm>
          <a:prstGeom prst="rect">
            <a:avLst/>
          </a:prstGeom>
          <a:noFill/>
          <a:ln/>
        </p:spPr>
        <p:txBody>
          <a:bodyPr wrap="square" lIns="0" tIns="0" rIns="0" bIns="0" rtlCol="0" anchor="t"/>
          <a:lstStyle/>
          <a:p>
            <a:pPr indent="0" marL="0">
              <a:buNone/>
            </a:pPr>
            <a:r>
              <a:rPr lang="en-US" sz="1500" b="1" dirty="0">
                <a:solidFill>
                  <a:schemeClr val="bg1"/>
                </a:solidFill>
              </a:rPr>
              <a:t>영입 후보 비교</a:t>
            </a:r>
            <a:endParaRPr lang="en-US" sz="1500" dirty="0"/>
          </a:p>
        </p:txBody>
      </p:sp>
      <p:sp>
        <p:nvSpPr>
          <p:cNvPr id="13" name="sec-badge-3"/>
          <p:cNvSpPr/>
          <p:nvPr/>
        </p:nvSpPr>
        <p:spPr>
          <a:xfrm>
            <a:off x="7863840" y="3639312"/>
            <a:ext cx="457200" cy="457200"/>
          </a:xfrm>
          <a:prstGeom prst="ellipse">
            <a:avLst/>
          </a:prstGeom>
          <a:solidFill>
            <a:srgbClr val="3A3A46"/>
          </a:solidFill>
          <a:ln w="12700">
            <a:solidFill>
              <a:srgbClr val="3A3A46"/>
            </a:solidFill>
            <a:prstDash val="solid"/>
          </a:ln>
        </p:spPr>
      </p:sp>
      <p:sp>
        <p:nvSpPr>
          <p:cNvPr id="14" name="sec-badge-3-t"/>
          <p:cNvSpPr txBox="1"/>
          <p:nvPr/>
        </p:nvSpPr>
        <p:spPr>
          <a:xfrm>
            <a:off x="7863840" y="363931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04</a:t>
            </a:r>
            <a:endParaRPr lang="en-US" sz="1500" dirty="0"/>
          </a:p>
        </p:txBody>
      </p:sp>
      <p:sp>
        <p:nvSpPr>
          <p:cNvPr id="15" name="sec-name-3"/>
          <p:cNvSpPr txBox="1"/>
          <p:nvPr/>
        </p:nvSpPr>
        <p:spPr>
          <a:xfrm>
            <a:off x="8503920" y="3685032"/>
            <a:ext cx="3154680" cy="411480"/>
          </a:xfrm>
          <a:prstGeom prst="rect">
            <a:avLst/>
          </a:prstGeom>
          <a:noFill/>
          <a:ln/>
        </p:spPr>
        <p:txBody>
          <a:bodyPr wrap="square" lIns="0" tIns="0" rIns="0" bIns="0" rtlCol="0" anchor="t"/>
          <a:lstStyle/>
          <a:p>
            <a:pPr indent="0" marL="0">
              <a:buNone/>
            </a:pPr>
            <a:r>
              <a:rPr lang="en-US" sz="1500" dirty="0">
                <a:solidFill>
                  <a:schemeClr val="bg1"/>
                </a:solidFill>
              </a:rPr>
              <a:t>후보 검토 근거</a:t>
            </a:r>
            <a:endParaRPr lang="en-US" sz="1500" dirty="0"/>
          </a:p>
        </p:txBody>
      </p:sp>
      <p:sp>
        <p:nvSpPr>
          <p:cNvPr id="16" name="sec-badge-4"/>
          <p:cNvSpPr/>
          <p:nvPr/>
        </p:nvSpPr>
        <p:spPr>
          <a:xfrm>
            <a:off x="7863840" y="4370832"/>
            <a:ext cx="457200" cy="457200"/>
          </a:xfrm>
          <a:prstGeom prst="ellipse">
            <a:avLst/>
          </a:prstGeom>
          <a:solidFill>
            <a:srgbClr val="3A3A46"/>
          </a:solidFill>
          <a:ln w="12700">
            <a:solidFill>
              <a:srgbClr val="3A3A46"/>
            </a:solidFill>
            <a:prstDash val="solid"/>
          </a:ln>
        </p:spPr>
      </p:sp>
      <p:sp>
        <p:nvSpPr>
          <p:cNvPr id="17" name="sec-badge-4-t"/>
          <p:cNvSpPr txBox="1"/>
          <p:nvPr/>
        </p:nvSpPr>
        <p:spPr>
          <a:xfrm>
            <a:off x="7863840" y="437083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05</a:t>
            </a:r>
            <a:endParaRPr lang="en-US" sz="1500" dirty="0"/>
          </a:p>
        </p:txBody>
      </p:sp>
      <p:sp>
        <p:nvSpPr>
          <p:cNvPr id="18" name="sec-name-4"/>
          <p:cNvSpPr txBox="1"/>
          <p:nvPr/>
        </p:nvSpPr>
        <p:spPr>
          <a:xfrm>
            <a:off x="8503920" y="4416552"/>
            <a:ext cx="3154680" cy="411480"/>
          </a:xfrm>
          <a:prstGeom prst="rect">
            <a:avLst/>
          </a:prstGeom>
          <a:noFill/>
          <a:ln/>
        </p:spPr>
        <p:txBody>
          <a:bodyPr wrap="square" lIns="0" tIns="0" rIns="0" bIns="0" rtlCol="0" anchor="t"/>
          <a:lstStyle/>
          <a:p>
            <a:pPr indent="0" marL="0">
              <a:buNone/>
            </a:pPr>
            <a:r>
              <a:rPr lang="en-US" sz="1500" dirty="0">
                <a:solidFill>
                  <a:schemeClr val="bg1"/>
                </a:solidFill>
              </a:rPr>
              <a:t>팀별 피트 운영 비교</a:t>
            </a:r>
            <a:endParaRPr lang="en-US" sz="1500" dirty="0"/>
          </a:p>
        </p:txBody>
      </p:sp>
      <p:sp>
        <p:nvSpPr>
          <p:cNvPr id="19" name="sec-badge-5"/>
          <p:cNvSpPr/>
          <p:nvPr/>
        </p:nvSpPr>
        <p:spPr>
          <a:xfrm>
            <a:off x="7863840" y="5102352"/>
            <a:ext cx="457200" cy="457200"/>
          </a:xfrm>
          <a:prstGeom prst="ellipse">
            <a:avLst/>
          </a:prstGeom>
          <a:solidFill>
            <a:srgbClr val="3A3A46"/>
          </a:solidFill>
          <a:ln w="12700">
            <a:solidFill>
              <a:srgbClr val="3A3A46"/>
            </a:solidFill>
            <a:prstDash val="solid"/>
          </a:ln>
        </p:spPr>
      </p:sp>
      <p:sp>
        <p:nvSpPr>
          <p:cNvPr id="20" name="sec-badge-5-t"/>
          <p:cNvSpPr txBox="1"/>
          <p:nvPr/>
        </p:nvSpPr>
        <p:spPr>
          <a:xfrm>
            <a:off x="7863840" y="510235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06</a:t>
            </a:r>
            <a:endParaRPr lang="en-US" sz="1500" dirty="0"/>
          </a:p>
        </p:txBody>
      </p:sp>
      <p:sp>
        <p:nvSpPr>
          <p:cNvPr id="21" name="sec-name-5"/>
          <p:cNvSpPr txBox="1"/>
          <p:nvPr/>
        </p:nvSpPr>
        <p:spPr>
          <a:xfrm>
            <a:off x="8503920" y="5148072"/>
            <a:ext cx="3154680" cy="411480"/>
          </a:xfrm>
          <a:prstGeom prst="rect">
            <a:avLst/>
          </a:prstGeom>
          <a:noFill/>
          <a:ln/>
        </p:spPr>
        <p:txBody>
          <a:bodyPr wrap="square" lIns="0" tIns="0" rIns="0" bIns="0" rtlCol="0" anchor="t"/>
          <a:lstStyle/>
          <a:p>
            <a:pPr indent="0" marL="0">
              <a:buNone/>
            </a:pPr>
            <a:r>
              <a:rPr lang="en-US" sz="1500" dirty="0">
                <a:solidFill>
                  <a:schemeClr val="bg1"/>
                </a:solidFill>
              </a:rPr>
              <a:t>데이터와 한계</a:t>
            </a:r>
            <a:endParaRPr lang="en-US" sz="1500" dirty="0"/>
          </a:p>
        </p:txBody>
      </p:sp>
      <p:sp>
        <p:nvSpPr>
          <p:cNvPr id="22" name="board-caption"/>
          <p:cNvSpPr txBox="1"/>
          <p:nvPr/>
        </p:nvSpPr>
        <p:spPr>
          <a:xfrm>
            <a:off x="548640" y="5852160"/>
            <a:ext cx="6949440" cy="320040"/>
          </a:xfrm>
          <a:prstGeom prst="rect">
            <a:avLst/>
          </a:prstGeom>
          <a:noFill/>
          <a:ln/>
        </p:spPr>
        <p:txBody>
          <a:bodyPr wrap="square" lIns="0" tIns="0" rIns="0" bIns="0" rtlCol="0" anchor="t"/>
          <a:lstStyle/>
          <a:p>
            <a:pPr indent="0" marL="0">
              <a:buNone/>
            </a:pPr>
            <a:r>
              <a:rPr lang="en-US" sz="1200" dirty="0">
                <a:solidFill>
                  <a:schemeClr val="accent4"/>
                </a:solidFill>
              </a:rPr>
              <a:t>조건 선택: 시즌 · 팀 · 비교 기준 선수 · 후보 정렬 기준 · 후보 소속 범위</a:t>
            </a:r>
            <a:endParaRPr lang="en-US" sz="1200" dirty="0"/>
          </a:p>
        </p:txBody>
      </p:sp>
      <p:sp>
        <p:nvSpPr>
          <p:cNvPr id="25" name="Slide Number Placeholder 0"/>
          <p:cNvSpPr>
            <a:spLocks noGrp="1"/>
          </p:cNvSpPr>
          <p:nvPr>
            <p:ph type="sldNum" sz="quarter" idx="4294967295"/>
          </p:nvPr>
        </p:nvSpPr>
        <p:spPr>
          <a:xfrm>
            <a:off x="11064240" y="393192"/>
            <a:ext cx="640080" cy="411480"/>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Malgun Gothic"/>
                <a:ea typeface="Malgun Gothic"/>
                <a:cs typeface="Malgun Gothic"/>
              </a:defRPr>
            </a:lvl1pPr>
          </a:lstStyle>
          <a:p>
            <a:pPr algn="l"/>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indent="0" marL="0">
              <a:buNone/>
            </a:pPr>
            <a:r>
              <a:rPr lang="en-US" sz="3200" b="1" dirty="0">
                <a:solidFill>
                  <a:schemeClr val="bg1"/>
                </a:solidFill>
              </a:rPr>
              <a:t>팀 진단: Aston Martin은 10팀 중 페이스 7위</a:t>
            </a:r>
            <a:endParaRPr lang="en-US" sz="3200" dirty="0"/>
          </a:p>
        </p:txBody>
      </p:sp>
      <p:graphicFrame>
        <p:nvGraphicFramePr>
          <p:cNvPr id="3" name="chart-pace" descr=""/>
          <p:cNvGraphicFramePr/>
          <p:nvPr/>
        </p:nvGraphicFramePr>
        <p:xfrm>
          <a:off x="548640" y="1325880"/>
          <a:ext cx="7223760" cy="4846320"/>
        </p:xfrm>
        <a:graphic xmlns:a="http://schemas.openxmlformats.org/drawingml/2006/main">
          <a:graphicData uri="http://schemas.openxmlformats.org/drawingml/2006/chart">
            <c:chart xmlns:c="http://schemas.openxmlformats.org/drawingml/2006/chart" r:id="rId1"/>
          </a:graphicData>
        </a:graphic>
      </p:graphicFrame>
      <p:sp>
        <p:nvSpPr>
          <p:cNvPr id="4" name="pace-callout"/>
          <p:cNvSpPr/>
          <p:nvPr/>
        </p:nvSpPr>
        <p:spPr>
          <a:xfrm>
            <a:off x="8092440" y="1371600"/>
            <a:ext cx="3566160" cy="4800600"/>
          </a:xfrm>
          <a:prstGeom prst="roundRect">
            <a:avLst>
              <a:gd name="adj" fmla="val 2051"/>
            </a:avLst>
          </a:prstGeom>
          <a:solidFill>
            <a:srgbClr val="15151E"/>
          </a:solidFill>
          <a:ln w="19050">
            <a:solidFill>
              <a:srgbClr val="E10600"/>
            </a:solidFill>
            <a:prstDash val="solid"/>
          </a:ln>
        </p:spPr>
      </p:sp>
      <p:sp>
        <p:nvSpPr>
          <p:cNvPr id="5" name="pace-rank-num"/>
          <p:cNvSpPr txBox="1"/>
          <p:nvPr/>
        </p:nvSpPr>
        <p:spPr>
          <a:xfrm>
            <a:off x="8366760" y="1645920"/>
            <a:ext cx="3108960" cy="685800"/>
          </a:xfrm>
          <a:prstGeom prst="rect">
            <a:avLst/>
          </a:prstGeom>
          <a:noFill/>
          <a:ln/>
        </p:spPr>
        <p:txBody>
          <a:bodyPr wrap="square" lIns="0" tIns="0" rIns="0" bIns="0" rtlCol="0" anchor="t"/>
          <a:lstStyle/>
          <a:p>
            <a:pPr indent="0" marL="0">
              <a:buNone/>
            </a:pPr>
            <a:r>
              <a:rPr lang="en-US" sz="3600" b="1" dirty="0">
                <a:solidFill>
                  <a:schemeClr val="accent1"/>
                </a:solidFill>
              </a:rPr>
              <a:t>7 / 10</a:t>
            </a:r>
            <a:endParaRPr lang="en-US" sz="3600" dirty="0"/>
          </a:p>
        </p:txBody>
      </p:sp>
      <p:sp>
        <p:nvSpPr>
          <p:cNvPr id="6" name="pace-rank-label"/>
          <p:cNvSpPr txBox="1"/>
          <p:nvPr/>
        </p:nvSpPr>
        <p:spPr>
          <a:xfrm>
            <a:off x="8366760" y="2359152"/>
            <a:ext cx="3108960" cy="502920"/>
          </a:xfrm>
          <a:prstGeom prst="rect">
            <a:avLst/>
          </a:prstGeom>
          <a:noFill/>
          <a:ln/>
        </p:spPr>
        <p:txBody>
          <a:bodyPr wrap="square" lIns="0" tIns="0" rIns="0" bIns="0" rtlCol="0" anchor="t"/>
          <a:lstStyle/>
          <a:p>
            <a:pPr indent="0" marL="0">
              <a:buNone/>
            </a:pPr>
            <a:r>
              <a:rPr lang="en-US" sz="1200" dirty="0">
                <a:solidFill>
                  <a:schemeClr val="bg2"/>
                </a:solidFill>
              </a:rPr>
              <a:t>같은 시즌 유효 팀 중 빠른 순서</a:t>
            </a:r>
            <a:endParaRPr lang="en-US" sz="1200" dirty="0"/>
          </a:p>
        </p:txBody>
      </p:sp>
      <p:sp>
        <p:nvSpPr>
          <p:cNvPr id="7" name="pace-pct-num"/>
          <p:cNvSpPr txBox="1"/>
          <p:nvPr/>
        </p:nvSpPr>
        <p:spPr>
          <a:xfrm>
            <a:off x="8366760" y="2971800"/>
            <a:ext cx="3108960" cy="685800"/>
          </a:xfrm>
          <a:prstGeom prst="rect">
            <a:avLst/>
          </a:prstGeom>
          <a:noFill/>
          <a:ln/>
        </p:spPr>
        <p:txBody>
          <a:bodyPr wrap="square" lIns="0" tIns="0" rIns="0" bIns="0" rtlCol="0" anchor="t"/>
          <a:lstStyle/>
          <a:p>
            <a:pPr indent="0" marL="0">
              <a:buNone/>
            </a:pPr>
            <a:r>
              <a:rPr lang="en-US" sz="3600" b="1" dirty="0">
                <a:solidFill>
                  <a:schemeClr val="bg1"/>
                </a:solidFill>
              </a:rPr>
              <a:t>+0.46%</a:t>
            </a:r>
            <a:endParaRPr lang="en-US" sz="3600" dirty="0"/>
          </a:p>
        </p:txBody>
      </p:sp>
      <p:sp>
        <p:nvSpPr>
          <p:cNvPr id="8" name="pace-pct-label"/>
          <p:cNvSpPr txBox="1"/>
          <p:nvPr/>
        </p:nvSpPr>
        <p:spPr>
          <a:xfrm>
            <a:off x="8366760" y="3685032"/>
            <a:ext cx="3108960" cy="502920"/>
          </a:xfrm>
          <a:prstGeom prst="rect">
            <a:avLst/>
          </a:prstGeom>
          <a:noFill/>
          <a:ln/>
        </p:spPr>
        <p:txBody>
          <a:bodyPr wrap="square" lIns="0" tIns="0" rIns="0" bIns="0" rtlCol="0" anchor="t"/>
          <a:lstStyle/>
          <a:p>
            <a:pPr indent="0" marL="0">
              <a:buNone/>
            </a:pPr>
            <a:r>
              <a:rPr lang="en-US" sz="1200" dirty="0">
                <a:solidFill>
                  <a:schemeClr val="bg2"/>
                </a:solidFill>
              </a:rPr>
              <a:t>필드 대비 상대 페이스 (비교 팀 중앙값보다 느림)</a:t>
            </a:r>
            <a:endParaRPr lang="en-US" sz="1200" dirty="0"/>
          </a:p>
        </p:txBody>
      </p:sp>
      <p:sp>
        <p:nvSpPr>
          <p:cNvPr id="9" name="pace-note"/>
          <p:cNvSpPr txBox="1"/>
          <p:nvPr/>
        </p:nvSpPr>
        <p:spPr>
          <a:xfrm>
            <a:off x="8366760" y="4434840"/>
            <a:ext cx="3108960" cy="1463040"/>
          </a:xfrm>
          <a:prstGeom prst="rect">
            <a:avLst/>
          </a:prstGeom>
          <a:noFill/>
          <a:ln/>
        </p:spPr>
        <p:txBody>
          <a:bodyPr wrap="square" lIns="0" tIns="0" rIns="0" bIns="0" rtlCol="0" anchor="t"/>
          <a:lstStyle/>
          <a:p>
            <a:pPr indent="0" marL="0">
              <a:buNone/>
            </a:pPr>
            <a:r>
              <a:rPr lang="en-US" sz="1300" dirty="0">
                <a:solidFill>
                  <a:schemeClr val="bg2"/>
                </a:solidFill>
              </a:rPr>
              <a:t>21개 유효 경기 · 1,462개 참조 연결 랩. 같은 경기·컴파운드·5랩 구간의 다른 선수를 기준으로 비교합니다.</a:t>
            </a:r>
            <a:endParaRPr lang="en-US" sz="1300" dirty="0"/>
          </a:p>
        </p:txBody>
      </p:sp>
      <p:sp>
        <p:nvSpPr>
          <p:cNvPr id="25" name="Slide Number Placeholder 0"/>
          <p:cNvSpPr>
            <a:spLocks noGrp="1"/>
          </p:cNvSpPr>
          <p:nvPr>
            <p:ph type="sldNum" sz="quarter" idx="4294967295"/>
          </p:nvPr>
        </p:nvSpPr>
        <p:spPr>
          <a:xfrm>
            <a:off x="11064240" y="393192"/>
            <a:ext cx="640080" cy="411480"/>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Malgun Gothic"/>
                <a:ea typeface="Malgun Gothic"/>
                <a:cs typeface="Malgun Gothic"/>
              </a:defRPr>
            </a:lvl1pPr>
          </a:lstStyle>
          <a:p>
            <a:pPr algn="l"/>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indent="0" marL="0">
              <a:buNone/>
            </a:pPr>
            <a:r>
              <a:rPr lang="en-US" sz="3200" b="1" dirty="0">
                <a:solidFill>
                  <a:schemeClr val="bg1"/>
                </a:solidFill>
              </a:rPr>
              <a:t>처음 생각 6개를 데이터로 판정</a:t>
            </a:r>
            <a:endParaRPr lang="en-US" sz="3200" dirty="0"/>
          </a:p>
        </p:txBody>
      </p:sp>
      <p:sp>
        <p:nvSpPr>
          <p:cNvPr id="3" name="hyp-0"/>
          <p:cNvSpPr/>
          <p:nvPr/>
        </p:nvSpPr>
        <p:spPr>
          <a:xfrm>
            <a:off x="548640" y="1371600"/>
            <a:ext cx="3566160" cy="2240280"/>
          </a:xfrm>
          <a:prstGeom prst="roundRect">
            <a:avLst>
              <a:gd name="adj" fmla="val 3265"/>
            </a:avLst>
          </a:prstGeom>
          <a:solidFill>
            <a:srgbClr val="24242E"/>
          </a:solidFill>
          <a:ln w="9525">
            <a:solidFill>
              <a:srgbClr val="33333F"/>
            </a:solidFill>
            <a:prstDash val="solid"/>
          </a:ln>
        </p:spPr>
      </p:sp>
      <p:sp>
        <p:nvSpPr>
          <p:cNvPr id="4" name="hyp-badge-0"/>
          <p:cNvSpPr/>
          <p:nvPr/>
        </p:nvSpPr>
        <p:spPr>
          <a:xfrm>
            <a:off x="777240" y="1600200"/>
            <a:ext cx="548640" cy="548640"/>
          </a:xfrm>
          <a:prstGeom prst="ellipse">
            <a:avLst/>
          </a:prstGeom>
          <a:solidFill>
            <a:srgbClr val="2BD47D"/>
          </a:solidFill>
          <a:ln w="12700">
            <a:solidFill>
              <a:srgbClr val="2BD47D"/>
            </a:solidFill>
            <a:prstDash val="solid"/>
          </a:ln>
        </p:spPr>
      </p:sp>
      <p:sp>
        <p:nvSpPr>
          <p:cNvPr id="5" name="hyp-badge-0-t"/>
          <p:cNvSpPr txBox="1"/>
          <p:nvPr/>
        </p:nvSpPr>
        <p:spPr>
          <a:xfrm>
            <a:off x="777240" y="1600200"/>
            <a:ext cx="548640" cy="548640"/>
          </a:xfrm>
          <a:prstGeom prst="rect">
            <a:avLst/>
          </a:prstGeom>
          <a:noFill/>
          <a:ln/>
        </p:spPr>
        <p:txBody>
          <a:bodyPr wrap="square" lIns="0" tIns="0" rIns="0" bIns="0" rtlCol="0" anchor="ctr"/>
          <a:lstStyle/>
          <a:p>
            <a:pPr algn="ctr" indent="0" marL="0">
              <a:buNone/>
            </a:pPr>
            <a:r>
              <a:rPr lang="en-US" sz="1800" b="1" dirty="0">
                <a:solidFill>
                  <a:srgbClr val="15151E"/>
                </a:solidFill>
              </a:rPr>
              <a:t>O</a:t>
            </a:r>
            <a:endParaRPr lang="en-US" sz="1800" dirty="0"/>
          </a:p>
        </p:txBody>
      </p:sp>
      <p:sp>
        <p:nvSpPr>
          <p:cNvPr id="6" name="hyp-k-0"/>
          <p:cNvSpPr txBox="1"/>
          <p:nvPr/>
        </p:nvSpPr>
        <p:spPr>
          <a:xfrm>
            <a:off x="1508760" y="1664208"/>
            <a:ext cx="2468880" cy="365760"/>
          </a:xfrm>
          <a:prstGeom prst="rect">
            <a:avLst/>
          </a:prstGeom>
          <a:noFill/>
          <a:ln/>
        </p:spPr>
        <p:txBody>
          <a:bodyPr wrap="square" lIns="0" tIns="0" rIns="0" bIns="0" rtlCol="0" anchor="t"/>
          <a:lstStyle/>
          <a:p>
            <a:pPr indent="0" marL="0">
              <a:buNone/>
            </a:pPr>
            <a:r>
              <a:rPr lang="en-US" sz="1200" dirty="0">
                <a:solidFill>
                  <a:schemeClr val="accent4"/>
                </a:solidFill>
              </a:rPr>
              <a:t>처음 생각 1 · 팀 진단</a:t>
            </a:r>
            <a:endParaRPr lang="en-US" sz="1200" dirty="0"/>
          </a:p>
        </p:txBody>
      </p:sp>
      <p:sp>
        <p:nvSpPr>
          <p:cNvPr id="7" name="hyp-h-0"/>
          <p:cNvSpPr txBox="1"/>
          <p:nvPr/>
        </p:nvSpPr>
        <p:spPr>
          <a:xfrm>
            <a:off x="777240" y="2286000"/>
            <a:ext cx="3154680" cy="685800"/>
          </a:xfrm>
          <a:prstGeom prst="rect">
            <a:avLst/>
          </a:prstGeom>
          <a:noFill/>
          <a:ln/>
        </p:spPr>
        <p:txBody>
          <a:bodyPr wrap="square" lIns="0" tIns="0" rIns="0" bIns="0" rtlCol="0" anchor="t"/>
          <a:lstStyle/>
          <a:p>
            <a:pPr indent="0" marL="0">
              <a:buNone/>
            </a:pPr>
            <a:r>
              <a:rPr lang="en-US" sz="1400" b="1" dirty="0">
                <a:solidFill>
                  <a:schemeClr val="bg1"/>
                </a:solidFill>
              </a:rPr>
              <a:t>“주행 페이스는 팀들 중 중간보다 느릴 것”</a:t>
            </a:r>
            <a:endParaRPr lang="en-US" sz="1400" dirty="0"/>
          </a:p>
        </p:txBody>
      </p:sp>
      <p:sp>
        <p:nvSpPr>
          <p:cNvPr id="8" name="hyp-n-0"/>
          <p:cNvSpPr txBox="1"/>
          <p:nvPr/>
        </p:nvSpPr>
        <p:spPr>
          <a:xfrm>
            <a:off x="777240" y="3063240"/>
            <a:ext cx="3154680" cy="365760"/>
          </a:xfrm>
          <a:prstGeom prst="rect">
            <a:avLst/>
          </a:prstGeom>
          <a:noFill/>
          <a:ln/>
        </p:spPr>
        <p:txBody>
          <a:bodyPr wrap="square" lIns="0" tIns="0" rIns="0" bIns="0" rtlCol="0" anchor="t"/>
          <a:lstStyle/>
          <a:p>
            <a:pPr indent="0" marL="0">
              <a:buNone/>
            </a:pPr>
            <a:r>
              <a:rPr lang="en-US" sz="1300" dirty="0">
                <a:solidFill>
                  <a:schemeClr val="accent3"/>
                </a:solidFill>
              </a:rPr>
              <a:t>7/10위 · +0.460%</a:t>
            </a:r>
            <a:endParaRPr lang="en-US" sz="1300" dirty="0"/>
          </a:p>
        </p:txBody>
      </p:sp>
      <p:sp>
        <p:nvSpPr>
          <p:cNvPr id="9" name="hyp-1"/>
          <p:cNvSpPr/>
          <p:nvPr/>
        </p:nvSpPr>
        <p:spPr>
          <a:xfrm>
            <a:off x="4297680" y="1371600"/>
            <a:ext cx="3566160" cy="2240280"/>
          </a:xfrm>
          <a:prstGeom prst="roundRect">
            <a:avLst>
              <a:gd name="adj" fmla="val 3265"/>
            </a:avLst>
          </a:prstGeom>
          <a:solidFill>
            <a:srgbClr val="24242E"/>
          </a:solidFill>
          <a:ln w="9525">
            <a:solidFill>
              <a:srgbClr val="33333F"/>
            </a:solidFill>
            <a:prstDash val="solid"/>
          </a:ln>
        </p:spPr>
      </p:sp>
      <p:sp>
        <p:nvSpPr>
          <p:cNvPr id="10" name="hyp-badge-1"/>
          <p:cNvSpPr/>
          <p:nvPr/>
        </p:nvSpPr>
        <p:spPr>
          <a:xfrm>
            <a:off x="4526280" y="1600200"/>
            <a:ext cx="548640" cy="548640"/>
          </a:xfrm>
          <a:prstGeom prst="ellipse">
            <a:avLst/>
          </a:prstGeom>
          <a:solidFill>
            <a:srgbClr val="2BD47D"/>
          </a:solidFill>
          <a:ln w="12700">
            <a:solidFill>
              <a:srgbClr val="2BD47D"/>
            </a:solidFill>
            <a:prstDash val="solid"/>
          </a:ln>
        </p:spPr>
      </p:sp>
      <p:sp>
        <p:nvSpPr>
          <p:cNvPr id="11" name="hyp-badge-1-t"/>
          <p:cNvSpPr txBox="1"/>
          <p:nvPr/>
        </p:nvSpPr>
        <p:spPr>
          <a:xfrm>
            <a:off x="4526280" y="1600200"/>
            <a:ext cx="548640" cy="548640"/>
          </a:xfrm>
          <a:prstGeom prst="rect">
            <a:avLst/>
          </a:prstGeom>
          <a:noFill/>
          <a:ln/>
        </p:spPr>
        <p:txBody>
          <a:bodyPr wrap="square" lIns="0" tIns="0" rIns="0" bIns="0" rtlCol="0" anchor="ctr"/>
          <a:lstStyle/>
          <a:p>
            <a:pPr algn="ctr" indent="0" marL="0">
              <a:buNone/>
            </a:pPr>
            <a:r>
              <a:rPr lang="en-US" sz="1800" b="1" dirty="0">
                <a:solidFill>
                  <a:srgbClr val="15151E"/>
                </a:solidFill>
              </a:rPr>
              <a:t>O</a:t>
            </a:r>
            <a:endParaRPr lang="en-US" sz="1800" dirty="0"/>
          </a:p>
        </p:txBody>
      </p:sp>
      <p:sp>
        <p:nvSpPr>
          <p:cNvPr id="12" name="hyp-k-1"/>
          <p:cNvSpPr txBox="1"/>
          <p:nvPr/>
        </p:nvSpPr>
        <p:spPr>
          <a:xfrm>
            <a:off x="5257800" y="1664208"/>
            <a:ext cx="2468880" cy="365760"/>
          </a:xfrm>
          <a:prstGeom prst="rect">
            <a:avLst/>
          </a:prstGeom>
          <a:noFill/>
          <a:ln/>
        </p:spPr>
        <p:txBody>
          <a:bodyPr wrap="square" lIns="0" tIns="0" rIns="0" bIns="0" rtlCol="0" anchor="t"/>
          <a:lstStyle/>
          <a:p>
            <a:pPr indent="0" marL="0">
              <a:buNone/>
            </a:pPr>
            <a:r>
              <a:rPr lang="en-US" sz="1200" dirty="0">
                <a:solidFill>
                  <a:schemeClr val="accent4"/>
                </a:solidFill>
              </a:rPr>
              <a:t>처음 생각 2 · 타이어</a:t>
            </a:r>
            <a:endParaRPr lang="en-US" sz="1200" dirty="0"/>
          </a:p>
        </p:txBody>
      </p:sp>
      <p:sp>
        <p:nvSpPr>
          <p:cNvPr id="13" name="hyp-h-1"/>
          <p:cNvSpPr txBox="1"/>
          <p:nvPr/>
        </p:nvSpPr>
        <p:spPr>
          <a:xfrm>
            <a:off x="4526280" y="2286000"/>
            <a:ext cx="3154680" cy="685800"/>
          </a:xfrm>
          <a:prstGeom prst="rect">
            <a:avLst/>
          </a:prstGeom>
          <a:noFill/>
          <a:ln/>
        </p:spPr>
        <p:txBody>
          <a:bodyPr wrap="square" lIns="0" tIns="0" rIns="0" bIns="0" rtlCol="0" anchor="t"/>
          <a:lstStyle/>
          <a:p>
            <a:pPr indent="0" marL="0">
              <a:buNone/>
            </a:pPr>
            <a:r>
              <a:rPr lang="en-US" sz="1400" b="1" dirty="0">
                <a:solidFill>
                  <a:schemeClr val="bg1"/>
                </a:solidFill>
              </a:rPr>
              <a:t>“오래 쓸수록 다른 차량보다 더 떨어질 것”</a:t>
            </a:r>
            <a:endParaRPr lang="en-US" sz="1400" dirty="0"/>
          </a:p>
        </p:txBody>
      </p:sp>
      <p:sp>
        <p:nvSpPr>
          <p:cNvPr id="14" name="hyp-n-1"/>
          <p:cNvSpPr txBox="1"/>
          <p:nvPr/>
        </p:nvSpPr>
        <p:spPr>
          <a:xfrm>
            <a:off x="4526280" y="3063240"/>
            <a:ext cx="3154680" cy="365760"/>
          </a:xfrm>
          <a:prstGeom prst="rect">
            <a:avLst/>
          </a:prstGeom>
          <a:noFill/>
          <a:ln/>
        </p:spPr>
        <p:txBody>
          <a:bodyPr wrap="square" lIns="0" tIns="0" rIns="0" bIns="0" rtlCol="0" anchor="t"/>
          <a:lstStyle/>
          <a:p>
            <a:pPr indent="0" marL="0">
              <a:buNone/>
            </a:pPr>
            <a:r>
              <a:rPr lang="en-US" sz="1300" dirty="0">
                <a:solidFill>
                  <a:schemeClr val="accent3"/>
                </a:solidFill>
              </a:rPr>
              <a:t>+2.8ms/랩 저하 방향</a:t>
            </a:r>
            <a:endParaRPr lang="en-US" sz="1300" dirty="0"/>
          </a:p>
        </p:txBody>
      </p:sp>
      <p:sp>
        <p:nvSpPr>
          <p:cNvPr id="15" name="hyp-2"/>
          <p:cNvSpPr/>
          <p:nvPr/>
        </p:nvSpPr>
        <p:spPr>
          <a:xfrm>
            <a:off x="8046720" y="1371600"/>
            <a:ext cx="3566160" cy="2240280"/>
          </a:xfrm>
          <a:prstGeom prst="roundRect">
            <a:avLst>
              <a:gd name="adj" fmla="val 3265"/>
            </a:avLst>
          </a:prstGeom>
          <a:solidFill>
            <a:srgbClr val="24242E"/>
          </a:solidFill>
          <a:ln w="15875">
            <a:solidFill>
              <a:srgbClr val="FF8700"/>
            </a:solidFill>
            <a:prstDash val="solid"/>
          </a:ln>
        </p:spPr>
      </p:sp>
      <p:sp>
        <p:nvSpPr>
          <p:cNvPr id="16" name="hyp-badge-2"/>
          <p:cNvSpPr/>
          <p:nvPr/>
        </p:nvSpPr>
        <p:spPr>
          <a:xfrm>
            <a:off x="8275320" y="1600200"/>
            <a:ext cx="548640" cy="548640"/>
          </a:xfrm>
          <a:prstGeom prst="ellipse">
            <a:avLst/>
          </a:prstGeom>
          <a:solidFill>
            <a:srgbClr val="FF8700"/>
          </a:solidFill>
          <a:ln w="12700">
            <a:solidFill>
              <a:srgbClr val="FF8700"/>
            </a:solidFill>
            <a:prstDash val="solid"/>
          </a:ln>
        </p:spPr>
      </p:sp>
      <p:sp>
        <p:nvSpPr>
          <p:cNvPr id="17" name="hyp-badge-2-t"/>
          <p:cNvSpPr txBox="1"/>
          <p:nvPr/>
        </p:nvSpPr>
        <p:spPr>
          <a:xfrm>
            <a:off x="8275320" y="1600200"/>
            <a:ext cx="548640" cy="548640"/>
          </a:xfrm>
          <a:prstGeom prst="rect">
            <a:avLst/>
          </a:prstGeom>
          <a:noFill/>
          <a:ln/>
        </p:spPr>
        <p:txBody>
          <a:bodyPr wrap="square" lIns="0" tIns="0" rIns="0" bIns="0" rtlCol="0" anchor="ctr"/>
          <a:lstStyle/>
          <a:p>
            <a:pPr algn="ctr" indent="0" marL="0">
              <a:buNone/>
            </a:pPr>
            <a:r>
              <a:rPr lang="en-US" sz="1800" b="1" dirty="0">
                <a:solidFill>
                  <a:srgbClr val="15151E"/>
                </a:solidFill>
              </a:rPr>
              <a:t>?</a:t>
            </a:r>
            <a:endParaRPr lang="en-US" sz="1800" dirty="0"/>
          </a:p>
        </p:txBody>
      </p:sp>
      <p:sp>
        <p:nvSpPr>
          <p:cNvPr id="18" name="hyp-k-2"/>
          <p:cNvSpPr txBox="1"/>
          <p:nvPr/>
        </p:nvSpPr>
        <p:spPr>
          <a:xfrm>
            <a:off x="9006840" y="1664208"/>
            <a:ext cx="2468880" cy="365760"/>
          </a:xfrm>
          <a:prstGeom prst="rect">
            <a:avLst/>
          </a:prstGeom>
          <a:noFill/>
          <a:ln/>
        </p:spPr>
        <p:txBody>
          <a:bodyPr wrap="square" lIns="0" tIns="0" rIns="0" bIns="0" rtlCol="0" anchor="t"/>
          <a:lstStyle/>
          <a:p>
            <a:pPr indent="0" marL="0">
              <a:buNone/>
            </a:pPr>
            <a:r>
              <a:rPr lang="en-US" sz="1200" dirty="0">
                <a:solidFill>
                  <a:schemeClr val="accent4"/>
                </a:solidFill>
              </a:rPr>
              <a:t>처음 생각 3 · 라인업</a:t>
            </a:r>
            <a:endParaRPr lang="en-US" sz="1200" dirty="0"/>
          </a:p>
        </p:txBody>
      </p:sp>
      <p:sp>
        <p:nvSpPr>
          <p:cNvPr id="19" name="hyp-h-2"/>
          <p:cNvSpPr txBox="1"/>
          <p:nvPr/>
        </p:nvSpPr>
        <p:spPr>
          <a:xfrm>
            <a:off x="8275320" y="2286000"/>
            <a:ext cx="3154680" cy="685800"/>
          </a:xfrm>
          <a:prstGeom prst="rect">
            <a:avLst/>
          </a:prstGeom>
          <a:noFill/>
          <a:ln/>
        </p:spPr>
        <p:txBody>
          <a:bodyPr wrap="square" lIns="0" tIns="0" rIns="0" bIns="0" rtlCol="0" anchor="t"/>
          <a:lstStyle/>
          <a:p>
            <a:pPr indent="0" marL="0">
              <a:buNone/>
            </a:pPr>
            <a:r>
              <a:rPr lang="en-US" sz="1400" b="1" dirty="0">
                <a:solidFill>
                  <a:schemeClr val="bg1"/>
                </a:solidFill>
              </a:rPr>
              <a:t>“STROLL이 팀 동료보다 느릴 것”</a:t>
            </a:r>
            <a:endParaRPr lang="en-US" sz="1400" dirty="0"/>
          </a:p>
        </p:txBody>
      </p:sp>
      <p:sp>
        <p:nvSpPr>
          <p:cNvPr id="20" name="hyp-n-2"/>
          <p:cNvSpPr txBox="1"/>
          <p:nvPr/>
        </p:nvSpPr>
        <p:spPr>
          <a:xfrm>
            <a:off x="8275320" y="3063240"/>
            <a:ext cx="3154680" cy="365760"/>
          </a:xfrm>
          <a:prstGeom prst="rect">
            <a:avLst/>
          </a:prstGeom>
          <a:noFill/>
          <a:ln/>
        </p:spPr>
        <p:txBody>
          <a:bodyPr wrap="square" lIns="0" tIns="0" rIns="0" bIns="0" rtlCol="0" anchor="t"/>
          <a:lstStyle/>
          <a:p>
            <a:pPr indent="0" marL="0">
              <a:buNone/>
            </a:pPr>
            <a:r>
              <a:rPr lang="en-US" sz="1300" dirty="0">
                <a:solidFill>
                  <a:schemeClr val="accent2"/>
                </a:solidFill>
              </a:rPr>
              <a:t>+0.220초 · 95% 구간이 0 포함</a:t>
            </a:r>
            <a:endParaRPr lang="en-US" sz="1300" dirty="0"/>
          </a:p>
        </p:txBody>
      </p:sp>
      <p:sp>
        <p:nvSpPr>
          <p:cNvPr id="21" name="hyp-3"/>
          <p:cNvSpPr/>
          <p:nvPr/>
        </p:nvSpPr>
        <p:spPr>
          <a:xfrm>
            <a:off x="548640" y="3794760"/>
            <a:ext cx="3566160" cy="2240280"/>
          </a:xfrm>
          <a:prstGeom prst="roundRect">
            <a:avLst>
              <a:gd name="adj" fmla="val 3265"/>
            </a:avLst>
          </a:prstGeom>
          <a:solidFill>
            <a:srgbClr val="24242E"/>
          </a:solidFill>
          <a:ln w="9525">
            <a:solidFill>
              <a:srgbClr val="33333F"/>
            </a:solidFill>
            <a:prstDash val="solid"/>
          </a:ln>
        </p:spPr>
      </p:sp>
      <p:sp>
        <p:nvSpPr>
          <p:cNvPr id="22" name="hyp-badge-3"/>
          <p:cNvSpPr/>
          <p:nvPr/>
        </p:nvSpPr>
        <p:spPr>
          <a:xfrm>
            <a:off x="777240" y="4023360"/>
            <a:ext cx="548640" cy="548640"/>
          </a:xfrm>
          <a:prstGeom prst="ellipse">
            <a:avLst/>
          </a:prstGeom>
          <a:solidFill>
            <a:srgbClr val="2BD47D"/>
          </a:solidFill>
          <a:ln w="12700">
            <a:solidFill>
              <a:srgbClr val="2BD47D"/>
            </a:solidFill>
            <a:prstDash val="solid"/>
          </a:ln>
        </p:spPr>
      </p:sp>
      <p:sp>
        <p:nvSpPr>
          <p:cNvPr id="23" name="hyp-badge-3-t"/>
          <p:cNvSpPr txBox="1"/>
          <p:nvPr/>
        </p:nvSpPr>
        <p:spPr>
          <a:xfrm>
            <a:off x="777240" y="4023360"/>
            <a:ext cx="548640" cy="548640"/>
          </a:xfrm>
          <a:prstGeom prst="rect">
            <a:avLst/>
          </a:prstGeom>
          <a:noFill/>
          <a:ln/>
        </p:spPr>
        <p:txBody>
          <a:bodyPr wrap="square" lIns="0" tIns="0" rIns="0" bIns="0" rtlCol="0" anchor="ctr"/>
          <a:lstStyle/>
          <a:p>
            <a:pPr algn="ctr" indent="0" marL="0">
              <a:buNone/>
            </a:pPr>
            <a:r>
              <a:rPr lang="en-US" sz="1800" b="1" dirty="0">
                <a:solidFill>
                  <a:srgbClr val="15151E"/>
                </a:solidFill>
              </a:rPr>
              <a:t>O</a:t>
            </a:r>
            <a:endParaRPr lang="en-US" sz="1800" dirty="0"/>
          </a:p>
        </p:txBody>
      </p:sp>
      <p:sp>
        <p:nvSpPr>
          <p:cNvPr id="24" name="hyp-k-3"/>
          <p:cNvSpPr txBox="1"/>
          <p:nvPr/>
        </p:nvSpPr>
        <p:spPr>
          <a:xfrm>
            <a:off x="1508760" y="4087368"/>
            <a:ext cx="2468880" cy="365760"/>
          </a:xfrm>
          <a:prstGeom prst="rect">
            <a:avLst/>
          </a:prstGeom>
          <a:noFill/>
          <a:ln/>
        </p:spPr>
        <p:txBody>
          <a:bodyPr wrap="square" lIns="0" tIns="0" rIns="0" bIns="0" rtlCol="0" anchor="t"/>
          <a:lstStyle/>
          <a:p>
            <a:pPr indent="0" marL="0">
              <a:buNone/>
            </a:pPr>
            <a:r>
              <a:rPr lang="en-US" sz="1200" dirty="0">
                <a:solidFill>
                  <a:schemeClr val="accent4"/>
                </a:solidFill>
              </a:rPr>
              <a:t>처음 생각 4 · 피트 운영</a:t>
            </a:r>
            <a:endParaRPr lang="en-US" sz="1200" dirty="0"/>
          </a:p>
        </p:txBody>
      </p:sp>
      <p:sp>
        <p:nvSpPr>
          <p:cNvPr id="25" name="hyp-h-3"/>
          <p:cNvSpPr txBox="1"/>
          <p:nvPr/>
        </p:nvSpPr>
        <p:spPr>
          <a:xfrm>
            <a:off x="777240" y="4709160"/>
            <a:ext cx="3154680" cy="685800"/>
          </a:xfrm>
          <a:prstGeom prst="rect">
            <a:avLst/>
          </a:prstGeom>
          <a:noFill/>
          <a:ln/>
        </p:spPr>
        <p:txBody>
          <a:bodyPr wrap="square" lIns="0" tIns="0" rIns="0" bIns="0" rtlCol="0" anchor="t"/>
          <a:lstStyle/>
          <a:p>
            <a:pPr indent="0" marL="0">
              <a:buNone/>
            </a:pPr>
            <a:r>
              <a:rPr lang="en-US" sz="1400" b="1" dirty="0">
                <a:solidFill>
                  <a:schemeClr val="bg1"/>
                </a:solidFill>
              </a:rPr>
              <a:t>“피트레인 이용시간이 다른 팀보다 길 것”</a:t>
            </a:r>
            <a:endParaRPr lang="en-US" sz="1400" dirty="0"/>
          </a:p>
        </p:txBody>
      </p:sp>
      <p:sp>
        <p:nvSpPr>
          <p:cNvPr id="26" name="hyp-n-3"/>
          <p:cNvSpPr txBox="1"/>
          <p:nvPr/>
        </p:nvSpPr>
        <p:spPr>
          <a:xfrm>
            <a:off x="777240" y="5486400"/>
            <a:ext cx="3154680" cy="365760"/>
          </a:xfrm>
          <a:prstGeom prst="rect">
            <a:avLst/>
          </a:prstGeom>
          <a:noFill/>
          <a:ln/>
        </p:spPr>
        <p:txBody>
          <a:bodyPr wrap="square" lIns="0" tIns="0" rIns="0" bIns="0" rtlCol="0" anchor="t"/>
          <a:lstStyle/>
          <a:p>
            <a:pPr indent="0" marL="0">
              <a:buNone/>
            </a:pPr>
            <a:r>
              <a:rPr lang="en-US" sz="1300" dirty="0">
                <a:solidFill>
                  <a:schemeClr val="accent3"/>
                </a:solidFill>
              </a:rPr>
              <a:t>+0.282초 · 1초 초과 24.4%</a:t>
            </a:r>
            <a:endParaRPr lang="en-US" sz="1300" dirty="0"/>
          </a:p>
        </p:txBody>
      </p:sp>
      <p:sp>
        <p:nvSpPr>
          <p:cNvPr id="27" name="hyp-4"/>
          <p:cNvSpPr/>
          <p:nvPr/>
        </p:nvSpPr>
        <p:spPr>
          <a:xfrm>
            <a:off x="4297680" y="3794760"/>
            <a:ext cx="3566160" cy="2240280"/>
          </a:xfrm>
          <a:prstGeom prst="roundRect">
            <a:avLst>
              <a:gd name="adj" fmla="val 3265"/>
            </a:avLst>
          </a:prstGeom>
          <a:solidFill>
            <a:srgbClr val="24242E"/>
          </a:solidFill>
          <a:ln w="9525">
            <a:solidFill>
              <a:srgbClr val="33333F"/>
            </a:solidFill>
            <a:prstDash val="solid"/>
          </a:ln>
        </p:spPr>
      </p:sp>
      <p:sp>
        <p:nvSpPr>
          <p:cNvPr id="28" name="hyp-badge-4"/>
          <p:cNvSpPr/>
          <p:nvPr/>
        </p:nvSpPr>
        <p:spPr>
          <a:xfrm>
            <a:off x="4526280" y="4023360"/>
            <a:ext cx="548640" cy="548640"/>
          </a:xfrm>
          <a:prstGeom prst="ellipse">
            <a:avLst/>
          </a:prstGeom>
          <a:solidFill>
            <a:srgbClr val="2BD47D"/>
          </a:solidFill>
          <a:ln w="12700">
            <a:solidFill>
              <a:srgbClr val="2BD47D"/>
            </a:solidFill>
            <a:prstDash val="solid"/>
          </a:ln>
        </p:spPr>
      </p:sp>
      <p:sp>
        <p:nvSpPr>
          <p:cNvPr id="29" name="hyp-badge-4-t"/>
          <p:cNvSpPr txBox="1"/>
          <p:nvPr/>
        </p:nvSpPr>
        <p:spPr>
          <a:xfrm>
            <a:off x="4526280" y="4023360"/>
            <a:ext cx="548640" cy="548640"/>
          </a:xfrm>
          <a:prstGeom prst="rect">
            <a:avLst/>
          </a:prstGeom>
          <a:noFill/>
          <a:ln/>
        </p:spPr>
        <p:txBody>
          <a:bodyPr wrap="square" lIns="0" tIns="0" rIns="0" bIns="0" rtlCol="0" anchor="ctr"/>
          <a:lstStyle/>
          <a:p>
            <a:pPr algn="ctr" indent="0" marL="0">
              <a:buNone/>
            </a:pPr>
            <a:r>
              <a:rPr lang="en-US" sz="1800" b="1" dirty="0">
                <a:solidFill>
                  <a:srgbClr val="15151E"/>
                </a:solidFill>
              </a:rPr>
              <a:t>O</a:t>
            </a:r>
            <a:endParaRPr lang="en-US" sz="1800" dirty="0"/>
          </a:p>
        </p:txBody>
      </p:sp>
      <p:sp>
        <p:nvSpPr>
          <p:cNvPr id="30" name="hyp-k-4"/>
          <p:cNvSpPr txBox="1"/>
          <p:nvPr/>
        </p:nvSpPr>
        <p:spPr>
          <a:xfrm>
            <a:off x="5257800" y="4087368"/>
            <a:ext cx="2468880" cy="365760"/>
          </a:xfrm>
          <a:prstGeom prst="rect">
            <a:avLst/>
          </a:prstGeom>
          <a:noFill/>
          <a:ln/>
        </p:spPr>
        <p:txBody>
          <a:bodyPr wrap="square" lIns="0" tIns="0" rIns="0" bIns="0" rtlCol="0" anchor="t"/>
          <a:lstStyle/>
          <a:p>
            <a:pPr indent="0" marL="0">
              <a:buNone/>
            </a:pPr>
            <a:r>
              <a:rPr lang="en-US" sz="1200" dirty="0">
                <a:solidFill>
                  <a:schemeClr val="accent4"/>
                </a:solidFill>
              </a:rPr>
              <a:t>처음 생각 5 · 포인트</a:t>
            </a:r>
            <a:endParaRPr lang="en-US" sz="1200" dirty="0"/>
          </a:p>
        </p:txBody>
      </p:sp>
      <p:sp>
        <p:nvSpPr>
          <p:cNvPr id="31" name="hyp-h-4"/>
          <p:cNvSpPr txBox="1"/>
          <p:nvPr/>
        </p:nvSpPr>
        <p:spPr>
          <a:xfrm>
            <a:off x="4526280" y="4709160"/>
            <a:ext cx="3154680" cy="685800"/>
          </a:xfrm>
          <a:prstGeom prst="rect">
            <a:avLst/>
          </a:prstGeom>
          <a:noFill/>
          <a:ln/>
        </p:spPr>
        <p:txBody>
          <a:bodyPr wrap="square" lIns="0" tIns="0" rIns="0" bIns="0" rtlCol="0" anchor="t"/>
          <a:lstStyle/>
          <a:p>
            <a:pPr indent="0" marL="0">
              <a:buNone/>
            </a:pPr>
            <a:r>
              <a:rPr lang="en-US" sz="1400" b="1" dirty="0">
                <a:solidFill>
                  <a:schemeClr val="bg1"/>
                </a:solidFill>
              </a:rPr>
              <a:t>“페이스 순위와 기본 포인트 순위가 같을 것”</a:t>
            </a:r>
            <a:endParaRPr lang="en-US" sz="1400" dirty="0"/>
          </a:p>
        </p:txBody>
      </p:sp>
      <p:sp>
        <p:nvSpPr>
          <p:cNvPr id="32" name="hyp-n-4"/>
          <p:cNvSpPr txBox="1"/>
          <p:nvPr/>
        </p:nvSpPr>
        <p:spPr>
          <a:xfrm>
            <a:off x="4526280" y="5486400"/>
            <a:ext cx="3154680" cy="365760"/>
          </a:xfrm>
          <a:prstGeom prst="rect">
            <a:avLst/>
          </a:prstGeom>
          <a:noFill/>
          <a:ln/>
        </p:spPr>
        <p:txBody>
          <a:bodyPr wrap="square" lIns="0" tIns="0" rIns="0" bIns="0" rtlCol="0" anchor="t"/>
          <a:lstStyle/>
          <a:p>
            <a:pPr indent="0" marL="0">
              <a:buNone/>
            </a:pPr>
            <a:r>
              <a:rPr lang="en-US" sz="1300" dirty="0">
                <a:solidFill>
                  <a:schemeClr val="accent3"/>
                </a:solidFill>
              </a:rPr>
              <a:t>둘 다 7위 · 80점</a:t>
            </a:r>
            <a:endParaRPr lang="en-US" sz="1300" dirty="0"/>
          </a:p>
        </p:txBody>
      </p:sp>
      <p:sp>
        <p:nvSpPr>
          <p:cNvPr id="33" name="hyp-5"/>
          <p:cNvSpPr/>
          <p:nvPr/>
        </p:nvSpPr>
        <p:spPr>
          <a:xfrm>
            <a:off x="8046720" y="3794760"/>
            <a:ext cx="3566160" cy="2240280"/>
          </a:xfrm>
          <a:prstGeom prst="roundRect">
            <a:avLst>
              <a:gd name="adj" fmla="val 3265"/>
            </a:avLst>
          </a:prstGeom>
          <a:solidFill>
            <a:srgbClr val="24242E"/>
          </a:solidFill>
          <a:ln w="9525">
            <a:solidFill>
              <a:srgbClr val="33333F"/>
            </a:solidFill>
            <a:prstDash val="solid"/>
          </a:ln>
        </p:spPr>
      </p:sp>
      <p:sp>
        <p:nvSpPr>
          <p:cNvPr id="34" name="hyp-badge-5"/>
          <p:cNvSpPr/>
          <p:nvPr/>
        </p:nvSpPr>
        <p:spPr>
          <a:xfrm>
            <a:off x="8275320" y="4023360"/>
            <a:ext cx="548640" cy="548640"/>
          </a:xfrm>
          <a:prstGeom prst="ellipse">
            <a:avLst/>
          </a:prstGeom>
          <a:solidFill>
            <a:srgbClr val="2BD47D"/>
          </a:solidFill>
          <a:ln w="12700">
            <a:solidFill>
              <a:srgbClr val="2BD47D"/>
            </a:solidFill>
            <a:prstDash val="solid"/>
          </a:ln>
        </p:spPr>
      </p:sp>
      <p:sp>
        <p:nvSpPr>
          <p:cNvPr id="35" name="hyp-badge-5-t"/>
          <p:cNvSpPr txBox="1"/>
          <p:nvPr/>
        </p:nvSpPr>
        <p:spPr>
          <a:xfrm>
            <a:off x="8275320" y="4023360"/>
            <a:ext cx="548640" cy="548640"/>
          </a:xfrm>
          <a:prstGeom prst="rect">
            <a:avLst/>
          </a:prstGeom>
          <a:noFill/>
          <a:ln/>
        </p:spPr>
        <p:txBody>
          <a:bodyPr wrap="square" lIns="0" tIns="0" rIns="0" bIns="0" rtlCol="0" anchor="ctr"/>
          <a:lstStyle/>
          <a:p>
            <a:pPr algn="ctr" indent="0" marL="0">
              <a:buNone/>
            </a:pPr>
            <a:r>
              <a:rPr lang="en-US" sz="1800" b="1" dirty="0">
                <a:solidFill>
                  <a:srgbClr val="15151E"/>
                </a:solidFill>
              </a:rPr>
              <a:t>O</a:t>
            </a:r>
            <a:endParaRPr lang="en-US" sz="1800" dirty="0"/>
          </a:p>
        </p:txBody>
      </p:sp>
      <p:sp>
        <p:nvSpPr>
          <p:cNvPr id="36" name="hyp-k-5"/>
          <p:cNvSpPr txBox="1"/>
          <p:nvPr/>
        </p:nvSpPr>
        <p:spPr>
          <a:xfrm>
            <a:off x="9006840" y="4087368"/>
            <a:ext cx="2468880" cy="365760"/>
          </a:xfrm>
          <a:prstGeom prst="rect">
            <a:avLst/>
          </a:prstGeom>
          <a:noFill/>
          <a:ln/>
        </p:spPr>
        <p:txBody>
          <a:bodyPr wrap="square" lIns="0" tIns="0" rIns="0" bIns="0" rtlCol="0" anchor="t"/>
          <a:lstStyle/>
          <a:p>
            <a:pPr indent="0" marL="0">
              <a:buNone/>
            </a:pPr>
            <a:r>
              <a:rPr lang="en-US" sz="1200" dirty="0">
                <a:solidFill>
                  <a:schemeClr val="accent4"/>
                </a:solidFill>
              </a:rPr>
              <a:t>처음 생각 6 · 결론 안정성</a:t>
            </a:r>
            <a:endParaRPr lang="en-US" sz="1200" dirty="0"/>
          </a:p>
        </p:txBody>
      </p:sp>
      <p:sp>
        <p:nvSpPr>
          <p:cNvPr id="37" name="hyp-h-5"/>
          <p:cNvSpPr txBox="1"/>
          <p:nvPr/>
        </p:nvSpPr>
        <p:spPr>
          <a:xfrm>
            <a:off x="8275320" y="4709160"/>
            <a:ext cx="3154680" cy="685800"/>
          </a:xfrm>
          <a:prstGeom prst="rect">
            <a:avLst/>
          </a:prstGeom>
          <a:noFill/>
          <a:ln/>
        </p:spPr>
        <p:txBody>
          <a:bodyPr wrap="square" lIns="0" tIns="0" rIns="0" bIns="0" rtlCol="0" anchor="t"/>
          <a:lstStyle/>
          <a:p>
            <a:pPr indent="0" marL="0">
              <a:buNone/>
            </a:pPr>
            <a:r>
              <a:rPr lang="en-US" sz="1400" b="1" dirty="0">
                <a:solidFill>
                  <a:schemeClr val="bg1"/>
                </a:solidFill>
              </a:rPr>
              <a:t>“정제 기준을 바꿔도 후보 NORRIS가 빠를 것”</a:t>
            </a:r>
            <a:endParaRPr lang="en-US" sz="1400" dirty="0"/>
          </a:p>
        </p:txBody>
      </p:sp>
      <p:sp>
        <p:nvSpPr>
          <p:cNvPr id="38" name="hyp-n-5"/>
          <p:cNvSpPr txBox="1"/>
          <p:nvPr/>
        </p:nvSpPr>
        <p:spPr>
          <a:xfrm>
            <a:off x="8275320" y="5486400"/>
            <a:ext cx="3154680" cy="365760"/>
          </a:xfrm>
          <a:prstGeom prst="rect">
            <a:avLst/>
          </a:prstGeom>
          <a:noFill/>
          <a:ln/>
        </p:spPr>
        <p:txBody>
          <a:bodyPr wrap="square" lIns="0" tIns="0" rIns="0" bIns="0" rtlCol="0" anchor="t"/>
          <a:lstStyle/>
          <a:p>
            <a:pPr indent="0" marL="0">
              <a:buNone/>
            </a:pPr>
            <a:r>
              <a:rPr lang="en-US" sz="1300" dirty="0">
                <a:solidFill>
                  <a:schemeClr val="accent3"/>
                </a:solidFill>
              </a:rPr>
              <a:t>11 / 11 조건</a:t>
            </a:r>
            <a:endParaRPr lang="en-US" sz="1300" dirty="0"/>
          </a:p>
        </p:txBody>
      </p:sp>
      <p:sp>
        <p:nvSpPr>
          <p:cNvPr id="39" name="hyp-legend"/>
          <p:cNvSpPr txBox="1"/>
          <p:nvPr/>
        </p:nvSpPr>
        <p:spPr>
          <a:xfrm>
            <a:off x="548640" y="6172200"/>
            <a:ext cx="10972800" cy="274320"/>
          </a:xfrm>
          <a:prstGeom prst="rect">
            <a:avLst/>
          </a:prstGeom>
          <a:noFill/>
          <a:ln/>
        </p:spPr>
        <p:txBody>
          <a:bodyPr wrap="square" lIns="0" tIns="0" rIns="0" bIns="0" rtlCol="0" anchor="t"/>
          <a:lstStyle/>
          <a:p>
            <a:pPr indent="0" marL="0">
              <a:buNone/>
            </a:pPr>
            <a:r>
              <a:rPr lang="en-US" sz="1100" dirty="0">
                <a:solidFill>
                  <a:schemeClr val="accent4"/>
                </a:solidFill>
              </a:rPr>
              <a:t>O = 관측값이 가설과 같은 방향 (좋은 성적·원인 입증이 아님) · ? = 표본·근거 부족으로 보류</a:t>
            </a:r>
            <a:endParaRPr lang="en-US" sz="1100" dirty="0"/>
          </a:p>
        </p:txBody>
      </p:sp>
      <p:sp>
        <p:nvSpPr>
          <p:cNvPr id="25" name="Slide Number Placeholder 0"/>
          <p:cNvSpPr>
            <a:spLocks noGrp="1"/>
          </p:cNvSpPr>
          <p:nvPr>
            <p:ph type="sldNum" sz="quarter" idx="4294967295"/>
          </p:nvPr>
        </p:nvSpPr>
        <p:spPr>
          <a:xfrm>
            <a:off x="11064240" y="393192"/>
            <a:ext cx="640080" cy="411480"/>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Malgun Gothic"/>
                <a:ea typeface="Malgun Gothic"/>
                <a:cs typeface="Malgun Gothic"/>
              </a:defRPr>
            </a:lvl1pPr>
          </a:lstStyle>
          <a:p>
            <a:pPr algn="l"/>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indent="0" marL="0">
              <a:buNone/>
            </a:pPr>
            <a:r>
              <a:rPr lang="en-US" sz="3200" b="1" dirty="0">
                <a:solidFill>
                  <a:schemeClr val="bg1"/>
                </a:solidFill>
              </a:rPr>
              <a:t>포인트 경쟁: 6~9위 4팀이 18점 안의 접전</a:t>
            </a:r>
            <a:endParaRPr lang="en-US" sz="3200" dirty="0"/>
          </a:p>
        </p:txBody>
      </p:sp>
      <p:graphicFrame>
        <p:nvGraphicFramePr>
          <p:cNvPr id="3" name="chart-points" descr=""/>
          <p:cNvGraphicFramePr/>
          <p:nvPr/>
        </p:nvGraphicFramePr>
        <p:xfrm>
          <a:off x="548640" y="1325880"/>
          <a:ext cx="7223760" cy="4846320"/>
        </p:xfrm>
        <a:graphic xmlns:a="http://schemas.openxmlformats.org/drawingml/2006/main">
          <a:graphicData uri="http://schemas.openxmlformats.org/drawingml/2006/chart">
            <c:chart xmlns:c="http://schemas.openxmlformats.org/drawingml/2006/chart" r:id="rId1"/>
          </a:graphicData>
        </a:graphic>
      </p:graphicFrame>
      <p:sp>
        <p:nvSpPr>
          <p:cNvPr id="4" name="pt-card-0"/>
          <p:cNvSpPr/>
          <p:nvPr/>
        </p:nvSpPr>
        <p:spPr>
          <a:xfrm>
            <a:off x="8092440" y="1371600"/>
            <a:ext cx="3566160" cy="1188720"/>
          </a:xfrm>
          <a:prstGeom prst="roundRect">
            <a:avLst>
              <a:gd name="adj" fmla="val 6154"/>
            </a:avLst>
          </a:prstGeom>
          <a:solidFill>
            <a:srgbClr val="24242E"/>
          </a:solidFill>
          <a:ln w="9525">
            <a:solidFill>
              <a:srgbClr val="33333F"/>
            </a:solidFill>
            <a:prstDash val="solid"/>
          </a:ln>
        </p:spPr>
      </p:sp>
      <p:sp>
        <p:nvSpPr>
          <p:cNvPr id="5" name="pt-0-num"/>
          <p:cNvSpPr txBox="1"/>
          <p:nvPr/>
        </p:nvSpPr>
        <p:spPr>
          <a:xfrm>
            <a:off x="8366760" y="1481328"/>
            <a:ext cx="3108960" cy="685800"/>
          </a:xfrm>
          <a:prstGeom prst="rect">
            <a:avLst/>
          </a:prstGeom>
          <a:noFill/>
          <a:ln/>
        </p:spPr>
        <p:txBody>
          <a:bodyPr wrap="square" lIns="0" tIns="0" rIns="0" bIns="0" rtlCol="0" anchor="t"/>
          <a:lstStyle/>
          <a:p>
            <a:pPr indent="0" marL="0">
              <a:buNone/>
            </a:pPr>
            <a:r>
              <a:rPr lang="en-US" sz="3600" b="1" dirty="0">
                <a:solidFill>
                  <a:schemeClr val="accent1"/>
                </a:solidFill>
              </a:rPr>
              <a:t>7위 · 80점</a:t>
            </a:r>
            <a:endParaRPr lang="en-US" sz="3600" dirty="0"/>
          </a:p>
        </p:txBody>
      </p:sp>
      <p:sp>
        <p:nvSpPr>
          <p:cNvPr id="6" name="pt-0-label"/>
          <p:cNvSpPr txBox="1"/>
          <p:nvPr/>
        </p:nvSpPr>
        <p:spPr>
          <a:xfrm>
            <a:off x="8366760" y="2194560"/>
            <a:ext cx="3108960" cy="502920"/>
          </a:xfrm>
          <a:prstGeom prst="rect">
            <a:avLst/>
          </a:prstGeom>
          <a:noFill/>
          <a:ln/>
        </p:spPr>
        <p:txBody>
          <a:bodyPr wrap="square" lIns="0" tIns="0" rIns="0" bIns="0" rtlCol="0" anchor="t"/>
          <a:lstStyle/>
          <a:p>
            <a:pPr indent="0" marL="0">
              <a:buNone/>
            </a:pPr>
            <a:r>
              <a:rPr lang="en-US" sz="1200" dirty="0">
                <a:solidFill>
                  <a:schemeClr val="bg2"/>
                </a:solidFill>
              </a:rPr>
              <a:t>기본 포인트 순위 (10개 관측 팀)</a:t>
            </a:r>
            <a:endParaRPr lang="en-US" sz="1200" dirty="0"/>
          </a:p>
        </p:txBody>
      </p:sp>
      <p:sp>
        <p:nvSpPr>
          <p:cNvPr id="7" name="pt-card-1"/>
          <p:cNvSpPr/>
          <p:nvPr/>
        </p:nvSpPr>
        <p:spPr>
          <a:xfrm>
            <a:off x="8092440" y="2697480"/>
            <a:ext cx="3566160" cy="1188720"/>
          </a:xfrm>
          <a:prstGeom prst="roundRect">
            <a:avLst>
              <a:gd name="adj" fmla="val 6154"/>
            </a:avLst>
          </a:prstGeom>
          <a:solidFill>
            <a:srgbClr val="24242E"/>
          </a:solidFill>
          <a:ln w="9525">
            <a:solidFill>
              <a:srgbClr val="33333F"/>
            </a:solidFill>
            <a:prstDash val="solid"/>
          </a:ln>
        </p:spPr>
      </p:sp>
      <p:sp>
        <p:nvSpPr>
          <p:cNvPr id="8" name="pt-1-num"/>
          <p:cNvSpPr txBox="1"/>
          <p:nvPr/>
        </p:nvSpPr>
        <p:spPr>
          <a:xfrm>
            <a:off x="8366760" y="2807208"/>
            <a:ext cx="3108960" cy="685800"/>
          </a:xfrm>
          <a:prstGeom prst="rect">
            <a:avLst/>
          </a:prstGeom>
          <a:noFill/>
          <a:ln/>
        </p:spPr>
        <p:txBody>
          <a:bodyPr wrap="square" lIns="0" tIns="0" rIns="0" bIns="0" rtlCol="0" anchor="t"/>
          <a:lstStyle/>
          <a:p>
            <a:pPr indent="0" marL="0">
              <a:buNone/>
            </a:pPr>
            <a:r>
              <a:rPr lang="en-US" sz="3600" b="1" dirty="0">
                <a:solidFill>
                  <a:schemeClr val="bg1"/>
                </a:solidFill>
              </a:rPr>
              <a:t>−8점</a:t>
            </a:r>
            <a:endParaRPr lang="en-US" sz="3600" dirty="0"/>
          </a:p>
        </p:txBody>
      </p:sp>
      <p:sp>
        <p:nvSpPr>
          <p:cNvPr id="9" name="pt-1-label"/>
          <p:cNvSpPr txBox="1"/>
          <p:nvPr/>
        </p:nvSpPr>
        <p:spPr>
          <a:xfrm>
            <a:off x="8366760" y="3520440"/>
            <a:ext cx="3108960" cy="502920"/>
          </a:xfrm>
          <a:prstGeom prst="rect">
            <a:avLst/>
          </a:prstGeom>
          <a:noFill/>
          <a:ln/>
        </p:spPr>
        <p:txBody>
          <a:bodyPr wrap="square" lIns="0" tIns="0" rIns="0" bIns="0" rtlCol="0" anchor="t"/>
          <a:lstStyle/>
          <a:p>
            <a:pPr indent="0" marL="0">
              <a:buNone/>
            </a:pPr>
            <a:r>
              <a:rPr lang="en-US" sz="1200" dirty="0">
                <a:solidFill>
                  <a:schemeClr val="bg2"/>
                </a:solidFill>
              </a:rPr>
              <a:t>6위 Racing Bulls와의 차이</a:t>
            </a:r>
            <a:endParaRPr lang="en-US" sz="1200" dirty="0"/>
          </a:p>
        </p:txBody>
      </p:sp>
      <p:sp>
        <p:nvSpPr>
          <p:cNvPr id="10" name="pt-card-2"/>
          <p:cNvSpPr/>
          <p:nvPr/>
        </p:nvSpPr>
        <p:spPr>
          <a:xfrm>
            <a:off x="8092440" y="4023360"/>
            <a:ext cx="3566160" cy="1188720"/>
          </a:xfrm>
          <a:prstGeom prst="roundRect">
            <a:avLst>
              <a:gd name="adj" fmla="val 6154"/>
            </a:avLst>
          </a:prstGeom>
          <a:solidFill>
            <a:srgbClr val="24242E"/>
          </a:solidFill>
          <a:ln w="9525">
            <a:solidFill>
              <a:srgbClr val="33333F"/>
            </a:solidFill>
            <a:prstDash val="solid"/>
          </a:ln>
        </p:spPr>
      </p:sp>
      <p:sp>
        <p:nvSpPr>
          <p:cNvPr id="11" name="pt-2-num"/>
          <p:cNvSpPr txBox="1"/>
          <p:nvPr/>
        </p:nvSpPr>
        <p:spPr>
          <a:xfrm>
            <a:off x="8366760" y="4133088"/>
            <a:ext cx="3108960" cy="685800"/>
          </a:xfrm>
          <a:prstGeom prst="rect">
            <a:avLst/>
          </a:prstGeom>
          <a:noFill/>
          <a:ln/>
        </p:spPr>
        <p:txBody>
          <a:bodyPr wrap="square" lIns="0" tIns="0" rIns="0" bIns="0" rtlCol="0" anchor="t"/>
          <a:lstStyle/>
          <a:p>
            <a:pPr indent="0" marL="0">
              <a:buNone/>
            </a:pPr>
            <a:r>
              <a:rPr lang="en-US" sz="3600" b="1" dirty="0">
                <a:solidFill>
                  <a:schemeClr val="bg1"/>
                </a:solidFill>
              </a:rPr>
              <a:t>+7점</a:t>
            </a:r>
            <a:endParaRPr lang="en-US" sz="3600" dirty="0"/>
          </a:p>
        </p:txBody>
      </p:sp>
      <p:sp>
        <p:nvSpPr>
          <p:cNvPr id="12" name="pt-2-label"/>
          <p:cNvSpPr txBox="1"/>
          <p:nvPr/>
        </p:nvSpPr>
        <p:spPr>
          <a:xfrm>
            <a:off x="8366760" y="4846320"/>
            <a:ext cx="3108960" cy="502920"/>
          </a:xfrm>
          <a:prstGeom prst="rect">
            <a:avLst/>
          </a:prstGeom>
          <a:noFill/>
          <a:ln/>
        </p:spPr>
        <p:txBody>
          <a:bodyPr wrap="square" lIns="0" tIns="0" rIns="0" bIns="0" rtlCol="0" anchor="t"/>
          <a:lstStyle/>
          <a:p>
            <a:pPr indent="0" marL="0">
              <a:buNone/>
            </a:pPr>
            <a:r>
              <a:rPr lang="en-US" sz="1200" dirty="0">
                <a:solidFill>
                  <a:schemeClr val="bg2"/>
                </a:solidFill>
              </a:rPr>
              <a:t>8위 Haas F1 Team과의 차이</a:t>
            </a:r>
            <a:endParaRPr lang="en-US" sz="1200" dirty="0"/>
          </a:p>
        </p:txBody>
      </p:sp>
      <p:sp>
        <p:nvSpPr>
          <p:cNvPr id="13" name="pt-note"/>
          <p:cNvSpPr txBox="1"/>
          <p:nvPr/>
        </p:nvSpPr>
        <p:spPr>
          <a:xfrm>
            <a:off x="8092440" y="5440680"/>
            <a:ext cx="3566160" cy="822960"/>
          </a:xfrm>
          <a:prstGeom prst="rect">
            <a:avLst/>
          </a:prstGeom>
          <a:noFill/>
          <a:ln/>
        </p:spPr>
        <p:txBody>
          <a:bodyPr wrap="square" lIns="0" tIns="0" rIns="0" bIns="0" rtlCol="0" anchor="t"/>
          <a:lstStyle/>
          <a:p>
            <a:pPr indent="0" marL="0">
              <a:buNone/>
            </a:pPr>
            <a:r>
              <a:rPr lang="en-US" sz="1100" dirty="0">
                <a:solidFill>
                  <a:schemeClr val="accent4"/>
                </a:solidFill>
              </a:rPr>
              <a:t>Sprint·패스티스트 랩 보너스·예외 배점을 뺀 재구성 값이며 공식 챔피언십 순위가 아닙니다. 성적은 배분금·스폰서십 기회와 연결해 정성적으로만 해석합니다.</a:t>
            </a:r>
            <a:endParaRPr lang="en-US" sz="1100" dirty="0"/>
          </a:p>
        </p:txBody>
      </p:sp>
      <p:sp>
        <p:nvSpPr>
          <p:cNvPr id="25" name="Slide Number Placeholder 0"/>
          <p:cNvSpPr>
            <a:spLocks noGrp="1"/>
          </p:cNvSpPr>
          <p:nvPr>
            <p:ph type="sldNum" sz="quarter" idx="4294967295"/>
          </p:nvPr>
        </p:nvSpPr>
        <p:spPr>
          <a:xfrm>
            <a:off x="11064240" y="393192"/>
            <a:ext cx="640080" cy="411480"/>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Malgun Gothic"/>
                <a:ea typeface="Malgun Gothic"/>
                <a:cs typeface="Malgun Gothic"/>
              </a:defRPr>
            </a:lvl1pPr>
          </a:lstStyle>
          <a:p>
            <a:pPr algn="l"/>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indent="0" marL="0">
              <a:buNone/>
            </a:pPr>
            <a:r>
              <a:rPr lang="en-US" sz="3200" b="1" dirty="0">
                <a:solidFill>
                  <a:schemeClr val="bg1"/>
                </a:solidFill>
              </a:rPr>
              <a:t>후보 비교: 점수 합산 없이 실제 기록 + 상위 %</a:t>
            </a:r>
            <a:endParaRPr lang="en-US" sz="3200" dirty="0"/>
          </a:p>
        </p:txBody>
      </p:sp>
      <p:graphicFrame>
        <p:nvGraphicFramePr>
          <p:cNvPr id="15" name="table-candidates"/>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914400"/>
        </p:xfrm>
        <a:graphic>
          <a:graphicData uri="http://schemas.openxmlformats.org/drawingml/2006/table">
            <a:tbl>
              <a:tblPr/>
              <a:tblGrid>
                <a:gridCol w="1691640"/>
                <a:gridCol w="1508760"/>
                <a:gridCol w="1417320"/>
                <a:gridCol w="1417320"/>
                <a:gridCol w="1325880"/>
                <a:gridCol w="1371600"/>
                <a:gridCol w="1097280"/>
                <a:gridCol w="1280160"/>
              </a:tblGrid>
              <a:tr h="566928">
                <a:tc>
                  <a:txBody>
                    <a:bodyPr/>
                    <a:lstStyle/>
                    <a:p>
                      <a:pPr algn="l" indent="0" marL="0">
                        <a:buNone/>
                      </a:pPr>
                      <a:r>
                        <a:rPr lang="en-US" sz="1200" b="1" dirty="0">
                          <a:solidFill>
                            <a:srgbClr val="FFFFFF"/>
                          </a:solidFill>
                        </a:rPr>
                        <a:t>선수</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3A3A46"/>
                    </a:solidFill>
                  </a:tcPr>
                </a:tc>
                <a:tc>
                  <a:txBody>
                    <a:bodyPr/>
                    <a:lstStyle/>
                    <a:p>
                      <a:pPr algn="l" indent="0" marL="0">
                        <a:buNone/>
                      </a:pPr>
                      <a:r>
                        <a:rPr lang="en-US" sz="1200" b="1" dirty="0">
                          <a:solidFill>
                            <a:srgbClr val="FFFFFF"/>
                          </a:solidFill>
                        </a:rPr>
                        <a:t>팀</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3A3A46"/>
                    </a:solidFill>
                  </a:tcPr>
                </a:tc>
                <a:tc>
                  <a:txBody>
                    <a:bodyPr/>
                    <a:lstStyle/>
                    <a:p>
                      <a:pPr algn="ctr" indent="0" marL="0">
                        <a:buNone/>
                      </a:pPr>
                      <a:r>
                        <a:rPr lang="en-US" sz="1200" b="1" dirty="0">
                          <a:solidFill>
                            <a:srgbClr val="FFFFFF"/>
                          </a:solidFill>
                        </a:rPr>
                        <a:t>전체 페이스</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3A3A46"/>
                    </a:solidFill>
                  </a:tcPr>
                </a:tc>
                <a:tc>
                  <a:txBody>
                    <a:bodyPr/>
                    <a:lstStyle/>
                    <a:p>
                      <a:pPr algn="ctr" indent="0" marL="0">
                        <a:buNone/>
                      </a:pPr>
                      <a:r>
                        <a:rPr lang="en-US" sz="1200" b="1" dirty="0">
                          <a:solidFill>
                            <a:srgbClr val="FFFFFF"/>
                          </a:solidFill>
                        </a:rPr>
                        <a:t>동료 대비</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3A3A46"/>
                    </a:solidFill>
                  </a:tcPr>
                </a:tc>
                <a:tc>
                  <a:txBody>
                    <a:bodyPr/>
                    <a:lstStyle/>
                    <a:p>
                      <a:pPr algn="ctr" indent="0" marL="0">
                        <a:buNone/>
                      </a:pPr>
                      <a:r>
                        <a:rPr lang="en-US" sz="1200" b="1" dirty="0">
                          <a:solidFill>
                            <a:srgbClr val="FFFFFF"/>
                          </a:solidFill>
                        </a:rPr>
                        <a:t>일관성</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3A3A46"/>
                    </a:solidFill>
                  </a:tcPr>
                </a:tc>
                <a:tc>
                  <a:txBody>
                    <a:bodyPr/>
                    <a:lstStyle/>
                    <a:p>
                      <a:pPr algn="ctr" indent="0" marL="0">
                        <a:buNone/>
                      </a:pPr>
                      <a:r>
                        <a:rPr lang="en-US" sz="1200" b="1" dirty="0">
                          <a:solidFill>
                            <a:srgbClr val="FFFFFF"/>
                          </a:solidFill>
                        </a:rPr>
                        <a:t>타이어 유지</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3A3A46"/>
                    </a:solidFill>
                  </a:tcPr>
                </a:tc>
                <a:tc>
                  <a:txBody>
                    <a:bodyPr/>
                    <a:lstStyle/>
                    <a:p>
                      <a:pPr algn="ctr" indent="0" marL="0">
                        <a:buNone/>
                      </a:pPr>
                      <a:r>
                        <a:rPr lang="en-US" sz="1200" b="1" dirty="0">
                          <a:solidFill>
                            <a:srgbClr val="FFFFFF"/>
                          </a:solidFill>
                        </a:rPr>
                        <a:t>포인트</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3A3A46"/>
                    </a:solidFill>
                  </a:tcPr>
                </a:tc>
                <a:tc>
                  <a:txBody>
                    <a:bodyPr/>
                    <a:lstStyle/>
                    <a:p>
                      <a:pPr algn="ctr" indent="0" marL="0">
                        <a:buNone/>
                      </a:pPr>
                      <a:r>
                        <a:rPr lang="en-US" sz="1200" b="1" dirty="0">
                          <a:solidFill>
                            <a:srgbClr val="FFFFFF"/>
                          </a:solidFill>
                        </a:rPr>
                        <a:t>1차 검토</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3A3A46"/>
                    </a:solidFill>
                  </a:tcPr>
                </a:tc>
              </a:tr>
              <a:tr h="566928">
                <a:tc>
                  <a:txBody>
                    <a:bodyPr/>
                    <a:lstStyle/>
                    <a:p>
                      <a:pPr algn="l" indent="0" marL="0">
                        <a:buNone/>
                      </a:pPr>
                      <a:r>
                        <a:rPr lang="en-US" sz="1200" b="1" dirty="0">
                          <a:solidFill>
                            <a:srgbClr val="FFFFFF"/>
                          </a:solidFill>
                        </a:rPr>
                        <a:t>Lance STROLL</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4A1210"/>
                    </a:solidFill>
                  </a:tcPr>
                </a:tc>
                <a:tc>
                  <a:txBody>
                    <a:bodyPr/>
                    <a:lstStyle/>
                    <a:p>
                      <a:pPr algn="l" indent="0" marL="0">
                        <a:buNone/>
                      </a:pPr>
                      <a:r>
                        <a:rPr lang="en-US" sz="1200" b="1" dirty="0">
                          <a:solidFill>
                            <a:srgbClr val="FFFFFF"/>
                          </a:solidFill>
                        </a:rPr>
                        <a:t>Aston Martin</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4A1210"/>
                    </a:solidFill>
                  </a:tcPr>
                </a:tc>
                <a:tc>
                  <a:txBody>
                    <a:bodyPr/>
                    <a:lstStyle/>
                    <a:p>
                      <a:pPr algn="ctr" indent="0" marL="0">
                        <a:buNone/>
                      </a:pPr>
                      <a:r>
                        <a:rPr lang="en-US" sz="1200" b="1" dirty="0">
                          <a:solidFill>
                            <a:srgbClr val="FFFFFF"/>
                          </a:solidFill>
                        </a:rPr>
                        <a:t>+0.417% (70%)</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4A1210"/>
                    </a:solidFill>
                  </a:tcPr>
                </a:tc>
                <a:tc>
                  <a:txBody>
                    <a:bodyPr/>
                    <a:lstStyle/>
                    <a:p>
                      <a:pPr algn="ctr" indent="0" marL="0">
                        <a:buNone/>
                      </a:pPr>
                      <a:r>
                        <a:rPr lang="en-US" sz="1200" b="1" dirty="0">
                          <a:solidFill>
                            <a:srgbClr val="FFFFFF"/>
                          </a:solidFill>
                        </a:rPr>
                        <a:t>+0.220초 (90%)</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4A1210"/>
                    </a:solidFill>
                  </a:tcPr>
                </a:tc>
                <a:tc>
                  <a:txBody>
                    <a:bodyPr/>
                    <a:lstStyle/>
                    <a:p>
                      <a:pPr algn="ctr" indent="0" marL="0">
                        <a:buNone/>
                      </a:pPr>
                      <a:r>
                        <a:rPr lang="en-US" sz="1200" b="1" dirty="0">
                          <a:solidFill>
                            <a:srgbClr val="FFFFFF"/>
                          </a:solidFill>
                        </a:rPr>
                        <a:t>0.664초 (60%)</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4A1210"/>
                    </a:solidFill>
                  </a:tcPr>
                </a:tc>
                <a:tc>
                  <a:txBody>
                    <a:bodyPr/>
                    <a:lstStyle/>
                    <a:p>
                      <a:pPr algn="ctr" indent="0" marL="0">
                        <a:buNone/>
                      </a:pPr>
                      <a:r>
                        <a:rPr lang="en-US" sz="1200" b="1" dirty="0">
                          <a:solidFill>
                            <a:srgbClr val="FFFFFF"/>
                          </a:solidFill>
                        </a:rPr>
                        <a:t>+20.4ms (55%)</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4A1210"/>
                    </a:solidFill>
                  </a:tcPr>
                </a:tc>
                <a:tc>
                  <a:txBody>
                    <a:bodyPr/>
                    <a:lstStyle/>
                    <a:p>
                      <a:pPr algn="ctr" indent="0" marL="0">
                        <a:buNone/>
                      </a:pPr>
                      <a:r>
                        <a:rPr lang="en-US" sz="1200" b="1" dirty="0">
                          <a:solidFill>
                            <a:srgbClr val="FFFFFF"/>
                          </a:solidFill>
                        </a:rPr>
                        <a:t>29 (80%)</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4A1210"/>
                    </a:solidFill>
                  </a:tcPr>
                </a:tc>
                <a:tc>
                  <a:txBody>
                    <a:bodyPr/>
                    <a:lstStyle/>
                    <a:p>
                      <a:pPr algn="ctr" indent="0" marL="0">
                        <a:buNone/>
                      </a:pPr>
                      <a:r>
                        <a:rPr lang="en-US" sz="1200" b="1" dirty="0">
                          <a:solidFill>
                            <a:srgbClr val="FFFFFF"/>
                          </a:solidFill>
                        </a:rPr>
                        <a:t>기준 선수</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4A1210"/>
                    </a:solidFill>
                  </a:tcPr>
                </a:tc>
              </a:tr>
              <a:tr h="566928">
                <a:tc>
                  <a:txBody>
                    <a:bodyPr/>
                    <a:lstStyle/>
                    <a:p>
                      <a:pPr algn="l" indent="0" marL="0">
                        <a:buNone/>
                      </a:pPr>
                      <a:r>
                        <a:rPr lang="en-US" sz="1200" b="1" dirty="0">
                          <a:solidFill>
                            <a:srgbClr val="FFFFFF"/>
                          </a:solidFill>
                        </a:rPr>
                        <a:t>Lando NORRIS</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c>
                  <a:txBody>
                    <a:bodyPr/>
                    <a:lstStyle/>
                    <a:p>
                      <a:pPr algn="l" indent="0" marL="0">
                        <a:buNone/>
                      </a:pPr>
                      <a:r>
                        <a:rPr lang="en-US" sz="1200" dirty="0">
                          <a:solidFill>
                            <a:srgbClr val="FFFFFF"/>
                          </a:solidFill>
                        </a:rPr>
                        <a:t>McLaren</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c>
                  <a:txBody>
                    <a:bodyPr/>
                    <a:lstStyle/>
                    <a:p>
                      <a:pPr algn="ctr" indent="0" marL="0">
                        <a:buNone/>
                      </a:pPr>
                      <a:r>
                        <a:rPr lang="en-US" sz="1200" dirty="0">
                          <a:solidFill>
                            <a:srgbClr val="FFFFFF"/>
                          </a:solidFill>
                        </a:rPr>
                        <a:t>−1.172% (5%)</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c>
                  <a:txBody>
                    <a:bodyPr/>
                    <a:lstStyle/>
                    <a:p>
                      <a:pPr algn="ctr" indent="0" marL="0">
                        <a:buNone/>
                      </a:pPr>
                      <a:r>
                        <a:rPr lang="en-US" sz="1200" dirty="0">
                          <a:solidFill>
                            <a:srgbClr val="FFFFFF"/>
                          </a:solidFill>
                        </a:rPr>
                        <a:t>−0.020초 (50%)</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c>
                  <a:txBody>
                    <a:bodyPr/>
                    <a:lstStyle/>
                    <a:p>
                      <a:pPr algn="ctr" indent="0" marL="0">
                        <a:buNone/>
                      </a:pPr>
                      <a:r>
                        <a:rPr lang="en-US" sz="1200" dirty="0">
                          <a:solidFill>
                            <a:srgbClr val="FFFFFF"/>
                          </a:solidFill>
                        </a:rPr>
                        <a:t>0.576초 (20%)</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c>
                  <a:txBody>
                    <a:bodyPr/>
                    <a:lstStyle/>
                    <a:p>
                      <a:pPr algn="ctr" indent="0" marL="0">
                        <a:buNone/>
                      </a:pPr>
                      <a:r>
                        <a:rPr lang="en-US" sz="1200" dirty="0">
                          <a:solidFill>
                            <a:srgbClr val="FFFFFF"/>
                          </a:solidFill>
                        </a:rPr>
                        <a:t>+14.7ms (30%)</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c>
                  <a:txBody>
                    <a:bodyPr/>
                    <a:lstStyle/>
                    <a:p>
                      <a:pPr algn="ctr" indent="0" marL="0">
                        <a:buNone/>
                      </a:pPr>
                      <a:r>
                        <a:rPr lang="en-US" sz="1200" dirty="0">
                          <a:solidFill>
                            <a:srgbClr val="FFFFFF"/>
                          </a:solidFill>
                        </a:rPr>
                        <a:t>394 (5%)</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c>
                  <a:txBody>
                    <a:bodyPr/>
                    <a:lstStyle/>
                    <a:p>
                      <a:pPr algn="ctr" indent="0" marL="0">
                        <a:buNone/>
                      </a:pPr>
                      <a:r>
                        <a:rPr lang="en-US" sz="1200" dirty="0">
                          <a:solidFill>
                            <a:srgbClr val="2BD47D"/>
                          </a:solidFill>
                        </a:rPr>
                        <a:t>충족</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r>
              <a:tr h="566928">
                <a:tc>
                  <a:txBody>
                    <a:bodyPr/>
                    <a:lstStyle/>
                    <a:p>
                      <a:pPr algn="l" indent="0" marL="0">
                        <a:buNone/>
                      </a:pPr>
                      <a:r>
                        <a:rPr lang="en-US" sz="1200" b="1" dirty="0">
                          <a:solidFill>
                            <a:srgbClr val="FFFFFF"/>
                          </a:solidFill>
                        </a:rPr>
                        <a:t>Oscar PIASTRI</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24242E"/>
                    </a:solidFill>
                  </a:tcPr>
                </a:tc>
                <a:tc>
                  <a:txBody>
                    <a:bodyPr/>
                    <a:lstStyle/>
                    <a:p>
                      <a:pPr algn="l" indent="0" marL="0">
                        <a:buNone/>
                      </a:pPr>
                      <a:r>
                        <a:rPr lang="en-US" sz="1200" dirty="0">
                          <a:solidFill>
                            <a:srgbClr val="FFFFFF"/>
                          </a:solidFill>
                        </a:rPr>
                        <a:t>McLaren</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24242E"/>
                    </a:solidFill>
                  </a:tcPr>
                </a:tc>
                <a:tc>
                  <a:txBody>
                    <a:bodyPr/>
                    <a:lstStyle/>
                    <a:p>
                      <a:pPr algn="ctr" indent="0" marL="0">
                        <a:buNone/>
                      </a:pPr>
                      <a:r>
                        <a:rPr lang="en-US" sz="1200" dirty="0">
                          <a:solidFill>
                            <a:srgbClr val="FFFFFF"/>
                          </a:solidFill>
                        </a:rPr>
                        <a:t>−1.087% (10%)</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24242E"/>
                    </a:solidFill>
                  </a:tcPr>
                </a:tc>
                <a:tc>
                  <a:txBody>
                    <a:bodyPr/>
                    <a:lstStyle/>
                    <a:p>
                      <a:pPr algn="ctr" indent="0" marL="0">
                        <a:buNone/>
                      </a:pPr>
                      <a:r>
                        <a:rPr lang="en-US" sz="1200" dirty="0">
                          <a:solidFill>
                            <a:srgbClr val="FFFFFF"/>
                          </a:solidFill>
                        </a:rPr>
                        <a:t>+0.020초 (55%)</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24242E"/>
                    </a:solidFill>
                  </a:tcPr>
                </a:tc>
                <a:tc>
                  <a:txBody>
                    <a:bodyPr/>
                    <a:lstStyle/>
                    <a:p>
                      <a:pPr algn="ctr" indent="0" marL="0">
                        <a:buNone/>
                      </a:pPr>
                      <a:r>
                        <a:rPr lang="en-US" sz="1200" dirty="0">
                          <a:solidFill>
                            <a:srgbClr val="FFFFFF"/>
                          </a:solidFill>
                        </a:rPr>
                        <a:t>0.690초 (70%)</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24242E"/>
                    </a:solidFill>
                  </a:tcPr>
                </a:tc>
                <a:tc>
                  <a:txBody>
                    <a:bodyPr/>
                    <a:lstStyle/>
                    <a:p>
                      <a:pPr algn="ctr" indent="0" marL="0">
                        <a:buNone/>
                      </a:pPr>
                      <a:r>
                        <a:rPr lang="en-US" sz="1200" dirty="0">
                          <a:solidFill>
                            <a:srgbClr val="FFFFFF"/>
                          </a:solidFill>
                        </a:rPr>
                        <a:t>+17.1ms (50%)</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24242E"/>
                    </a:solidFill>
                  </a:tcPr>
                </a:tc>
                <a:tc>
                  <a:txBody>
                    <a:bodyPr/>
                    <a:lstStyle/>
                    <a:p>
                      <a:pPr algn="ctr" indent="0" marL="0">
                        <a:buNone/>
                      </a:pPr>
                      <a:r>
                        <a:rPr lang="en-US" sz="1200" dirty="0">
                          <a:solidFill>
                            <a:srgbClr val="FFFFFF"/>
                          </a:solidFill>
                        </a:rPr>
                        <a:t>381 (15%)</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24242E"/>
                    </a:solidFill>
                  </a:tcPr>
                </a:tc>
                <a:tc>
                  <a:txBody>
                    <a:bodyPr/>
                    <a:lstStyle/>
                    <a:p>
                      <a:pPr algn="ctr" indent="0" marL="0">
                        <a:buNone/>
                      </a:pPr>
                      <a:r>
                        <a:rPr lang="en-US" sz="1200" dirty="0">
                          <a:solidFill>
                            <a:srgbClr val="FF8700"/>
                          </a:solidFill>
                        </a:rPr>
                        <a:t>일부 미충족</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24242E"/>
                    </a:solidFill>
                  </a:tcPr>
                </a:tc>
              </a:tr>
              <a:tr h="566928">
                <a:tc>
                  <a:txBody>
                    <a:bodyPr/>
                    <a:lstStyle/>
                    <a:p>
                      <a:pPr algn="l" indent="0" marL="0">
                        <a:buNone/>
                      </a:pPr>
                      <a:r>
                        <a:rPr lang="en-US" sz="1200" b="1" dirty="0">
                          <a:solidFill>
                            <a:srgbClr val="FFFFFF"/>
                          </a:solidFill>
                        </a:rPr>
                        <a:t>Max VERSTAPPEN</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c>
                  <a:txBody>
                    <a:bodyPr/>
                    <a:lstStyle/>
                    <a:p>
                      <a:pPr algn="l" indent="0" marL="0">
                        <a:buNone/>
                      </a:pPr>
                      <a:r>
                        <a:rPr lang="en-US" sz="1200" dirty="0">
                          <a:solidFill>
                            <a:srgbClr val="FFFFFF"/>
                          </a:solidFill>
                        </a:rPr>
                        <a:t>Red Bull Racing</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c>
                  <a:txBody>
                    <a:bodyPr/>
                    <a:lstStyle/>
                    <a:p>
                      <a:pPr algn="ctr" indent="0" marL="0">
                        <a:buNone/>
                      </a:pPr>
                      <a:r>
                        <a:rPr lang="en-US" sz="1200" dirty="0">
                          <a:solidFill>
                            <a:srgbClr val="FFFFFF"/>
                          </a:solidFill>
                        </a:rPr>
                        <a:t>−0.952% (15%)</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c>
                  <a:txBody>
                    <a:bodyPr/>
                    <a:lstStyle/>
                    <a:p>
                      <a:pPr algn="ctr" indent="0" marL="0">
                        <a:buNone/>
                      </a:pPr>
                      <a:r>
                        <a:rPr lang="en-US" sz="1200" dirty="0">
                          <a:solidFill>
                            <a:srgbClr val="FFFFFF"/>
                          </a:solidFill>
                        </a:rPr>
                        <a:t>−0.842초 (5%)</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c>
                  <a:txBody>
                    <a:bodyPr/>
                    <a:lstStyle/>
                    <a:p>
                      <a:pPr algn="ctr" indent="0" marL="0">
                        <a:buNone/>
                      </a:pPr>
                      <a:r>
                        <a:rPr lang="en-US" sz="1200" dirty="0">
                          <a:solidFill>
                            <a:srgbClr val="FFFFFF"/>
                          </a:solidFill>
                        </a:rPr>
                        <a:t>0.595초 (30%)</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c>
                  <a:txBody>
                    <a:bodyPr/>
                    <a:lstStyle/>
                    <a:p>
                      <a:pPr algn="ctr" indent="0" marL="0">
                        <a:buNone/>
                      </a:pPr>
                      <a:r>
                        <a:rPr lang="en-US" sz="1200" dirty="0">
                          <a:solidFill>
                            <a:srgbClr val="FFFFFF"/>
                          </a:solidFill>
                        </a:rPr>
                        <a:t>+21.3ms (70%)</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c>
                  <a:txBody>
                    <a:bodyPr/>
                    <a:lstStyle/>
                    <a:p>
                      <a:pPr algn="ctr" indent="0" marL="0">
                        <a:buNone/>
                      </a:pPr>
                      <a:r>
                        <a:rPr lang="en-US" sz="1200" dirty="0">
                          <a:solidFill>
                            <a:srgbClr val="FFFFFF"/>
                          </a:solidFill>
                        </a:rPr>
                        <a:t>389 (10%)</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c>
                  <a:txBody>
                    <a:bodyPr/>
                    <a:lstStyle/>
                    <a:p>
                      <a:pPr algn="ctr" indent="0" marL="0">
                        <a:buNone/>
                      </a:pPr>
                      <a:r>
                        <a:rPr lang="en-US" sz="1200" dirty="0">
                          <a:solidFill>
                            <a:srgbClr val="2BD47D"/>
                          </a:solidFill>
                        </a:rPr>
                        <a:t>충족</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r>
              <a:tr h="566928">
                <a:tc>
                  <a:txBody>
                    <a:bodyPr/>
                    <a:lstStyle/>
                    <a:p>
                      <a:pPr algn="l" indent="0" marL="0">
                        <a:buNone/>
                      </a:pPr>
                      <a:r>
                        <a:rPr lang="en-US" sz="1200" b="1" dirty="0">
                          <a:solidFill>
                            <a:srgbClr val="FFFFFF"/>
                          </a:solidFill>
                        </a:rPr>
                        <a:t>Charles LECLERC</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24242E"/>
                    </a:solidFill>
                  </a:tcPr>
                </a:tc>
                <a:tc>
                  <a:txBody>
                    <a:bodyPr/>
                    <a:lstStyle/>
                    <a:p>
                      <a:pPr algn="l" indent="0" marL="0">
                        <a:buNone/>
                      </a:pPr>
                      <a:r>
                        <a:rPr lang="en-US" sz="1200" dirty="0">
                          <a:solidFill>
                            <a:srgbClr val="FFFFFF"/>
                          </a:solidFill>
                        </a:rPr>
                        <a:t>Ferrari</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24242E"/>
                    </a:solidFill>
                  </a:tcPr>
                </a:tc>
                <a:tc>
                  <a:txBody>
                    <a:bodyPr/>
                    <a:lstStyle/>
                    <a:p>
                      <a:pPr algn="ctr" indent="0" marL="0">
                        <a:buNone/>
                      </a:pPr>
                      <a:r>
                        <a:rPr lang="en-US" sz="1200" dirty="0">
                          <a:solidFill>
                            <a:srgbClr val="FFFFFF"/>
                          </a:solidFill>
                        </a:rPr>
                        <a:t>−0.814% (20%)</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24242E"/>
                    </a:solidFill>
                  </a:tcPr>
                </a:tc>
                <a:tc>
                  <a:txBody>
                    <a:bodyPr/>
                    <a:lstStyle/>
                    <a:p>
                      <a:pPr algn="ctr" indent="0" marL="0">
                        <a:buNone/>
                      </a:pPr>
                      <a:r>
                        <a:rPr lang="en-US" sz="1200" dirty="0">
                          <a:solidFill>
                            <a:srgbClr val="FFFFFF"/>
                          </a:solidFill>
                        </a:rPr>
                        <a:t>−0.202초 (25%)</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24242E"/>
                    </a:solidFill>
                  </a:tcPr>
                </a:tc>
                <a:tc>
                  <a:txBody>
                    <a:bodyPr/>
                    <a:lstStyle/>
                    <a:p>
                      <a:pPr algn="ctr" indent="0" marL="0">
                        <a:buNone/>
                      </a:pPr>
                      <a:r>
                        <a:rPr lang="en-US" sz="1200" dirty="0">
                          <a:solidFill>
                            <a:srgbClr val="FFFFFF"/>
                          </a:solidFill>
                        </a:rPr>
                        <a:t>0.658초 (55%)</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24242E"/>
                    </a:solidFill>
                  </a:tcPr>
                </a:tc>
                <a:tc>
                  <a:txBody>
                    <a:bodyPr/>
                    <a:lstStyle/>
                    <a:p>
                      <a:pPr algn="ctr" indent="0" marL="0">
                        <a:buNone/>
                      </a:pPr>
                      <a:r>
                        <a:rPr lang="en-US" sz="1200" dirty="0">
                          <a:solidFill>
                            <a:srgbClr val="FFFFFF"/>
                          </a:solidFill>
                        </a:rPr>
                        <a:t>+39.1ms (95%)</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24242E"/>
                    </a:solidFill>
                  </a:tcPr>
                </a:tc>
                <a:tc>
                  <a:txBody>
                    <a:bodyPr/>
                    <a:lstStyle/>
                    <a:p>
                      <a:pPr algn="ctr" indent="0" marL="0">
                        <a:buNone/>
                      </a:pPr>
                      <a:r>
                        <a:rPr lang="en-US" sz="1200" dirty="0">
                          <a:solidFill>
                            <a:srgbClr val="FFFFFF"/>
                          </a:solidFill>
                        </a:rPr>
                        <a:t>225 (25%)</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24242E"/>
                    </a:solidFill>
                  </a:tcPr>
                </a:tc>
                <a:tc>
                  <a:txBody>
                    <a:bodyPr/>
                    <a:lstStyle/>
                    <a:p>
                      <a:pPr algn="ctr" indent="0" marL="0">
                        <a:buNone/>
                      </a:pPr>
                      <a:r>
                        <a:rPr lang="en-US" sz="1200" dirty="0">
                          <a:solidFill>
                            <a:srgbClr val="2BD47D"/>
                          </a:solidFill>
                        </a:rPr>
                        <a:t>충족</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24242E"/>
                    </a:solidFill>
                  </a:tcPr>
                </a:tc>
              </a:tr>
              <a:tr h="566928">
                <a:tc>
                  <a:txBody>
                    <a:bodyPr/>
                    <a:lstStyle/>
                    <a:p>
                      <a:pPr algn="l" indent="0" marL="0">
                        <a:buNone/>
                      </a:pPr>
                      <a:r>
                        <a:rPr lang="en-US" sz="1200" b="1" dirty="0">
                          <a:solidFill>
                            <a:srgbClr val="FFFFFF"/>
                          </a:solidFill>
                        </a:rPr>
                        <a:t>George RUSSELL</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c>
                  <a:txBody>
                    <a:bodyPr/>
                    <a:lstStyle/>
                    <a:p>
                      <a:pPr algn="l" indent="0" marL="0">
                        <a:buNone/>
                      </a:pPr>
                      <a:r>
                        <a:rPr lang="en-US" sz="1200" dirty="0">
                          <a:solidFill>
                            <a:srgbClr val="FFFFFF"/>
                          </a:solidFill>
                        </a:rPr>
                        <a:t>Mercedes</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c>
                  <a:txBody>
                    <a:bodyPr/>
                    <a:lstStyle/>
                    <a:p>
                      <a:pPr algn="ctr" indent="0" marL="0">
                        <a:buNone/>
                      </a:pPr>
                      <a:r>
                        <a:rPr lang="en-US" sz="1200" dirty="0">
                          <a:solidFill>
                            <a:srgbClr val="FFFFFF"/>
                          </a:solidFill>
                        </a:rPr>
                        <a:t>−0.539% (25%)</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c>
                  <a:txBody>
                    <a:bodyPr/>
                    <a:lstStyle/>
                    <a:p>
                      <a:pPr algn="ctr" indent="0" marL="0">
                        <a:buNone/>
                      </a:pPr>
                      <a:r>
                        <a:rPr lang="en-US" sz="1200" dirty="0">
                          <a:solidFill>
                            <a:srgbClr val="FFFFFF"/>
                          </a:solidFill>
                        </a:rPr>
                        <a:t>−0.138초 (40%)</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c>
                  <a:txBody>
                    <a:bodyPr/>
                    <a:lstStyle/>
                    <a:p>
                      <a:pPr algn="ctr" indent="0" marL="0">
                        <a:buNone/>
                      </a:pPr>
                      <a:r>
                        <a:rPr lang="en-US" sz="1200" dirty="0">
                          <a:solidFill>
                            <a:srgbClr val="FFFFFF"/>
                          </a:solidFill>
                        </a:rPr>
                        <a:t>0.561초 (10%)</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c>
                  <a:txBody>
                    <a:bodyPr/>
                    <a:lstStyle/>
                    <a:p>
                      <a:pPr algn="ctr" indent="0" marL="0">
                        <a:buNone/>
                      </a:pPr>
                      <a:r>
                        <a:rPr lang="en-US" sz="1200" dirty="0">
                          <a:solidFill>
                            <a:srgbClr val="FFFFFF"/>
                          </a:solidFill>
                        </a:rPr>
                        <a:t>+21.1ms (60%)</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c>
                  <a:txBody>
                    <a:bodyPr/>
                    <a:lstStyle/>
                    <a:p>
                      <a:pPr algn="ctr" indent="0" marL="0">
                        <a:buNone/>
                      </a:pPr>
                      <a:r>
                        <a:rPr lang="en-US" sz="1200" dirty="0">
                          <a:solidFill>
                            <a:srgbClr val="FFFFFF"/>
                          </a:solidFill>
                        </a:rPr>
                        <a:t>289 (20%)</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c>
                  <a:txBody>
                    <a:bodyPr/>
                    <a:lstStyle/>
                    <a:p>
                      <a:pPr algn="ctr" indent="0" marL="0">
                        <a:buNone/>
                      </a:pPr>
                      <a:r>
                        <a:rPr lang="en-US" sz="1200" dirty="0">
                          <a:solidFill>
                            <a:srgbClr val="2BD47D"/>
                          </a:solidFill>
                        </a:rPr>
                        <a:t>충족</a:t>
                      </a:r>
                      <a:endParaRPr lang="en-US" sz="1200" dirty="0"/>
                    </a:p>
                  </a:txBody>
                  <a:tcPr marL="91440" marR="91440" marT="45720" marB="45720" anchor="ctr">
                    <a:lnL w="12700" cap="flat" cmpd="sng" algn="ctr">
                      <a:solidFill>
                        <a:srgbClr val="15151E"/>
                      </a:solidFill>
                      <a:prstDash val="solid"/>
                      <a:round/>
                      <a:headEnd type="none" w="med" len="med"/>
                      <a:tailEnd type="none" w="med" len="med"/>
                    </a:lnL>
                    <a:lnR w="12700" cap="flat" cmpd="sng" algn="ctr">
                      <a:solidFill>
                        <a:srgbClr val="15151E"/>
                      </a:solidFill>
                      <a:prstDash val="solid"/>
                      <a:round/>
                      <a:headEnd type="none" w="med" len="med"/>
                      <a:tailEnd type="none" w="med" len="med"/>
                    </a:lnR>
                    <a:lnT w="12700" cap="flat" cmpd="sng" algn="ctr">
                      <a:solidFill>
                        <a:srgbClr val="15151E"/>
                      </a:solidFill>
                      <a:prstDash val="solid"/>
                      <a:round/>
                      <a:headEnd type="none" w="med" len="med"/>
                      <a:tailEnd type="none" w="med" len="med"/>
                    </a:lnT>
                    <a:lnB w="12700" cap="flat" cmpd="sng" algn="ctr">
                      <a:solidFill>
                        <a:srgbClr val="15151E"/>
                      </a:solidFill>
                      <a:prstDash val="solid"/>
                      <a:round/>
                      <a:headEnd type="none" w="med" len="med"/>
                      <a:tailEnd type="none" w="med" len="med"/>
                    </a:lnB>
                    <a:solidFill>
                      <a:srgbClr val="1E1E28"/>
                    </a:solidFill>
                  </a:tcPr>
                </a:tc>
              </a:tr>
            </a:tbl>
          </a:graphicData>
        </a:graphic>
      </p:graphicFrame>
      <p:sp>
        <p:nvSpPr>
          <p:cNvPr id="4" name="cand-note"/>
          <p:cNvSpPr txBox="1"/>
          <p:nvPr/>
        </p:nvSpPr>
        <p:spPr>
          <a:xfrm>
            <a:off x="548640" y="5486400"/>
            <a:ext cx="11109960" cy="640080"/>
          </a:xfrm>
          <a:prstGeom prst="rect">
            <a:avLst/>
          </a:prstGeom>
          <a:noFill/>
          <a:ln/>
        </p:spPr>
        <p:txBody>
          <a:bodyPr wrap="square" lIns="0" tIns="0" rIns="0" bIns="0" rtlCol="0" anchor="t"/>
          <a:lstStyle/>
          <a:p>
            <a:pPr indent="0" marL="0">
              <a:buNone/>
            </a:pPr>
            <a:r>
              <a:rPr lang="en-US" sz="1200" dirty="0">
                <a:solidFill>
                  <a:schemeClr val="bg2"/>
                </a:solidFill>
              </a:rPr>
              <a:t>괄호 = 2025 선수 20명 중 상위 % (작을수록 좋음)  ·  </a:t>
            </a:r>
            <a:pPr indent="0" marL="0">
              <a:buNone/>
            </a:pPr>
            <a:r>
              <a:rPr lang="en-US" sz="1200" b="1" dirty="0">
                <a:solidFill>
                  <a:schemeClr val="accent3"/>
                </a:solidFill>
              </a:rPr>
              <a:t>1차 검토</a:t>
            </a:r>
            <a:pPr indent="0" marL="0">
              <a:buNone/>
            </a:pPr>
            <a:r>
              <a:rPr lang="en-US" sz="1200" dirty="0">
                <a:solidFill>
                  <a:schemeClr val="bg2"/>
                </a:solidFill>
              </a:rPr>
              <a:t> = 전체 페이스가 기준 선수보다 빠르고 자기 팀 동료보다도 빠르며 표본 기준 통과 · 계약 가능성은 판단하지 않음</a:t>
            </a:r>
            <a:endParaRPr lang="en-US" sz="1200" dirty="0"/>
          </a:p>
        </p:txBody>
      </p:sp>
      <p:sp>
        <p:nvSpPr>
          <p:cNvPr id="25" name="Slide Number Placeholder 0"/>
          <p:cNvSpPr>
            <a:spLocks noGrp="1"/>
          </p:cNvSpPr>
          <p:nvPr>
            <p:ph type="sldNum" sz="quarter" idx="4294967295"/>
          </p:nvPr>
        </p:nvSpPr>
        <p:spPr>
          <a:xfrm>
            <a:off x="11064240" y="393192"/>
            <a:ext cx="640080" cy="411480"/>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Malgun Gothic"/>
                <a:ea typeface="Malgun Gothic"/>
                <a:cs typeface="Malgun Gothic"/>
              </a:defRPr>
            </a:lvl1pPr>
          </a:lstStyle>
          <a:p>
            <a:pPr algn="l"/>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indent="0" marL="0">
              <a:buNone/>
            </a:pPr>
            <a:r>
              <a:rPr lang="en-US" sz="3200" b="1" dirty="0">
                <a:solidFill>
                  <a:schemeClr val="bg1"/>
                </a:solidFill>
              </a:rPr>
              <a:t>후보 검토 근거: Lando NORRIS → Aston Martin</a:t>
            </a:r>
            <a:endParaRPr lang="en-US" sz="3200" dirty="0"/>
          </a:p>
        </p:txBody>
      </p:sp>
      <p:sp>
        <p:nvSpPr>
          <p:cNvPr id="3" name="verdict-card"/>
          <p:cNvSpPr/>
          <p:nvPr/>
        </p:nvSpPr>
        <p:spPr>
          <a:xfrm>
            <a:off x="548640" y="1371600"/>
            <a:ext cx="11109960" cy="1417320"/>
          </a:xfrm>
          <a:prstGeom prst="roundRect">
            <a:avLst>
              <a:gd name="adj" fmla="val 5161"/>
            </a:avLst>
          </a:prstGeom>
          <a:solidFill>
            <a:srgbClr val="15151E"/>
          </a:solidFill>
          <a:ln w="19050">
            <a:solidFill>
              <a:srgbClr val="E10600"/>
            </a:solidFill>
            <a:prstDash val="solid"/>
          </a:ln>
        </p:spPr>
      </p:sp>
      <p:sp>
        <p:nvSpPr>
          <p:cNvPr id="4" name="verdict-k"/>
          <p:cNvSpPr txBox="1"/>
          <p:nvPr/>
        </p:nvSpPr>
        <p:spPr>
          <a:xfrm>
            <a:off x="868680" y="1554480"/>
            <a:ext cx="3657600" cy="320040"/>
          </a:xfrm>
          <a:prstGeom prst="rect">
            <a:avLst/>
          </a:prstGeom>
          <a:noFill/>
          <a:ln/>
        </p:spPr>
        <p:txBody>
          <a:bodyPr wrap="square" lIns="0" tIns="0" rIns="0" bIns="0" rtlCol="0" anchor="t"/>
          <a:lstStyle/>
          <a:p>
            <a:pPr indent="0" marL="0">
              <a:buNone/>
            </a:pPr>
            <a:r>
              <a:rPr lang="en-US" sz="1200" b="1" dirty="0">
                <a:solidFill>
                  <a:schemeClr val="accent1"/>
                </a:solidFill>
              </a:rPr>
              <a:t>지금 읽을 결론</a:t>
            </a:r>
            <a:endParaRPr lang="en-US" sz="1200" dirty="0"/>
          </a:p>
        </p:txBody>
      </p:sp>
      <p:sp>
        <p:nvSpPr>
          <p:cNvPr id="5" name="verdict-t"/>
          <p:cNvSpPr txBox="1"/>
          <p:nvPr/>
        </p:nvSpPr>
        <p:spPr>
          <a:xfrm>
            <a:off x="868680" y="1920240"/>
            <a:ext cx="10515600" cy="640080"/>
          </a:xfrm>
          <a:prstGeom prst="rect">
            <a:avLst/>
          </a:prstGeom>
          <a:noFill/>
          <a:ln/>
        </p:spPr>
        <p:txBody>
          <a:bodyPr wrap="square" lIns="0" tIns="0" rIns="0" bIns="0" rtlCol="0" anchor="t"/>
          <a:lstStyle/>
          <a:p>
            <a:pPr indent="0" marL="0">
              <a:buNone/>
            </a:pPr>
            <a:r>
              <a:rPr lang="en-US" sz="2400" b="1" dirty="0">
                <a:solidFill>
                  <a:schemeClr val="bg1"/>
                </a:solidFill>
              </a:rPr>
              <a:t>빠른 기록은 반복되지만, 선수 개인의 우위는 더 확인해야 한다</a:t>
            </a:r>
            <a:endParaRPr lang="en-US" sz="2400" dirty="0"/>
          </a:p>
        </p:txBody>
      </p:sp>
      <p:sp>
        <p:nvSpPr>
          <p:cNvPr id="6" name="q-0"/>
          <p:cNvSpPr/>
          <p:nvPr/>
        </p:nvSpPr>
        <p:spPr>
          <a:xfrm>
            <a:off x="548640" y="3063240"/>
            <a:ext cx="3566160" cy="2514600"/>
          </a:xfrm>
          <a:prstGeom prst="roundRect">
            <a:avLst>
              <a:gd name="adj" fmla="val 2909"/>
            </a:avLst>
          </a:prstGeom>
          <a:solidFill>
            <a:srgbClr val="24242E"/>
          </a:solidFill>
          <a:ln w="9525">
            <a:solidFill>
              <a:srgbClr val="33333F"/>
            </a:solidFill>
            <a:prstDash val="solid"/>
          </a:ln>
        </p:spPr>
      </p:sp>
      <p:sp>
        <p:nvSpPr>
          <p:cNvPr id="7" name="q-badge-0"/>
          <p:cNvSpPr/>
          <p:nvPr/>
        </p:nvSpPr>
        <p:spPr>
          <a:xfrm>
            <a:off x="777240" y="3291840"/>
            <a:ext cx="548640" cy="548640"/>
          </a:xfrm>
          <a:prstGeom prst="ellipse">
            <a:avLst/>
          </a:prstGeom>
          <a:solidFill>
            <a:srgbClr val="2BD47D"/>
          </a:solidFill>
          <a:ln w="12700">
            <a:solidFill>
              <a:srgbClr val="2BD47D"/>
            </a:solidFill>
            <a:prstDash val="solid"/>
          </a:ln>
        </p:spPr>
      </p:sp>
      <p:sp>
        <p:nvSpPr>
          <p:cNvPr id="8" name="q-badge-0-t"/>
          <p:cNvSpPr txBox="1"/>
          <p:nvPr/>
        </p:nvSpPr>
        <p:spPr>
          <a:xfrm>
            <a:off x="777240" y="3291840"/>
            <a:ext cx="548640" cy="548640"/>
          </a:xfrm>
          <a:prstGeom prst="rect">
            <a:avLst/>
          </a:prstGeom>
          <a:noFill/>
          <a:ln/>
        </p:spPr>
        <p:txBody>
          <a:bodyPr wrap="square" lIns="0" tIns="0" rIns="0" bIns="0" rtlCol="0" anchor="ctr"/>
          <a:lstStyle/>
          <a:p>
            <a:pPr algn="ctr" indent="0" marL="0">
              <a:buNone/>
            </a:pPr>
            <a:r>
              <a:rPr lang="en-US" sz="1800" b="1" dirty="0">
                <a:solidFill>
                  <a:srgbClr val="15151E"/>
                </a:solidFill>
              </a:rPr>
              <a:t>✓</a:t>
            </a:r>
            <a:endParaRPr lang="en-US" sz="1800" dirty="0"/>
          </a:p>
        </p:txBody>
      </p:sp>
      <p:sp>
        <p:nvSpPr>
          <p:cNvPr id="9" name="q-k-0"/>
          <p:cNvSpPr txBox="1"/>
          <p:nvPr/>
        </p:nvSpPr>
        <p:spPr>
          <a:xfrm>
            <a:off x="1508760" y="3401568"/>
            <a:ext cx="2377440" cy="320040"/>
          </a:xfrm>
          <a:prstGeom prst="rect">
            <a:avLst/>
          </a:prstGeom>
          <a:noFill/>
          <a:ln/>
        </p:spPr>
        <p:txBody>
          <a:bodyPr wrap="square" lIns="0" tIns="0" rIns="0" bIns="0" rtlCol="0" anchor="t"/>
          <a:lstStyle/>
          <a:p>
            <a:pPr indent="0" marL="0">
              <a:buNone/>
            </a:pPr>
            <a:r>
              <a:rPr lang="en-US" sz="1200" dirty="0">
                <a:solidFill>
                  <a:schemeClr val="accent4"/>
                </a:solidFill>
              </a:rPr>
              <a:t>질문 1</a:t>
            </a:r>
            <a:endParaRPr lang="en-US" sz="1200" dirty="0"/>
          </a:p>
        </p:txBody>
      </p:sp>
      <p:sp>
        <p:nvSpPr>
          <p:cNvPr id="10" name="q-h-0"/>
          <p:cNvSpPr txBox="1"/>
          <p:nvPr/>
        </p:nvSpPr>
        <p:spPr>
          <a:xfrm>
            <a:off x="777240" y="3977640"/>
            <a:ext cx="3154680" cy="685800"/>
          </a:xfrm>
          <a:prstGeom prst="rect">
            <a:avLst/>
          </a:prstGeom>
          <a:noFill/>
          <a:ln/>
        </p:spPr>
        <p:txBody>
          <a:bodyPr wrap="square" lIns="0" tIns="0" rIns="0" bIns="0" rtlCol="0" anchor="t"/>
          <a:lstStyle/>
          <a:p>
            <a:pPr indent="0" marL="0">
              <a:buNone/>
            </a:pPr>
            <a:r>
              <a:rPr lang="en-US" sz="1500" b="1" dirty="0">
                <a:solidFill>
                  <a:schemeClr val="bg1"/>
                </a:solidFill>
              </a:rPr>
              <a:t>같은 경기끼리 비교해도 빠른가?</a:t>
            </a:r>
            <a:endParaRPr lang="en-US" sz="1500" dirty="0"/>
          </a:p>
        </p:txBody>
      </p:sp>
      <p:sp>
        <p:nvSpPr>
          <p:cNvPr id="11" name="q-d-0"/>
          <p:cNvSpPr txBox="1"/>
          <p:nvPr/>
        </p:nvSpPr>
        <p:spPr>
          <a:xfrm>
            <a:off x="777240" y="4663440"/>
            <a:ext cx="3154680" cy="365760"/>
          </a:xfrm>
          <a:prstGeom prst="rect">
            <a:avLst/>
          </a:prstGeom>
          <a:noFill/>
          <a:ln/>
        </p:spPr>
        <p:txBody>
          <a:bodyPr wrap="square" lIns="0" tIns="0" rIns="0" bIns="0" rtlCol="0" anchor="t"/>
          <a:lstStyle/>
          <a:p>
            <a:pPr indent="0" marL="0">
              <a:buNone/>
            </a:pPr>
            <a:r>
              <a:rPr lang="en-US" sz="1300" dirty="0">
                <a:solidFill>
                  <a:schemeClr val="bg2"/>
                </a:solidFill>
              </a:rPr>
              <a:t>공통 17경기, 재표집해도 빠른 쪽</a:t>
            </a:r>
            <a:endParaRPr lang="en-US" sz="1300" dirty="0"/>
          </a:p>
        </p:txBody>
      </p:sp>
      <p:sp>
        <p:nvSpPr>
          <p:cNvPr id="12" name="q-n-0"/>
          <p:cNvSpPr txBox="1"/>
          <p:nvPr/>
        </p:nvSpPr>
        <p:spPr>
          <a:xfrm>
            <a:off x="777240" y="5074920"/>
            <a:ext cx="3154680" cy="365760"/>
          </a:xfrm>
          <a:prstGeom prst="rect">
            <a:avLst/>
          </a:prstGeom>
          <a:noFill/>
          <a:ln/>
        </p:spPr>
        <p:txBody>
          <a:bodyPr wrap="square" lIns="0" tIns="0" rIns="0" bIns="0" rtlCol="0" anchor="t"/>
          <a:lstStyle/>
          <a:p>
            <a:pPr indent="0" marL="0">
              <a:buNone/>
            </a:pPr>
            <a:r>
              <a:rPr lang="en-US" sz="1300" b="1" dirty="0">
                <a:solidFill>
                  <a:schemeClr val="accent3"/>
                </a:solidFill>
              </a:rPr>
              <a:t>후보 − 기준 −1.475%p</a:t>
            </a:r>
            <a:endParaRPr lang="en-US" sz="1300" dirty="0"/>
          </a:p>
        </p:txBody>
      </p:sp>
      <p:sp>
        <p:nvSpPr>
          <p:cNvPr id="13" name="q-1"/>
          <p:cNvSpPr/>
          <p:nvPr/>
        </p:nvSpPr>
        <p:spPr>
          <a:xfrm>
            <a:off x="4297680" y="3063240"/>
            <a:ext cx="3566160" cy="2514600"/>
          </a:xfrm>
          <a:prstGeom prst="roundRect">
            <a:avLst>
              <a:gd name="adj" fmla="val 2909"/>
            </a:avLst>
          </a:prstGeom>
          <a:solidFill>
            <a:srgbClr val="24242E"/>
          </a:solidFill>
          <a:ln w="9525">
            <a:solidFill>
              <a:srgbClr val="33333F"/>
            </a:solidFill>
            <a:prstDash val="solid"/>
          </a:ln>
        </p:spPr>
      </p:sp>
      <p:sp>
        <p:nvSpPr>
          <p:cNvPr id="14" name="q-badge-1"/>
          <p:cNvSpPr/>
          <p:nvPr/>
        </p:nvSpPr>
        <p:spPr>
          <a:xfrm>
            <a:off x="4526280" y="3291840"/>
            <a:ext cx="548640" cy="548640"/>
          </a:xfrm>
          <a:prstGeom prst="ellipse">
            <a:avLst/>
          </a:prstGeom>
          <a:solidFill>
            <a:srgbClr val="2BD47D"/>
          </a:solidFill>
          <a:ln w="12700">
            <a:solidFill>
              <a:srgbClr val="2BD47D"/>
            </a:solidFill>
            <a:prstDash val="solid"/>
          </a:ln>
        </p:spPr>
      </p:sp>
      <p:sp>
        <p:nvSpPr>
          <p:cNvPr id="15" name="q-badge-1-t"/>
          <p:cNvSpPr txBox="1"/>
          <p:nvPr/>
        </p:nvSpPr>
        <p:spPr>
          <a:xfrm>
            <a:off x="4526280" y="3291840"/>
            <a:ext cx="548640" cy="548640"/>
          </a:xfrm>
          <a:prstGeom prst="rect">
            <a:avLst/>
          </a:prstGeom>
          <a:noFill/>
          <a:ln/>
        </p:spPr>
        <p:txBody>
          <a:bodyPr wrap="square" lIns="0" tIns="0" rIns="0" bIns="0" rtlCol="0" anchor="ctr"/>
          <a:lstStyle/>
          <a:p>
            <a:pPr algn="ctr" indent="0" marL="0">
              <a:buNone/>
            </a:pPr>
            <a:r>
              <a:rPr lang="en-US" sz="1800" b="1" dirty="0">
                <a:solidFill>
                  <a:srgbClr val="15151E"/>
                </a:solidFill>
              </a:rPr>
              <a:t>✓</a:t>
            </a:r>
            <a:endParaRPr lang="en-US" sz="1800" dirty="0"/>
          </a:p>
        </p:txBody>
      </p:sp>
      <p:sp>
        <p:nvSpPr>
          <p:cNvPr id="16" name="q-k-1"/>
          <p:cNvSpPr txBox="1"/>
          <p:nvPr/>
        </p:nvSpPr>
        <p:spPr>
          <a:xfrm>
            <a:off x="5257800" y="3401568"/>
            <a:ext cx="2377440" cy="320040"/>
          </a:xfrm>
          <a:prstGeom prst="rect">
            <a:avLst/>
          </a:prstGeom>
          <a:noFill/>
          <a:ln/>
        </p:spPr>
        <p:txBody>
          <a:bodyPr wrap="square" lIns="0" tIns="0" rIns="0" bIns="0" rtlCol="0" anchor="t"/>
          <a:lstStyle/>
          <a:p>
            <a:pPr indent="0" marL="0">
              <a:buNone/>
            </a:pPr>
            <a:r>
              <a:rPr lang="en-US" sz="1200" dirty="0">
                <a:solidFill>
                  <a:schemeClr val="accent4"/>
                </a:solidFill>
              </a:rPr>
              <a:t>질문 2</a:t>
            </a:r>
            <a:endParaRPr lang="en-US" sz="1200" dirty="0"/>
          </a:p>
        </p:txBody>
      </p:sp>
      <p:sp>
        <p:nvSpPr>
          <p:cNvPr id="17" name="q-h-1"/>
          <p:cNvSpPr txBox="1"/>
          <p:nvPr/>
        </p:nvSpPr>
        <p:spPr>
          <a:xfrm>
            <a:off x="4526280" y="3977640"/>
            <a:ext cx="3154680" cy="685800"/>
          </a:xfrm>
          <a:prstGeom prst="rect">
            <a:avLst/>
          </a:prstGeom>
          <a:noFill/>
          <a:ln/>
        </p:spPr>
        <p:txBody>
          <a:bodyPr wrap="square" lIns="0" tIns="0" rIns="0" bIns="0" rtlCol="0" anchor="t"/>
          <a:lstStyle/>
          <a:p>
            <a:pPr indent="0" marL="0">
              <a:buNone/>
            </a:pPr>
            <a:r>
              <a:rPr lang="en-US" sz="1500" b="1" dirty="0">
                <a:solidFill>
                  <a:schemeClr val="bg1"/>
                </a:solidFill>
              </a:rPr>
              <a:t>조건·기간을 바꿔도 유지되나?</a:t>
            </a:r>
            <a:endParaRPr lang="en-US" sz="1500" dirty="0"/>
          </a:p>
        </p:txBody>
      </p:sp>
      <p:sp>
        <p:nvSpPr>
          <p:cNvPr id="18" name="q-d-1"/>
          <p:cNvSpPr txBox="1"/>
          <p:nvPr/>
        </p:nvSpPr>
        <p:spPr>
          <a:xfrm>
            <a:off x="4526280" y="4663440"/>
            <a:ext cx="3154680" cy="365760"/>
          </a:xfrm>
          <a:prstGeom prst="rect">
            <a:avLst/>
          </a:prstGeom>
          <a:noFill/>
          <a:ln/>
        </p:spPr>
        <p:txBody>
          <a:bodyPr wrap="square" lIns="0" tIns="0" rIns="0" bIns="0" rtlCol="0" anchor="t"/>
          <a:lstStyle/>
          <a:p>
            <a:pPr indent="0" marL="0">
              <a:buNone/>
            </a:pPr>
            <a:r>
              <a:rPr lang="en-US" sz="1300" dirty="0">
                <a:solidFill>
                  <a:schemeClr val="bg2"/>
                </a:solidFill>
              </a:rPr>
              <a:t>정제 조건 11가지 + 시즌 전·후반</a:t>
            </a:r>
            <a:endParaRPr lang="en-US" sz="1300" dirty="0"/>
          </a:p>
        </p:txBody>
      </p:sp>
      <p:sp>
        <p:nvSpPr>
          <p:cNvPr id="19" name="q-n-1"/>
          <p:cNvSpPr txBox="1"/>
          <p:nvPr/>
        </p:nvSpPr>
        <p:spPr>
          <a:xfrm>
            <a:off x="4526280" y="5074920"/>
            <a:ext cx="3154680" cy="365760"/>
          </a:xfrm>
          <a:prstGeom prst="rect">
            <a:avLst/>
          </a:prstGeom>
          <a:noFill/>
          <a:ln/>
        </p:spPr>
        <p:txBody>
          <a:bodyPr wrap="square" lIns="0" tIns="0" rIns="0" bIns="0" rtlCol="0" anchor="t"/>
          <a:lstStyle/>
          <a:p>
            <a:pPr indent="0" marL="0">
              <a:buNone/>
            </a:pPr>
            <a:r>
              <a:rPr lang="en-US" sz="1300" b="1" dirty="0">
                <a:solidFill>
                  <a:schemeClr val="accent3"/>
                </a:solidFill>
              </a:rPr>
              <a:t>빠른 조건 11 / 11</a:t>
            </a:r>
            <a:endParaRPr lang="en-US" sz="1300" dirty="0"/>
          </a:p>
        </p:txBody>
      </p:sp>
      <p:sp>
        <p:nvSpPr>
          <p:cNvPr id="20" name="q-2"/>
          <p:cNvSpPr/>
          <p:nvPr/>
        </p:nvSpPr>
        <p:spPr>
          <a:xfrm>
            <a:off x="8046720" y="3063240"/>
            <a:ext cx="3566160" cy="2514600"/>
          </a:xfrm>
          <a:prstGeom prst="roundRect">
            <a:avLst>
              <a:gd name="adj" fmla="val 2909"/>
            </a:avLst>
          </a:prstGeom>
          <a:solidFill>
            <a:srgbClr val="24242E"/>
          </a:solidFill>
          <a:ln w="9525">
            <a:solidFill>
              <a:srgbClr val="33333F"/>
            </a:solidFill>
            <a:prstDash val="solid"/>
          </a:ln>
        </p:spPr>
      </p:sp>
      <p:sp>
        <p:nvSpPr>
          <p:cNvPr id="21" name="q-badge-2"/>
          <p:cNvSpPr/>
          <p:nvPr/>
        </p:nvSpPr>
        <p:spPr>
          <a:xfrm>
            <a:off x="8275320" y="3291840"/>
            <a:ext cx="548640" cy="548640"/>
          </a:xfrm>
          <a:prstGeom prst="ellipse">
            <a:avLst/>
          </a:prstGeom>
          <a:solidFill>
            <a:srgbClr val="E10600"/>
          </a:solidFill>
          <a:ln w="12700">
            <a:solidFill>
              <a:srgbClr val="E10600"/>
            </a:solidFill>
            <a:prstDash val="solid"/>
          </a:ln>
        </p:spPr>
      </p:sp>
      <p:sp>
        <p:nvSpPr>
          <p:cNvPr id="22" name="q-badge-2-t"/>
          <p:cNvSpPr txBox="1"/>
          <p:nvPr/>
        </p:nvSpPr>
        <p:spPr>
          <a:xfrm>
            <a:off x="8275320" y="32918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23" name="q-k-2"/>
          <p:cNvSpPr txBox="1"/>
          <p:nvPr/>
        </p:nvSpPr>
        <p:spPr>
          <a:xfrm>
            <a:off x="9006840" y="3401568"/>
            <a:ext cx="2377440" cy="320040"/>
          </a:xfrm>
          <a:prstGeom prst="rect">
            <a:avLst/>
          </a:prstGeom>
          <a:noFill/>
          <a:ln/>
        </p:spPr>
        <p:txBody>
          <a:bodyPr wrap="square" lIns="0" tIns="0" rIns="0" bIns="0" rtlCol="0" anchor="t"/>
          <a:lstStyle/>
          <a:p>
            <a:pPr indent="0" marL="0">
              <a:buNone/>
            </a:pPr>
            <a:r>
              <a:rPr lang="en-US" sz="1200" dirty="0">
                <a:solidFill>
                  <a:schemeClr val="accent4"/>
                </a:solidFill>
              </a:rPr>
              <a:t>질문 3</a:t>
            </a:r>
            <a:endParaRPr lang="en-US" sz="1200" dirty="0"/>
          </a:p>
        </p:txBody>
      </p:sp>
      <p:sp>
        <p:nvSpPr>
          <p:cNvPr id="24" name="q-h-2"/>
          <p:cNvSpPr txBox="1"/>
          <p:nvPr/>
        </p:nvSpPr>
        <p:spPr>
          <a:xfrm>
            <a:off x="8275320" y="3977640"/>
            <a:ext cx="3154680" cy="685800"/>
          </a:xfrm>
          <a:prstGeom prst="rect">
            <a:avLst/>
          </a:prstGeom>
          <a:noFill/>
          <a:ln/>
        </p:spPr>
        <p:txBody>
          <a:bodyPr wrap="square" lIns="0" tIns="0" rIns="0" bIns="0" rtlCol="0" anchor="t"/>
          <a:lstStyle/>
          <a:p>
            <a:pPr indent="0" marL="0">
              <a:buNone/>
            </a:pPr>
            <a:r>
              <a:rPr lang="en-US" sz="1500" b="1" dirty="0">
                <a:solidFill>
                  <a:schemeClr val="bg1"/>
                </a:solidFill>
              </a:rPr>
              <a:t>자기 팀 동료와 비교해도 빠른가?</a:t>
            </a:r>
            <a:endParaRPr lang="en-US" sz="1500" dirty="0"/>
          </a:p>
        </p:txBody>
      </p:sp>
      <p:sp>
        <p:nvSpPr>
          <p:cNvPr id="25" name="q-d-2"/>
          <p:cNvSpPr txBox="1"/>
          <p:nvPr/>
        </p:nvSpPr>
        <p:spPr>
          <a:xfrm>
            <a:off x="8275320" y="4663440"/>
            <a:ext cx="3154680" cy="365760"/>
          </a:xfrm>
          <a:prstGeom prst="rect">
            <a:avLst/>
          </a:prstGeom>
          <a:noFill/>
          <a:ln/>
        </p:spPr>
        <p:txBody>
          <a:bodyPr wrap="square" lIns="0" tIns="0" rIns="0" bIns="0" rtlCol="0" anchor="t"/>
          <a:lstStyle/>
          <a:p>
            <a:pPr indent="0" marL="0">
              <a:buNone/>
            </a:pPr>
            <a:r>
              <a:rPr lang="en-US" sz="1300" dirty="0">
                <a:solidFill>
                  <a:schemeClr val="bg2"/>
                </a:solidFill>
              </a:rPr>
              <a:t>조건에 따라 방향이 달라짐</a:t>
            </a:r>
            <a:endParaRPr lang="en-US" sz="1300" dirty="0"/>
          </a:p>
        </p:txBody>
      </p:sp>
      <p:sp>
        <p:nvSpPr>
          <p:cNvPr id="26" name="q-n-2"/>
          <p:cNvSpPr txBox="1"/>
          <p:nvPr/>
        </p:nvSpPr>
        <p:spPr>
          <a:xfrm>
            <a:off x="8275320" y="5074920"/>
            <a:ext cx="3154680" cy="365760"/>
          </a:xfrm>
          <a:prstGeom prst="rect">
            <a:avLst/>
          </a:prstGeom>
          <a:noFill/>
          <a:ln/>
        </p:spPr>
        <p:txBody>
          <a:bodyPr wrap="square" lIns="0" tIns="0" rIns="0" bIns="0" rtlCol="0" anchor="t"/>
          <a:lstStyle/>
          <a:p>
            <a:pPr indent="0" marL="0">
              <a:buNone/>
            </a:pPr>
            <a:r>
              <a:rPr lang="en-US" sz="1300" b="1" dirty="0">
                <a:solidFill>
                  <a:schemeClr val="accent1"/>
                </a:solidFill>
              </a:rPr>
              <a:t>후보 본인 동료 비교 17경기</a:t>
            </a:r>
            <a:endParaRPr lang="en-US" sz="1300" dirty="0"/>
          </a:p>
        </p:txBody>
      </p:sp>
      <p:sp>
        <p:nvSpPr>
          <p:cNvPr id="27" name="q-next"/>
          <p:cNvSpPr txBox="1"/>
          <p:nvPr/>
        </p:nvSpPr>
        <p:spPr>
          <a:xfrm>
            <a:off x="548640" y="5760720"/>
            <a:ext cx="11109960" cy="457200"/>
          </a:xfrm>
          <a:prstGeom prst="rect">
            <a:avLst/>
          </a:prstGeom>
          <a:noFill/>
          <a:ln/>
        </p:spPr>
        <p:txBody>
          <a:bodyPr wrap="square" lIns="0" tIns="0" rIns="0" bIns="0" rtlCol="0" anchor="t"/>
          <a:lstStyle/>
          <a:p>
            <a:pPr indent="0" marL="0">
              <a:buNone/>
            </a:pPr>
            <a:r>
              <a:rPr lang="en-US" sz="1300" b="1" dirty="0">
                <a:solidFill>
                  <a:schemeClr val="accent2"/>
                </a:solidFill>
              </a:rPr>
              <a:t>그래서 지금 할 일  </a:t>
            </a:r>
            <a:pPr indent="0" marL="0">
              <a:buNone/>
            </a:pPr>
            <a:r>
              <a:rPr lang="en-US" sz="1300" dirty="0">
                <a:solidFill>
                  <a:schemeClr val="bg2"/>
                </a:solidFill>
              </a:rPr>
              <a:t>후보가 자기 팀 동료와 비교해도 우위인지 먼저 확인 — 차량 이점이 얼마나 섞였는지는 이 자료만으로 분리할 수 없음</a:t>
            </a:r>
            <a:endParaRPr lang="en-US" sz="1300" dirty="0"/>
          </a:p>
        </p:txBody>
      </p:sp>
      <p:sp>
        <p:nvSpPr>
          <p:cNvPr id="25" name="Slide Number Placeholder 0"/>
          <p:cNvSpPr>
            <a:spLocks noGrp="1"/>
          </p:cNvSpPr>
          <p:nvPr>
            <p:ph type="sldNum" sz="quarter" idx="4294967295"/>
          </p:nvPr>
        </p:nvSpPr>
        <p:spPr>
          <a:xfrm>
            <a:off x="11064240" y="393192"/>
            <a:ext cx="640080" cy="411480"/>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Malgun Gothic"/>
                <a:ea typeface="Malgun Gothic"/>
                <a:cs typeface="Malgun Gothic"/>
              </a:defRPr>
            </a:lvl1pPr>
          </a:lstStyle>
          <a:p>
            <a:pPr algn="l"/>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indent="0" marL="0">
              <a:buNone/>
            </a:pPr>
            <a:r>
              <a:rPr lang="en-US" sz="3200" b="1" dirty="0">
                <a:solidFill>
                  <a:schemeClr val="bg1"/>
                </a:solidFill>
              </a:rPr>
              <a:t>피트 운영: 피트레인이 타 팀보다 0.28초 길다</a:t>
            </a:r>
            <a:endParaRPr lang="en-US" sz="3200" dirty="0"/>
          </a:p>
        </p:txBody>
      </p:sp>
      <p:graphicFrame>
        <p:nvGraphicFramePr>
          <p:cNvPr id="3" name="chart-pit" descr=""/>
          <p:cNvGraphicFramePr/>
          <p:nvPr/>
        </p:nvGraphicFramePr>
        <p:xfrm>
          <a:off x="548640" y="1325880"/>
          <a:ext cx="7223760" cy="4846320"/>
        </p:xfrm>
        <a:graphic xmlns:a="http://schemas.openxmlformats.org/drawingml/2006/main">
          <a:graphicData uri="http://schemas.openxmlformats.org/drawingml/2006/chart">
            <c:chart xmlns:c="http://schemas.openxmlformats.org/drawingml/2006/chart" r:id="rId1"/>
          </a:graphicData>
        </a:graphic>
      </p:graphicFrame>
      <p:sp>
        <p:nvSpPr>
          <p:cNvPr id="4" name="pit-card-0"/>
          <p:cNvSpPr/>
          <p:nvPr/>
        </p:nvSpPr>
        <p:spPr>
          <a:xfrm>
            <a:off x="8092440" y="1371600"/>
            <a:ext cx="3566160" cy="1188720"/>
          </a:xfrm>
          <a:prstGeom prst="roundRect">
            <a:avLst>
              <a:gd name="adj" fmla="val 6154"/>
            </a:avLst>
          </a:prstGeom>
          <a:solidFill>
            <a:srgbClr val="24242E"/>
          </a:solidFill>
          <a:ln w="9525">
            <a:solidFill>
              <a:srgbClr val="33333F"/>
            </a:solidFill>
            <a:prstDash val="solid"/>
          </a:ln>
        </p:spPr>
      </p:sp>
      <p:sp>
        <p:nvSpPr>
          <p:cNvPr id="5" name="pit-0-num"/>
          <p:cNvSpPr txBox="1"/>
          <p:nvPr/>
        </p:nvSpPr>
        <p:spPr>
          <a:xfrm>
            <a:off x="8366760" y="1481328"/>
            <a:ext cx="3108960" cy="685800"/>
          </a:xfrm>
          <a:prstGeom prst="rect">
            <a:avLst/>
          </a:prstGeom>
          <a:noFill/>
          <a:ln/>
        </p:spPr>
        <p:txBody>
          <a:bodyPr wrap="square" lIns="0" tIns="0" rIns="0" bIns="0" rtlCol="0" anchor="t"/>
          <a:lstStyle/>
          <a:p>
            <a:pPr indent="0" marL="0">
              <a:buNone/>
            </a:pPr>
            <a:r>
              <a:rPr lang="en-US" sz="3600" b="1" dirty="0">
                <a:solidFill>
                  <a:schemeClr val="accent1"/>
                </a:solidFill>
              </a:rPr>
              <a:t>+0.282초</a:t>
            </a:r>
            <a:endParaRPr lang="en-US" sz="3600" dirty="0"/>
          </a:p>
        </p:txBody>
      </p:sp>
      <p:sp>
        <p:nvSpPr>
          <p:cNvPr id="6" name="pit-0-label"/>
          <p:cNvSpPr txBox="1"/>
          <p:nvPr/>
        </p:nvSpPr>
        <p:spPr>
          <a:xfrm>
            <a:off x="8366760" y="2194560"/>
            <a:ext cx="3108960" cy="502920"/>
          </a:xfrm>
          <a:prstGeom prst="rect">
            <a:avLst/>
          </a:prstGeom>
          <a:noFill/>
          <a:ln/>
        </p:spPr>
        <p:txBody>
          <a:bodyPr wrap="square" lIns="0" tIns="0" rIns="0" bIns="0" rtlCol="0" anchor="t"/>
          <a:lstStyle/>
          <a:p>
            <a:pPr indent="0" marL="0">
              <a:buNone/>
            </a:pPr>
            <a:r>
              <a:rPr lang="en-US" sz="1200" dirty="0">
                <a:solidFill>
                  <a:schemeClr val="bg2"/>
                </a:solidFill>
              </a:rPr>
              <a:t>피트레인 차이 (17경기)</a:t>
            </a:r>
            <a:endParaRPr lang="en-US" sz="1200" dirty="0"/>
          </a:p>
        </p:txBody>
      </p:sp>
      <p:sp>
        <p:nvSpPr>
          <p:cNvPr id="7" name="pit-card-1"/>
          <p:cNvSpPr/>
          <p:nvPr/>
        </p:nvSpPr>
        <p:spPr>
          <a:xfrm>
            <a:off x="8092440" y="2697480"/>
            <a:ext cx="3566160" cy="1188720"/>
          </a:xfrm>
          <a:prstGeom prst="roundRect">
            <a:avLst>
              <a:gd name="adj" fmla="val 6154"/>
            </a:avLst>
          </a:prstGeom>
          <a:solidFill>
            <a:srgbClr val="24242E"/>
          </a:solidFill>
          <a:ln w="9525">
            <a:solidFill>
              <a:srgbClr val="33333F"/>
            </a:solidFill>
            <a:prstDash val="solid"/>
          </a:ln>
        </p:spPr>
      </p:sp>
      <p:sp>
        <p:nvSpPr>
          <p:cNvPr id="8" name="pit-1-num"/>
          <p:cNvSpPr txBox="1"/>
          <p:nvPr/>
        </p:nvSpPr>
        <p:spPr>
          <a:xfrm>
            <a:off x="8366760" y="2807208"/>
            <a:ext cx="3108960" cy="685800"/>
          </a:xfrm>
          <a:prstGeom prst="rect">
            <a:avLst/>
          </a:prstGeom>
          <a:noFill/>
          <a:ln/>
        </p:spPr>
        <p:txBody>
          <a:bodyPr wrap="square" lIns="0" tIns="0" rIns="0" bIns="0" rtlCol="0" anchor="t"/>
          <a:lstStyle/>
          <a:p>
            <a:pPr indent="0" marL="0">
              <a:buNone/>
            </a:pPr>
            <a:r>
              <a:rPr lang="en-US" sz="3600" b="1" dirty="0">
                <a:solidFill>
                  <a:schemeClr val="bg1"/>
                </a:solidFill>
              </a:rPr>
              <a:t>24.4%</a:t>
            </a:r>
            <a:endParaRPr lang="en-US" sz="3600" dirty="0"/>
          </a:p>
        </p:txBody>
      </p:sp>
      <p:sp>
        <p:nvSpPr>
          <p:cNvPr id="9" name="pit-1-label"/>
          <p:cNvSpPr txBox="1"/>
          <p:nvPr/>
        </p:nvSpPr>
        <p:spPr>
          <a:xfrm>
            <a:off x="8366760" y="3520440"/>
            <a:ext cx="3108960" cy="502920"/>
          </a:xfrm>
          <a:prstGeom prst="rect">
            <a:avLst/>
          </a:prstGeom>
          <a:noFill/>
          <a:ln/>
        </p:spPr>
        <p:txBody>
          <a:bodyPr wrap="square" lIns="0" tIns="0" rIns="0" bIns="0" rtlCol="0" anchor="t"/>
          <a:lstStyle/>
          <a:p>
            <a:pPr indent="0" marL="0">
              <a:buNone/>
            </a:pPr>
            <a:r>
              <a:rPr lang="en-US" sz="1200" dirty="0">
                <a:solidFill>
                  <a:schemeClr val="bg2"/>
                </a:solidFill>
              </a:rPr>
              <a:t>타 팀 기준보다 1초 넘게 긴 피트 (11/45건)</a:t>
            </a:r>
            <a:endParaRPr lang="en-US" sz="1200" dirty="0"/>
          </a:p>
        </p:txBody>
      </p:sp>
      <p:sp>
        <p:nvSpPr>
          <p:cNvPr id="10" name="pit-card-2"/>
          <p:cNvSpPr/>
          <p:nvPr/>
        </p:nvSpPr>
        <p:spPr>
          <a:xfrm>
            <a:off x="8092440" y="4023360"/>
            <a:ext cx="3566160" cy="1188720"/>
          </a:xfrm>
          <a:prstGeom prst="roundRect">
            <a:avLst>
              <a:gd name="adj" fmla="val 6154"/>
            </a:avLst>
          </a:prstGeom>
          <a:solidFill>
            <a:srgbClr val="24242E"/>
          </a:solidFill>
          <a:ln w="9525">
            <a:solidFill>
              <a:srgbClr val="33333F"/>
            </a:solidFill>
            <a:prstDash val="solid"/>
          </a:ln>
        </p:spPr>
      </p:sp>
      <p:sp>
        <p:nvSpPr>
          <p:cNvPr id="11" name="pit-2-num"/>
          <p:cNvSpPr txBox="1"/>
          <p:nvPr/>
        </p:nvSpPr>
        <p:spPr>
          <a:xfrm>
            <a:off x="8366760" y="4133088"/>
            <a:ext cx="3108960" cy="685800"/>
          </a:xfrm>
          <a:prstGeom prst="rect">
            <a:avLst/>
          </a:prstGeom>
          <a:noFill/>
          <a:ln/>
        </p:spPr>
        <p:txBody>
          <a:bodyPr wrap="square" lIns="0" tIns="0" rIns="0" bIns="0" rtlCol="0" anchor="t"/>
          <a:lstStyle/>
          <a:p>
            <a:pPr indent="0" marL="0">
              <a:buNone/>
            </a:pPr>
            <a:r>
              <a:rPr lang="en-US" sz="3600" b="1" dirty="0">
                <a:solidFill>
                  <a:schemeClr val="bg1"/>
                </a:solidFill>
              </a:rPr>
              <a:t>1.77회 · 25랩</a:t>
            </a:r>
            <a:endParaRPr lang="en-US" sz="3600" dirty="0"/>
          </a:p>
        </p:txBody>
      </p:sp>
      <p:sp>
        <p:nvSpPr>
          <p:cNvPr id="12" name="pit-2-label"/>
          <p:cNvSpPr txBox="1"/>
          <p:nvPr/>
        </p:nvSpPr>
        <p:spPr>
          <a:xfrm>
            <a:off x="8366760" y="4846320"/>
            <a:ext cx="3108960" cy="502920"/>
          </a:xfrm>
          <a:prstGeom prst="rect">
            <a:avLst/>
          </a:prstGeom>
          <a:noFill/>
          <a:ln/>
        </p:spPr>
        <p:txBody>
          <a:bodyPr wrap="square" lIns="0" tIns="0" rIns="0" bIns="0" rtlCol="0" anchor="t"/>
          <a:lstStyle/>
          <a:p>
            <a:pPr indent="0" marL="0">
              <a:buNone/>
            </a:pPr>
            <a:r>
              <a:rPr lang="en-US" sz="1200" dirty="0">
                <a:solidFill>
                  <a:schemeClr val="bg2"/>
                </a:solidFill>
              </a:rPr>
              <a:t>경기당 피트 · 스틴트 길이 중앙값</a:t>
            </a:r>
            <a:endParaRPr lang="en-US" sz="1200" dirty="0"/>
          </a:p>
        </p:txBody>
      </p:sp>
      <p:sp>
        <p:nvSpPr>
          <p:cNvPr id="13" name="pit-note"/>
          <p:cNvSpPr txBox="1"/>
          <p:nvPr/>
        </p:nvSpPr>
        <p:spPr>
          <a:xfrm>
            <a:off x="8092440" y="5440680"/>
            <a:ext cx="3566160" cy="822960"/>
          </a:xfrm>
          <a:prstGeom prst="rect">
            <a:avLst/>
          </a:prstGeom>
          <a:noFill/>
          <a:ln/>
        </p:spPr>
        <p:txBody>
          <a:bodyPr wrap="square" lIns="0" tIns="0" rIns="0" bIns="0" rtlCol="0" anchor="t"/>
          <a:lstStyle/>
          <a:p>
            <a:pPr indent="0" marL="0">
              <a:buNone/>
            </a:pPr>
            <a:r>
              <a:rPr lang="en-US" sz="1100" dirty="0">
                <a:solidFill>
                  <a:schemeClr val="accent4"/>
                </a:solidFill>
              </a:rPr>
              <a:t>피트레인 시간에는 이동·혼잡·경기 상황이 섞여 있어 크루나 선수 실력으로 바로 귀속하지 않습니다. 피트 횟수·스틴트 길이도 전략의 우열을 뜻하지 않습니다.</a:t>
            </a:r>
            <a:endParaRPr lang="en-US" sz="1100" dirty="0"/>
          </a:p>
        </p:txBody>
      </p:sp>
      <p:sp>
        <p:nvSpPr>
          <p:cNvPr id="25" name="Slide Number Placeholder 0"/>
          <p:cNvSpPr>
            <a:spLocks noGrp="1"/>
          </p:cNvSpPr>
          <p:nvPr>
            <p:ph type="sldNum" sz="quarter" idx="4294967295"/>
          </p:nvPr>
        </p:nvSpPr>
        <p:spPr>
          <a:xfrm>
            <a:off x="11064240" y="393192"/>
            <a:ext cx="640080" cy="411480"/>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Malgun Gothic"/>
                <a:ea typeface="Malgun Gothic"/>
                <a:cs typeface="Malgun Gothic"/>
              </a:defRPr>
            </a:lvl1pPr>
          </a:lstStyle>
          <a:p>
            <a:pPr algn="l"/>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indent="0" marL="0">
              <a:buNone/>
            </a:pPr>
            <a:r>
              <a:rPr lang="en-US" sz="3200" b="1" dirty="0">
                <a:solidFill>
                  <a:schemeClr val="bg1"/>
                </a:solidFill>
              </a:rPr>
              <a:t>1,824개 조합 중 가장 엄격한 판정은 88건</a:t>
            </a:r>
            <a:endParaRPr lang="en-US" sz="3200" dirty="0"/>
          </a:p>
        </p:txBody>
      </p:sp>
      <p:graphicFrame>
        <p:nvGraphicFramePr>
          <p:cNvPr id="3" name="chart-verdict" descr=""/>
          <p:cNvGraphicFramePr/>
          <p:nvPr/>
        </p:nvGraphicFramePr>
        <p:xfrm>
          <a:off x="548640" y="1325880"/>
          <a:ext cx="7223760" cy="4846320"/>
        </p:xfrm>
        <a:graphic xmlns:a="http://schemas.openxmlformats.org/drawingml/2006/main">
          <a:graphicData uri="http://schemas.openxmlformats.org/drawingml/2006/chart">
            <c:chart xmlns:c="http://schemas.openxmlformats.org/drawingml/2006/chart" r:id="rId1"/>
          </a:graphicData>
        </a:graphic>
      </p:graphicFrame>
      <p:sp>
        <p:nvSpPr>
          <p:cNvPr id="4" name="verdict-callout"/>
          <p:cNvSpPr/>
          <p:nvPr/>
        </p:nvSpPr>
        <p:spPr>
          <a:xfrm>
            <a:off x="8092440" y="1371600"/>
            <a:ext cx="3566160" cy="4800600"/>
          </a:xfrm>
          <a:prstGeom prst="roundRect">
            <a:avLst>
              <a:gd name="adj" fmla="val 2051"/>
            </a:avLst>
          </a:prstGeom>
          <a:solidFill>
            <a:srgbClr val="15151E"/>
          </a:solidFill>
          <a:ln w="19050">
            <a:solidFill>
              <a:srgbClr val="2BD47D"/>
            </a:solidFill>
            <a:prstDash val="solid"/>
          </a:ln>
        </p:spPr>
      </p:sp>
      <p:sp>
        <p:nvSpPr>
          <p:cNvPr id="5" name="verdict-pct-num"/>
          <p:cNvSpPr txBox="1"/>
          <p:nvPr/>
        </p:nvSpPr>
        <p:spPr>
          <a:xfrm>
            <a:off x="8366760" y="1645920"/>
            <a:ext cx="3108960" cy="685800"/>
          </a:xfrm>
          <a:prstGeom prst="rect">
            <a:avLst/>
          </a:prstGeom>
          <a:noFill/>
          <a:ln/>
        </p:spPr>
        <p:txBody>
          <a:bodyPr wrap="square" lIns="0" tIns="0" rIns="0" bIns="0" rtlCol="0" anchor="t"/>
          <a:lstStyle/>
          <a:p>
            <a:pPr indent="0" marL="0">
              <a:buNone/>
            </a:pPr>
            <a:r>
              <a:rPr lang="en-US" sz="3600" b="1" dirty="0">
                <a:solidFill>
                  <a:schemeClr val="accent3"/>
                </a:solidFill>
              </a:rPr>
              <a:t>4.8%</a:t>
            </a:r>
            <a:endParaRPr lang="en-US" sz="3600" dirty="0"/>
          </a:p>
        </p:txBody>
      </p:sp>
      <p:sp>
        <p:nvSpPr>
          <p:cNvPr id="6" name="verdict-pct-label"/>
          <p:cNvSpPr txBox="1"/>
          <p:nvPr/>
        </p:nvSpPr>
        <p:spPr>
          <a:xfrm>
            <a:off x="8366760" y="2359152"/>
            <a:ext cx="3108960" cy="502920"/>
          </a:xfrm>
          <a:prstGeom prst="rect">
            <a:avLst/>
          </a:prstGeom>
          <a:noFill/>
          <a:ln/>
        </p:spPr>
        <p:txBody>
          <a:bodyPr wrap="square" lIns="0" tIns="0" rIns="0" bIns="0" rtlCol="0" anchor="t"/>
          <a:lstStyle/>
          <a:p>
            <a:pPr indent="0" marL="0">
              <a:buNone/>
            </a:pPr>
            <a:r>
              <a:rPr lang="en-US" sz="1200" dirty="0">
                <a:solidFill>
                  <a:schemeClr val="bg2"/>
                </a:solidFill>
              </a:rPr>
              <a:t>가장 엄격한 판정을 통과한 비율 (88 / 1,824)</a:t>
            </a:r>
            <a:endParaRPr lang="en-US" sz="1200" dirty="0"/>
          </a:p>
        </p:txBody>
      </p:sp>
      <p:sp>
        <p:nvSpPr>
          <p:cNvPr id="7" name="verdict-rules"/>
          <p:cNvSpPr txBox="1"/>
          <p:nvPr/>
        </p:nvSpPr>
        <p:spPr>
          <a:xfrm>
            <a:off x="8366760" y="3063240"/>
            <a:ext cx="3108960" cy="21031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bg1"/>
                </a:solidFill>
              </a:rPr>
              <a:t>11가지 정제 조건 모두에서 빠름</a:t>
            </a:r>
            <a:endParaRPr lang="en-US" sz="1300" dirty="0"/>
          </a:p>
          <a:p>
            <a:pPr marL="342900" indent="-342900">
              <a:spcAft>
                <a:spcPts val="600"/>
              </a:spcAft>
              <a:buSzPct val="100000"/>
              <a:buChar char="•"/>
            </a:pPr>
            <a:r>
              <a:rPr lang="en-US" sz="1300" dirty="0">
                <a:solidFill>
                  <a:schemeClr val="bg1"/>
                </a:solidFill>
              </a:rPr>
              <a:t>95% 재표집 구간이 0보다 아래</a:t>
            </a:r>
            <a:endParaRPr lang="en-US" sz="1300" dirty="0"/>
          </a:p>
          <a:p>
            <a:pPr marL="342900" indent="-342900">
              <a:spcAft>
                <a:spcPts val="600"/>
              </a:spcAft>
              <a:buSzPct val="100000"/>
              <a:buChar char="•"/>
            </a:pPr>
            <a:r>
              <a:rPr lang="en-US" sz="1300" dirty="0">
                <a:solidFill>
                  <a:schemeClr val="bg1"/>
                </a:solidFill>
              </a:rPr>
              <a:t>시즌 전·후반 모두 빠름</a:t>
            </a:r>
            <a:endParaRPr lang="en-US" sz="1300" dirty="0"/>
          </a:p>
          <a:p>
            <a:pPr marL="342900" indent="-342900">
              <a:spcAft>
                <a:spcPts val="600"/>
              </a:spcAft>
              <a:buSzPct val="100000"/>
              <a:buChar char="•"/>
            </a:pPr>
            <a:r>
              <a:rPr lang="en-US" sz="1300" dirty="0">
                <a:solidFill>
                  <a:schemeClr val="bg1"/>
                </a:solidFill>
              </a:rPr>
              <a:t>후보 자신의 동료 비교에서도 반복</a:t>
            </a:r>
            <a:endParaRPr lang="en-US" sz="1300" dirty="0"/>
          </a:p>
        </p:txBody>
      </p:sp>
      <p:sp>
        <p:nvSpPr>
          <p:cNvPr id="8" name="verdict-tag"/>
          <p:cNvSpPr txBox="1"/>
          <p:nvPr/>
        </p:nvSpPr>
        <p:spPr>
          <a:xfrm>
            <a:off x="8366760" y="5349240"/>
            <a:ext cx="3108960" cy="548640"/>
          </a:xfrm>
          <a:prstGeom prst="rect">
            <a:avLst/>
          </a:prstGeom>
          <a:noFill/>
          <a:ln/>
        </p:spPr>
        <p:txBody>
          <a:bodyPr wrap="square" lIns="0" tIns="0" rIns="0" bIns="0" rtlCol="0" anchor="t"/>
          <a:lstStyle/>
          <a:p>
            <a:pPr indent="0" marL="0">
              <a:buNone/>
            </a:pPr>
            <a:r>
              <a:rPr lang="en-US" sz="1300" b="1" dirty="0">
                <a:solidFill>
                  <a:schemeClr val="accent3"/>
                </a:solidFill>
              </a:rPr>
              <a:t>쉽게 '추천'하지 않는 보수적 기준</a:t>
            </a:r>
            <a:endParaRPr lang="en-US" sz="1300" dirty="0"/>
          </a:p>
        </p:txBody>
      </p:sp>
      <p:sp>
        <p:nvSpPr>
          <p:cNvPr id="25" name="Slide Number Placeholder 0"/>
          <p:cNvSpPr>
            <a:spLocks noGrp="1"/>
          </p:cNvSpPr>
          <p:nvPr>
            <p:ph type="sldNum" sz="quarter" idx="4294967295"/>
          </p:nvPr>
        </p:nvSpPr>
        <p:spPr>
          <a:xfrm>
            <a:off x="11064240" y="393192"/>
            <a:ext cx="640080" cy="411480"/>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Malgun Gothic"/>
                <a:ea typeface="Malgun Gothic"/>
                <a:cs typeface="Malgun Gothic"/>
              </a:defRPr>
            </a:lvl1pPr>
          </a:lstStyle>
          <a:p>
            <a:pPr algn="l"/>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731520" y="1554480"/>
            <a:ext cx="5486400" cy="822960"/>
          </a:xfrm>
          <a:prstGeom prst="rect">
            <a:avLst/>
          </a:prstGeom>
          <a:noFill/>
          <a:ln/>
        </p:spPr>
        <p:txBody>
          <a:bodyPr wrap="square" lIns="0" tIns="0" rIns="0" bIns="0" rtlCol="0"/>
          <a:lstStyle/>
          <a:p>
            <a:pPr indent="0" marL="0">
              <a:buNone/>
            </a:pPr>
            <a:r>
              <a:rPr lang="en-US" sz="5400" b="1" dirty="0">
                <a:solidFill>
                  <a:schemeClr val="accent1"/>
                </a:solidFill>
              </a:rPr>
              <a:t>03</a:t>
            </a:r>
            <a:endParaRPr lang="en-US" sz="5400" dirty="0"/>
          </a:p>
        </p:txBody>
      </p:sp>
      <p:sp>
        <p:nvSpPr>
          <p:cNvPr id="3" name="Text 0"/>
          <p:cNvSpPr/>
          <p:nvPr>
            <p:ph idx="101" type="title" hasCustomPrompt="1"/>
          </p:nvPr>
        </p:nvSpPr>
        <p:spPr>
          <a:xfrm>
            <a:off x="731520" y="2468880"/>
            <a:ext cx="10058400" cy="1005840"/>
          </a:xfrm>
          <a:prstGeom prst="rect">
            <a:avLst/>
          </a:prstGeom>
          <a:noFill/>
          <a:ln/>
        </p:spPr>
        <p:txBody>
          <a:bodyPr wrap="square" lIns="0" tIns="0" rIns="0" bIns="0" rtlCol="0"/>
          <a:lstStyle/>
          <a:p>
            <a:pPr indent="0" marL="0">
              <a:buNone/>
            </a:pPr>
            <a:r>
              <a:rPr lang="en-US" sz="4400" b="1" dirty="0">
                <a:solidFill>
                  <a:schemeClr val="bg1"/>
                </a:solidFill>
              </a:rPr>
              <a:t>해석의 경계와 다음 랩</a:t>
            </a:r>
            <a:endParaRPr lang="en-US" sz="4400" dirty="0"/>
          </a:p>
        </p:txBody>
      </p:sp>
      <p:sp>
        <p:nvSpPr>
          <p:cNvPr id="4" name="Text 0"/>
          <p:cNvSpPr/>
          <p:nvPr>
            <p:ph idx="102" type="body" hasCustomPrompt="1"/>
          </p:nvPr>
        </p:nvSpPr>
        <p:spPr>
          <a:xfrm>
            <a:off x="731520" y="3566160"/>
            <a:ext cx="9601200" cy="914400"/>
          </a:xfrm>
          <a:prstGeom prst="rect">
            <a:avLst/>
          </a:prstGeom>
          <a:noFill/>
          <a:ln/>
        </p:spPr>
        <p:txBody>
          <a:bodyPr wrap="square" lIns="0" tIns="0" rIns="0" bIns="0" rtlCol="0" anchor="t"/>
          <a:lstStyle/>
          <a:p>
            <a:pPr indent="0" marL="0">
              <a:buNone/>
            </a:pPr>
            <a:r>
              <a:rPr lang="en-US" sz="2000" dirty="0">
                <a:solidFill>
                  <a:schemeClr val="bg2"/>
                </a:solidFill>
              </a:rPr>
              <a:t>말할 수 있는 것과 말하지 않는 것을 구분합니다</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indent="0" marL="0">
              <a:buNone/>
            </a:pPr>
            <a:r>
              <a:rPr lang="en-US" sz="3200" b="1" dirty="0">
                <a:solidFill>
                  <a:schemeClr val="bg1"/>
                </a:solidFill>
              </a:rPr>
              <a:t>이 분석이 주장하지 않는 것</a:t>
            </a:r>
            <a:endParaRPr lang="en-US" sz="3200" dirty="0"/>
          </a:p>
        </p:txBody>
      </p:sp>
      <p:sp>
        <p:nvSpPr>
          <p:cNvPr id="3" name="limit-0"/>
          <p:cNvSpPr/>
          <p:nvPr/>
        </p:nvSpPr>
        <p:spPr>
          <a:xfrm>
            <a:off x="548640" y="1371600"/>
            <a:ext cx="5440680" cy="2148840"/>
          </a:xfrm>
          <a:prstGeom prst="roundRect">
            <a:avLst>
              <a:gd name="adj" fmla="val 3404"/>
            </a:avLst>
          </a:prstGeom>
          <a:solidFill>
            <a:srgbClr val="24242E"/>
          </a:solidFill>
          <a:ln w="9525">
            <a:solidFill>
              <a:srgbClr val="33333F"/>
            </a:solidFill>
            <a:prstDash val="solid"/>
          </a:ln>
        </p:spPr>
      </p:sp>
      <p:sp>
        <p:nvSpPr>
          <p:cNvPr id="4" name="limit-badge-0"/>
          <p:cNvSpPr/>
          <p:nvPr/>
        </p:nvSpPr>
        <p:spPr>
          <a:xfrm>
            <a:off x="822960" y="1645920"/>
            <a:ext cx="548640" cy="548640"/>
          </a:xfrm>
          <a:prstGeom prst="ellipse">
            <a:avLst/>
          </a:prstGeom>
          <a:solidFill>
            <a:srgbClr val="FF8700"/>
          </a:solidFill>
          <a:ln w="12700">
            <a:solidFill>
              <a:srgbClr val="FF8700"/>
            </a:solidFill>
            <a:prstDash val="solid"/>
          </a:ln>
        </p:spPr>
      </p:sp>
      <p:sp>
        <p:nvSpPr>
          <p:cNvPr id="5" name="limit-badge-0-t"/>
          <p:cNvSpPr txBox="1"/>
          <p:nvPr/>
        </p:nvSpPr>
        <p:spPr>
          <a:xfrm>
            <a:off x="822960" y="1645920"/>
            <a:ext cx="548640" cy="548640"/>
          </a:xfrm>
          <a:prstGeom prst="rect">
            <a:avLst/>
          </a:prstGeom>
          <a:noFill/>
          <a:ln/>
        </p:spPr>
        <p:txBody>
          <a:bodyPr wrap="square" lIns="0" tIns="0" rIns="0" bIns="0" rtlCol="0" anchor="ctr"/>
          <a:lstStyle/>
          <a:p>
            <a:pPr algn="ctr" indent="0" marL="0">
              <a:buNone/>
            </a:pPr>
            <a:r>
              <a:rPr lang="en-US" sz="1800" b="1" dirty="0">
                <a:solidFill>
                  <a:srgbClr val="15151E"/>
                </a:solidFill>
              </a:rPr>
              <a:t>!</a:t>
            </a:r>
            <a:endParaRPr lang="en-US" sz="1800" dirty="0"/>
          </a:p>
        </p:txBody>
      </p:sp>
      <p:sp>
        <p:nvSpPr>
          <p:cNvPr id="6" name="limit-h-0"/>
          <p:cNvSpPr txBox="1"/>
          <p:nvPr/>
        </p:nvSpPr>
        <p:spPr>
          <a:xfrm>
            <a:off x="1600200" y="1719072"/>
            <a:ext cx="4114800" cy="411480"/>
          </a:xfrm>
          <a:prstGeom prst="rect">
            <a:avLst/>
          </a:prstGeom>
          <a:noFill/>
          <a:ln/>
        </p:spPr>
        <p:txBody>
          <a:bodyPr wrap="square" lIns="0" tIns="0" rIns="0" bIns="0" rtlCol="0" anchor="t"/>
          <a:lstStyle/>
          <a:p>
            <a:pPr indent="0" marL="0">
              <a:buNone/>
            </a:pPr>
            <a:r>
              <a:rPr lang="en-US" sz="1800" b="1" dirty="0">
                <a:solidFill>
                  <a:schemeClr val="bg1"/>
                </a:solidFill>
              </a:rPr>
              <a:t>차량 효과</a:t>
            </a:r>
            <a:endParaRPr lang="en-US" sz="1800" dirty="0"/>
          </a:p>
        </p:txBody>
      </p:sp>
      <p:sp>
        <p:nvSpPr>
          <p:cNvPr id="7" name="limit-d-0"/>
          <p:cNvSpPr txBox="1"/>
          <p:nvPr/>
        </p:nvSpPr>
        <p:spPr>
          <a:xfrm>
            <a:off x="822960" y="2423160"/>
            <a:ext cx="4892040" cy="914400"/>
          </a:xfrm>
          <a:prstGeom prst="rect">
            <a:avLst/>
          </a:prstGeom>
          <a:noFill/>
          <a:ln/>
        </p:spPr>
        <p:txBody>
          <a:bodyPr wrap="square" lIns="0" tIns="0" rIns="0" bIns="0" rtlCol="0" anchor="t"/>
          <a:lstStyle/>
          <a:p>
            <a:pPr indent="0" marL="0">
              <a:buNone/>
            </a:pPr>
            <a:r>
              <a:rPr lang="en-US" sz="1400" dirty="0">
                <a:solidFill>
                  <a:schemeClr val="bg2"/>
                </a:solidFill>
              </a:rPr>
              <a:t>다른 차량에서 얻은 상대 페이스는 선수 효과와 차량 효과를 완전히 분리하지 못합니다.</a:t>
            </a:r>
            <a:endParaRPr lang="en-US" sz="1400" dirty="0"/>
          </a:p>
        </p:txBody>
      </p:sp>
      <p:sp>
        <p:nvSpPr>
          <p:cNvPr id="8" name="limit-1"/>
          <p:cNvSpPr/>
          <p:nvPr/>
        </p:nvSpPr>
        <p:spPr>
          <a:xfrm>
            <a:off x="6172200" y="1371600"/>
            <a:ext cx="5440680" cy="2148840"/>
          </a:xfrm>
          <a:prstGeom prst="roundRect">
            <a:avLst>
              <a:gd name="adj" fmla="val 3404"/>
            </a:avLst>
          </a:prstGeom>
          <a:solidFill>
            <a:srgbClr val="24242E"/>
          </a:solidFill>
          <a:ln w="9525">
            <a:solidFill>
              <a:srgbClr val="33333F"/>
            </a:solidFill>
            <a:prstDash val="solid"/>
          </a:ln>
        </p:spPr>
      </p:sp>
      <p:sp>
        <p:nvSpPr>
          <p:cNvPr id="9" name="limit-badge-1"/>
          <p:cNvSpPr/>
          <p:nvPr/>
        </p:nvSpPr>
        <p:spPr>
          <a:xfrm>
            <a:off x="6446520" y="1645920"/>
            <a:ext cx="548640" cy="548640"/>
          </a:xfrm>
          <a:prstGeom prst="ellipse">
            <a:avLst/>
          </a:prstGeom>
          <a:solidFill>
            <a:srgbClr val="FF8700"/>
          </a:solidFill>
          <a:ln w="12700">
            <a:solidFill>
              <a:srgbClr val="FF8700"/>
            </a:solidFill>
            <a:prstDash val="solid"/>
          </a:ln>
        </p:spPr>
      </p:sp>
      <p:sp>
        <p:nvSpPr>
          <p:cNvPr id="10" name="limit-badge-1-t"/>
          <p:cNvSpPr txBox="1"/>
          <p:nvPr/>
        </p:nvSpPr>
        <p:spPr>
          <a:xfrm>
            <a:off x="6446520" y="1645920"/>
            <a:ext cx="548640" cy="548640"/>
          </a:xfrm>
          <a:prstGeom prst="rect">
            <a:avLst/>
          </a:prstGeom>
          <a:noFill/>
          <a:ln/>
        </p:spPr>
        <p:txBody>
          <a:bodyPr wrap="square" lIns="0" tIns="0" rIns="0" bIns="0" rtlCol="0" anchor="ctr"/>
          <a:lstStyle/>
          <a:p>
            <a:pPr algn="ctr" indent="0" marL="0">
              <a:buNone/>
            </a:pPr>
            <a:r>
              <a:rPr lang="en-US" sz="1800" b="1" dirty="0">
                <a:solidFill>
                  <a:srgbClr val="15151E"/>
                </a:solidFill>
              </a:rPr>
              <a:t>!</a:t>
            </a:r>
            <a:endParaRPr lang="en-US" sz="1800" dirty="0"/>
          </a:p>
        </p:txBody>
      </p:sp>
      <p:sp>
        <p:nvSpPr>
          <p:cNvPr id="11" name="limit-h-1"/>
          <p:cNvSpPr txBox="1"/>
          <p:nvPr/>
        </p:nvSpPr>
        <p:spPr>
          <a:xfrm>
            <a:off x="7223760" y="1719072"/>
            <a:ext cx="4114800" cy="411480"/>
          </a:xfrm>
          <a:prstGeom prst="rect">
            <a:avLst/>
          </a:prstGeom>
          <a:noFill/>
          <a:ln/>
        </p:spPr>
        <p:txBody>
          <a:bodyPr wrap="square" lIns="0" tIns="0" rIns="0" bIns="0" rtlCol="0" anchor="t"/>
          <a:lstStyle/>
          <a:p>
            <a:pPr indent="0" marL="0">
              <a:buNone/>
            </a:pPr>
            <a:r>
              <a:rPr lang="en-US" sz="1800" b="1" dirty="0">
                <a:solidFill>
                  <a:schemeClr val="bg1"/>
                </a:solidFill>
              </a:rPr>
              <a:t>영입 효과</a:t>
            </a:r>
            <a:endParaRPr lang="en-US" sz="1800" dirty="0"/>
          </a:p>
        </p:txBody>
      </p:sp>
      <p:sp>
        <p:nvSpPr>
          <p:cNvPr id="12" name="limit-d-1"/>
          <p:cNvSpPr txBox="1"/>
          <p:nvPr/>
        </p:nvSpPr>
        <p:spPr>
          <a:xfrm>
            <a:off x="6446520" y="2423160"/>
            <a:ext cx="4892040" cy="914400"/>
          </a:xfrm>
          <a:prstGeom prst="rect">
            <a:avLst/>
          </a:prstGeom>
          <a:noFill/>
          <a:ln/>
        </p:spPr>
        <p:txBody>
          <a:bodyPr wrap="square" lIns="0" tIns="0" rIns="0" bIns="0" rtlCol="0" anchor="t"/>
          <a:lstStyle/>
          <a:p>
            <a:pPr indent="0" marL="0">
              <a:buNone/>
            </a:pPr>
            <a:r>
              <a:rPr lang="en-US" sz="1400" dirty="0">
                <a:solidFill>
                  <a:schemeClr val="bg2"/>
                </a:solidFill>
              </a:rPr>
              <a:t>조건별 우위가 반복되어도 이적 후 성과·순위 상승이 입증되는 것은 아닙니다.</a:t>
            </a:r>
            <a:endParaRPr lang="en-US" sz="1400" dirty="0"/>
          </a:p>
        </p:txBody>
      </p:sp>
      <p:sp>
        <p:nvSpPr>
          <p:cNvPr id="13" name="limit-2"/>
          <p:cNvSpPr/>
          <p:nvPr/>
        </p:nvSpPr>
        <p:spPr>
          <a:xfrm>
            <a:off x="548640" y="3749040"/>
            <a:ext cx="5440680" cy="2148840"/>
          </a:xfrm>
          <a:prstGeom prst="roundRect">
            <a:avLst>
              <a:gd name="adj" fmla="val 3404"/>
            </a:avLst>
          </a:prstGeom>
          <a:solidFill>
            <a:srgbClr val="24242E"/>
          </a:solidFill>
          <a:ln w="9525">
            <a:solidFill>
              <a:srgbClr val="33333F"/>
            </a:solidFill>
            <a:prstDash val="solid"/>
          </a:ln>
        </p:spPr>
      </p:sp>
      <p:sp>
        <p:nvSpPr>
          <p:cNvPr id="14" name="limit-badge-2"/>
          <p:cNvSpPr/>
          <p:nvPr/>
        </p:nvSpPr>
        <p:spPr>
          <a:xfrm>
            <a:off x="822960" y="4023360"/>
            <a:ext cx="548640" cy="548640"/>
          </a:xfrm>
          <a:prstGeom prst="ellipse">
            <a:avLst/>
          </a:prstGeom>
          <a:solidFill>
            <a:srgbClr val="FF8700"/>
          </a:solidFill>
          <a:ln w="12700">
            <a:solidFill>
              <a:srgbClr val="FF8700"/>
            </a:solidFill>
            <a:prstDash val="solid"/>
          </a:ln>
        </p:spPr>
      </p:sp>
      <p:sp>
        <p:nvSpPr>
          <p:cNvPr id="15" name="limit-badge-2-t"/>
          <p:cNvSpPr txBox="1"/>
          <p:nvPr/>
        </p:nvSpPr>
        <p:spPr>
          <a:xfrm>
            <a:off x="822960" y="4023360"/>
            <a:ext cx="548640" cy="548640"/>
          </a:xfrm>
          <a:prstGeom prst="rect">
            <a:avLst/>
          </a:prstGeom>
          <a:noFill/>
          <a:ln/>
        </p:spPr>
        <p:txBody>
          <a:bodyPr wrap="square" lIns="0" tIns="0" rIns="0" bIns="0" rtlCol="0" anchor="ctr"/>
          <a:lstStyle/>
          <a:p>
            <a:pPr algn="ctr" indent="0" marL="0">
              <a:buNone/>
            </a:pPr>
            <a:r>
              <a:rPr lang="en-US" sz="1800" b="1" dirty="0">
                <a:solidFill>
                  <a:srgbClr val="15151E"/>
                </a:solidFill>
              </a:rPr>
              <a:t>!</a:t>
            </a:r>
            <a:endParaRPr lang="en-US" sz="1800" dirty="0"/>
          </a:p>
        </p:txBody>
      </p:sp>
      <p:sp>
        <p:nvSpPr>
          <p:cNvPr id="16" name="limit-h-2"/>
          <p:cNvSpPr txBox="1"/>
          <p:nvPr/>
        </p:nvSpPr>
        <p:spPr>
          <a:xfrm>
            <a:off x="1600200" y="4096512"/>
            <a:ext cx="4114800" cy="411480"/>
          </a:xfrm>
          <a:prstGeom prst="rect">
            <a:avLst/>
          </a:prstGeom>
          <a:noFill/>
          <a:ln/>
        </p:spPr>
        <p:txBody>
          <a:bodyPr wrap="square" lIns="0" tIns="0" rIns="0" bIns="0" rtlCol="0" anchor="t"/>
          <a:lstStyle/>
          <a:p>
            <a:pPr indent="0" marL="0">
              <a:buNone/>
            </a:pPr>
            <a:r>
              <a:rPr lang="en-US" sz="1800" b="1" dirty="0">
                <a:solidFill>
                  <a:schemeClr val="bg1"/>
                </a:solidFill>
              </a:rPr>
              <a:t>포인트</a:t>
            </a:r>
            <a:endParaRPr lang="en-US" sz="1800" dirty="0"/>
          </a:p>
        </p:txBody>
      </p:sp>
      <p:sp>
        <p:nvSpPr>
          <p:cNvPr id="17" name="limit-d-2"/>
          <p:cNvSpPr txBox="1"/>
          <p:nvPr/>
        </p:nvSpPr>
        <p:spPr>
          <a:xfrm>
            <a:off x="822960" y="4800600"/>
            <a:ext cx="4892040" cy="914400"/>
          </a:xfrm>
          <a:prstGeom prst="rect">
            <a:avLst/>
          </a:prstGeom>
          <a:noFill/>
          <a:ln/>
        </p:spPr>
        <p:txBody>
          <a:bodyPr wrap="square" lIns="0" tIns="0" rIns="0" bIns="0" rtlCol="0" anchor="t"/>
          <a:lstStyle/>
          <a:p>
            <a:pPr indent="0" marL="0">
              <a:buNone/>
            </a:pPr>
            <a:r>
              <a:rPr lang="en-US" sz="1400" dirty="0">
                <a:solidFill>
                  <a:schemeClr val="bg2"/>
                </a:solidFill>
              </a:rPr>
              <a:t>본경기 기본 포인트는 Sprint·보너스·예외 배점을 뺀 값으로 공식 챔피언십 점수가 아닙니다.</a:t>
            </a:r>
            <a:endParaRPr lang="en-US" sz="1400" dirty="0"/>
          </a:p>
        </p:txBody>
      </p:sp>
      <p:sp>
        <p:nvSpPr>
          <p:cNvPr id="18" name="limit-3"/>
          <p:cNvSpPr/>
          <p:nvPr/>
        </p:nvSpPr>
        <p:spPr>
          <a:xfrm>
            <a:off x="6172200" y="3749040"/>
            <a:ext cx="5440680" cy="2148840"/>
          </a:xfrm>
          <a:prstGeom prst="roundRect">
            <a:avLst>
              <a:gd name="adj" fmla="val 3404"/>
            </a:avLst>
          </a:prstGeom>
          <a:solidFill>
            <a:srgbClr val="24242E"/>
          </a:solidFill>
          <a:ln w="9525">
            <a:solidFill>
              <a:srgbClr val="33333F"/>
            </a:solidFill>
            <a:prstDash val="solid"/>
          </a:ln>
        </p:spPr>
      </p:sp>
      <p:sp>
        <p:nvSpPr>
          <p:cNvPr id="19" name="limit-badge-3"/>
          <p:cNvSpPr/>
          <p:nvPr/>
        </p:nvSpPr>
        <p:spPr>
          <a:xfrm>
            <a:off x="6446520" y="4023360"/>
            <a:ext cx="548640" cy="548640"/>
          </a:xfrm>
          <a:prstGeom prst="ellipse">
            <a:avLst/>
          </a:prstGeom>
          <a:solidFill>
            <a:srgbClr val="FF8700"/>
          </a:solidFill>
          <a:ln w="12700">
            <a:solidFill>
              <a:srgbClr val="FF8700"/>
            </a:solidFill>
            <a:prstDash val="solid"/>
          </a:ln>
        </p:spPr>
      </p:sp>
      <p:sp>
        <p:nvSpPr>
          <p:cNvPr id="20" name="limit-badge-3-t"/>
          <p:cNvSpPr txBox="1"/>
          <p:nvPr/>
        </p:nvSpPr>
        <p:spPr>
          <a:xfrm>
            <a:off x="6446520" y="4023360"/>
            <a:ext cx="548640" cy="548640"/>
          </a:xfrm>
          <a:prstGeom prst="rect">
            <a:avLst/>
          </a:prstGeom>
          <a:noFill/>
          <a:ln/>
        </p:spPr>
        <p:txBody>
          <a:bodyPr wrap="square" lIns="0" tIns="0" rIns="0" bIns="0" rtlCol="0" anchor="ctr"/>
          <a:lstStyle/>
          <a:p>
            <a:pPr algn="ctr" indent="0" marL="0">
              <a:buNone/>
            </a:pPr>
            <a:r>
              <a:rPr lang="en-US" sz="1800" b="1" dirty="0">
                <a:solidFill>
                  <a:srgbClr val="15151E"/>
                </a:solidFill>
              </a:rPr>
              <a:t>!</a:t>
            </a:r>
            <a:endParaRPr lang="en-US" sz="1800" dirty="0"/>
          </a:p>
        </p:txBody>
      </p:sp>
      <p:sp>
        <p:nvSpPr>
          <p:cNvPr id="21" name="limit-h-3"/>
          <p:cNvSpPr txBox="1"/>
          <p:nvPr/>
        </p:nvSpPr>
        <p:spPr>
          <a:xfrm>
            <a:off x="7223760" y="4096512"/>
            <a:ext cx="4114800" cy="411480"/>
          </a:xfrm>
          <a:prstGeom prst="rect">
            <a:avLst/>
          </a:prstGeom>
          <a:noFill/>
          <a:ln/>
        </p:spPr>
        <p:txBody>
          <a:bodyPr wrap="square" lIns="0" tIns="0" rIns="0" bIns="0" rtlCol="0" anchor="t"/>
          <a:lstStyle/>
          <a:p>
            <a:pPr indent="0" marL="0">
              <a:buNone/>
            </a:pPr>
            <a:r>
              <a:rPr lang="en-US" sz="1800" b="1" dirty="0">
                <a:solidFill>
                  <a:schemeClr val="bg1"/>
                </a:solidFill>
              </a:rPr>
              <a:t>경제 가치</a:t>
            </a:r>
            <a:endParaRPr lang="en-US" sz="1800" dirty="0"/>
          </a:p>
        </p:txBody>
      </p:sp>
      <p:sp>
        <p:nvSpPr>
          <p:cNvPr id="22" name="limit-d-3"/>
          <p:cNvSpPr txBox="1"/>
          <p:nvPr/>
        </p:nvSpPr>
        <p:spPr>
          <a:xfrm>
            <a:off x="6446520" y="4800600"/>
            <a:ext cx="4892040" cy="914400"/>
          </a:xfrm>
          <a:prstGeom prst="rect">
            <a:avLst/>
          </a:prstGeom>
          <a:noFill/>
          <a:ln/>
        </p:spPr>
        <p:txBody>
          <a:bodyPr wrap="square" lIns="0" tIns="0" rIns="0" bIns="0" rtlCol="0" anchor="t"/>
          <a:lstStyle/>
          <a:p>
            <a:pPr indent="0" marL="0">
              <a:buNone/>
            </a:pPr>
            <a:r>
              <a:rPr lang="en-US" sz="1400" dirty="0">
                <a:solidFill>
                  <a:schemeClr val="bg2"/>
                </a:solidFill>
              </a:rPr>
              <a:t>배분금·스폰서 수익 금액은 계산하지 않고, 성적과의 관계만 정성적으로 설명합니다.</a:t>
            </a:r>
            <a:endParaRPr lang="en-US" sz="1400" dirty="0"/>
          </a:p>
        </p:txBody>
      </p:sp>
      <p:sp>
        <p:nvSpPr>
          <p:cNvPr id="23" name="limit-foot"/>
          <p:cNvSpPr txBox="1"/>
          <p:nvPr/>
        </p:nvSpPr>
        <p:spPr>
          <a:xfrm>
            <a:off x="548640" y="6172200"/>
            <a:ext cx="11109960" cy="320040"/>
          </a:xfrm>
          <a:prstGeom prst="rect">
            <a:avLst/>
          </a:prstGeom>
          <a:noFill/>
          <a:ln/>
        </p:spPr>
        <p:txBody>
          <a:bodyPr wrap="square" lIns="0" tIns="0" rIns="0" bIns="0" rtlCol="0" anchor="t"/>
          <a:lstStyle/>
          <a:p>
            <a:pPr indent="0" marL="0">
              <a:buNone/>
            </a:pPr>
            <a:r>
              <a:rPr lang="en-US" sz="1100" dirty="0">
                <a:solidFill>
                  <a:schemeClr val="accent4"/>
                </a:solidFill>
              </a:rPr>
              <a:t>후보 비교는 다수 후보를 훑는 탐색적 선별이며, 95% 구간은 다중 비교 보정을 하지 않았습니다. 확정하려면 독립된 시즌으로 검증해야 합니다.</a:t>
            </a:r>
            <a:endParaRPr lang="en-US" sz="1100" dirty="0"/>
          </a:p>
        </p:txBody>
      </p:sp>
      <p:sp>
        <p:nvSpPr>
          <p:cNvPr id="25" name="Slide Number Placeholder 0"/>
          <p:cNvSpPr>
            <a:spLocks noGrp="1"/>
          </p:cNvSpPr>
          <p:nvPr>
            <p:ph type="sldNum" sz="quarter" idx="4294967295"/>
          </p:nvPr>
        </p:nvSpPr>
        <p:spPr>
          <a:xfrm>
            <a:off x="11064240" y="393192"/>
            <a:ext cx="640080" cy="411480"/>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Malgun Gothic"/>
                <a:ea typeface="Malgun Gothic"/>
                <a:cs typeface="Malgun Gothic"/>
              </a:defRPr>
            </a:lvl1pPr>
          </a:lstStyle>
          <a:p>
            <a:pPr algn="l"/>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40080" y="1417320"/>
            <a:ext cx="7680960" cy="411480"/>
          </a:xfrm>
          <a:prstGeom prst="rect">
            <a:avLst/>
          </a:prstGeom>
          <a:noFill/>
          <a:ln/>
        </p:spPr>
        <p:txBody>
          <a:bodyPr wrap="square" lIns="0" tIns="0" rIns="0" bIns="0" rtlCol="0"/>
          <a:lstStyle/>
          <a:p>
            <a:pPr indent="0" marL="0">
              <a:buNone/>
            </a:pPr>
            <a:r>
              <a:rPr lang="en-US" sz="1400" b="1" spc="400" kern="0" dirty="0">
                <a:solidFill>
                  <a:schemeClr val="accent1"/>
                </a:solidFill>
              </a:rPr>
              <a:t>CHEQUERED FLAG</a:t>
            </a:r>
            <a:endParaRPr lang="en-US" sz="1400" dirty="0"/>
          </a:p>
        </p:txBody>
      </p:sp>
      <p:sp>
        <p:nvSpPr>
          <p:cNvPr id="3" name="Text 0"/>
          <p:cNvSpPr/>
          <p:nvPr>
            <p:ph idx="101" type="title" hasCustomPrompt="1"/>
          </p:nvPr>
        </p:nvSpPr>
        <p:spPr>
          <a:xfrm>
            <a:off x="640080" y="1874520"/>
            <a:ext cx="7863840" cy="1828800"/>
          </a:xfrm>
          <a:prstGeom prst="rect">
            <a:avLst/>
          </a:prstGeom>
          <a:noFill/>
          <a:ln/>
        </p:spPr>
        <p:txBody>
          <a:bodyPr wrap="square" lIns="0" tIns="0" rIns="0" bIns="0" rtlCol="0" anchor="t"/>
          <a:lstStyle/>
          <a:p>
            <a:pPr indent="0" marL="0">
              <a:buNone/>
            </a:pPr>
            <a:r>
              <a:rPr lang="en-US" sz="4800" b="1" dirty="0">
                <a:solidFill>
                  <a:schemeClr val="bg1"/>
                </a:solidFill>
              </a:rPr>
              <a:t>결론과 다음 랩</a:t>
            </a:r>
            <a:endParaRPr lang="en-US" sz="4800" dirty="0"/>
          </a:p>
        </p:txBody>
      </p:sp>
      <p:sp>
        <p:nvSpPr>
          <p:cNvPr id="4" name="Text 0"/>
          <p:cNvSpPr/>
          <p:nvPr>
            <p:ph idx="102" type="body" hasCustomPrompt="1"/>
          </p:nvPr>
        </p:nvSpPr>
        <p:spPr>
          <a:xfrm>
            <a:off x="640080" y="3886200"/>
            <a:ext cx="7680960" cy="1280160"/>
          </a:xfrm>
          <a:prstGeom prst="rect">
            <a:avLst/>
          </a:prstGeom>
          <a:noFill/>
          <a:ln/>
        </p:spPr>
        <p:txBody>
          <a:bodyPr wrap="square" lIns="0" tIns="0" rIns="0" bIns="0" rtlCol="0" anchor="t"/>
          <a:lstStyle/>
          <a:p>
            <a:pPr indent="0" marL="0">
              <a:buNone/>
            </a:pPr>
            <a:r>
              <a:rPr lang="en-US" sz="2200" dirty="0">
                <a:solidFill>
                  <a:schemeClr val="bg2"/>
                </a:solidFill>
              </a:rPr>
              <a:t>데이터로 약점을 진단하고, 그 약점을 메울 후보를 근거와 함께 좁힌다</a:t>
            </a:r>
            <a:endParaRPr lang="en-US" sz="2200" dirty="0"/>
          </a:p>
        </p:txBody>
      </p:sp>
      <p:sp>
        <p:nvSpPr>
          <p:cNvPr id="5" name="next-badge-0"/>
          <p:cNvSpPr/>
          <p:nvPr/>
        </p:nvSpPr>
        <p:spPr>
          <a:xfrm>
            <a:off x="640080" y="4837176"/>
            <a:ext cx="310896" cy="310896"/>
          </a:xfrm>
          <a:prstGeom prst="ellipse">
            <a:avLst/>
          </a:prstGeom>
          <a:solidFill>
            <a:srgbClr val="E10600"/>
          </a:solidFill>
          <a:ln w="12700">
            <a:solidFill>
              <a:srgbClr val="E10600"/>
            </a:solidFill>
            <a:prstDash val="solid"/>
          </a:ln>
        </p:spPr>
      </p:sp>
      <p:sp>
        <p:nvSpPr>
          <p:cNvPr id="6" name="next-badge-0-t"/>
          <p:cNvSpPr txBox="1"/>
          <p:nvPr/>
        </p:nvSpPr>
        <p:spPr>
          <a:xfrm>
            <a:off x="640080" y="4837176"/>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rPr>
              <a:t>1</a:t>
            </a:r>
            <a:endParaRPr lang="en-US" sz="1000" dirty="0"/>
          </a:p>
        </p:txBody>
      </p:sp>
      <p:sp>
        <p:nvSpPr>
          <p:cNvPr id="7" name="next-0"/>
          <p:cNvSpPr txBox="1"/>
          <p:nvPr/>
        </p:nvSpPr>
        <p:spPr>
          <a:xfrm>
            <a:off x="1097280" y="4837176"/>
            <a:ext cx="7315200" cy="365760"/>
          </a:xfrm>
          <a:prstGeom prst="rect">
            <a:avLst/>
          </a:prstGeom>
          <a:noFill/>
          <a:ln/>
        </p:spPr>
        <p:txBody>
          <a:bodyPr wrap="square" lIns="0" tIns="0" rIns="0" bIns="0" rtlCol="0" anchor="t"/>
          <a:lstStyle/>
          <a:p>
            <a:pPr indent="0" marL="0">
              <a:buNone/>
            </a:pPr>
            <a:r>
              <a:rPr lang="en-US" sz="1400" dirty="0">
                <a:solidFill>
                  <a:schemeClr val="bg1"/>
                </a:solidFill>
              </a:rPr>
              <a:t>분석 코드를 저장소로 가져와 Silver에서 Gold를 다시 계산</a:t>
            </a:r>
            <a:endParaRPr lang="en-US" sz="1400" dirty="0"/>
          </a:p>
        </p:txBody>
      </p:sp>
      <p:sp>
        <p:nvSpPr>
          <p:cNvPr id="8" name="next-badge-1"/>
          <p:cNvSpPr/>
          <p:nvPr/>
        </p:nvSpPr>
        <p:spPr>
          <a:xfrm>
            <a:off x="640080" y="5294376"/>
            <a:ext cx="310896" cy="310896"/>
          </a:xfrm>
          <a:prstGeom prst="ellipse">
            <a:avLst/>
          </a:prstGeom>
          <a:solidFill>
            <a:srgbClr val="E10600"/>
          </a:solidFill>
          <a:ln w="12700">
            <a:solidFill>
              <a:srgbClr val="E10600"/>
            </a:solidFill>
            <a:prstDash val="solid"/>
          </a:ln>
        </p:spPr>
      </p:sp>
      <p:sp>
        <p:nvSpPr>
          <p:cNvPr id="9" name="next-badge-1-t"/>
          <p:cNvSpPr txBox="1"/>
          <p:nvPr/>
        </p:nvSpPr>
        <p:spPr>
          <a:xfrm>
            <a:off x="640080" y="5294376"/>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0" name="next-1"/>
          <p:cNvSpPr txBox="1"/>
          <p:nvPr/>
        </p:nvSpPr>
        <p:spPr>
          <a:xfrm>
            <a:off x="1097280" y="5294376"/>
            <a:ext cx="7315200" cy="365760"/>
          </a:xfrm>
          <a:prstGeom prst="rect">
            <a:avLst/>
          </a:prstGeom>
          <a:noFill/>
          <a:ln/>
        </p:spPr>
        <p:txBody>
          <a:bodyPr wrap="square" lIns="0" tIns="0" rIns="0" bIns="0" rtlCol="0" anchor="t"/>
          <a:lstStyle/>
          <a:p>
            <a:pPr indent="0" marL="0">
              <a:buNone/>
            </a:pPr>
            <a:r>
              <a:rPr lang="en-US" sz="1400" dirty="0">
                <a:solidFill>
                  <a:schemeClr val="bg1"/>
                </a:solidFill>
              </a:rPr>
              <a:t>추가 5종의 원본 응답(JSON)·수집 로그를 Bronze에 보존</a:t>
            </a:r>
            <a:endParaRPr lang="en-US" sz="1400" dirty="0"/>
          </a:p>
        </p:txBody>
      </p:sp>
      <p:sp>
        <p:nvSpPr>
          <p:cNvPr id="11" name="next-badge-2"/>
          <p:cNvSpPr/>
          <p:nvPr/>
        </p:nvSpPr>
        <p:spPr>
          <a:xfrm>
            <a:off x="640080" y="5751576"/>
            <a:ext cx="310896" cy="310896"/>
          </a:xfrm>
          <a:prstGeom prst="ellipse">
            <a:avLst/>
          </a:prstGeom>
          <a:solidFill>
            <a:srgbClr val="E10600"/>
          </a:solidFill>
          <a:ln w="12700">
            <a:solidFill>
              <a:srgbClr val="E10600"/>
            </a:solidFill>
            <a:prstDash val="solid"/>
          </a:ln>
        </p:spPr>
      </p:sp>
      <p:sp>
        <p:nvSpPr>
          <p:cNvPr id="12" name="next-badge-2-t"/>
          <p:cNvSpPr txBox="1"/>
          <p:nvPr/>
        </p:nvSpPr>
        <p:spPr>
          <a:xfrm>
            <a:off x="640080" y="5751576"/>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3" name="next-2"/>
          <p:cNvSpPr txBox="1"/>
          <p:nvPr/>
        </p:nvSpPr>
        <p:spPr>
          <a:xfrm>
            <a:off x="1097280" y="5751576"/>
            <a:ext cx="7315200" cy="365760"/>
          </a:xfrm>
          <a:prstGeom prst="rect">
            <a:avLst/>
          </a:prstGeom>
          <a:noFill/>
          <a:ln/>
        </p:spPr>
        <p:txBody>
          <a:bodyPr wrap="square" lIns="0" tIns="0" rIns="0" bIns="0" rtlCol="0" anchor="t"/>
          <a:lstStyle/>
          <a:p>
            <a:pPr indent="0" marL="0">
              <a:buNone/>
            </a:pPr>
            <a:r>
              <a:rPr lang="en-US" sz="1400" dirty="0">
                <a:solidFill>
                  <a:schemeClr val="bg1"/>
                </a:solidFill>
              </a:rPr>
              <a:t>후보 본인의 동료 비교·차량 효과 보정으로 개인 우위 확인</a:t>
            </a:r>
            <a:endParaRPr lang="en-US" sz="1400" dirty="0"/>
          </a:p>
        </p:txBody>
      </p:sp>
      <p:sp>
        <p:nvSpPr>
          <p:cNvPr id="14" name="next-badge-3"/>
          <p:cNvSpPr/>
          <p:nvPr/>
        </p:nvSpPr>
        <p:spPr>
          <a:xfrm>
            <a:off x="640080" y="6208776"/>
            <a:ext cx="310896" cy="310896"/>
          </a:xfrm>
          <a:prstGeom prst="ellipse">
            <a:avLst/>
          </a:prstGeom>
          <a:solidFill>
            <a:srgbClr val="E10600"/>
          </a:solidFill>
          <a:ln w="12700">
            <a:solidFill>
              <a:srgbClr val="E10600"/>
            </a:solidFill>
            <a:prstDash val="solid"/>
          </a:ln>
        </p:spPr>
      </p:sp>
      <p:sp>
        <p:nvSpPr>
          <p:cNvPr id="15" name="next-badge-3-t"/>
          <p:cNvSpPr txBox="1"/>
          <p:nvPr/>
        </p:nvSpPr>
        <p:spPr>
          <a:xfrm>
            <a:off x="640080" y="6208776"/>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6" name="next-3"/>
          <p:cNvSpPr txBox="1"/>
          <p:nvPr/>
        </p:nvSpPr>
        <p:spPr>
          <a:xfrm>
            <a:off x="1097280" y="6208776"/>
            <a:ext cx="7315200" cy="365760"/>
          </a:xfrm>
          <a:prstGeom prst="rect">
            <a:avLst/>
          </a:prstGeom>
          <a:noFill/>
          <a:ln/>
        </p:spPr>
        <p:txBody>
          <a:bodyPr wrap="square" lIns="0" tIns="0" rIns="0" bIns="0" rtlCol="0" anchor="t"/>
          <a:lstStyle/>
          <a:p>
            <a:pPr indent="0" marL="0">
              <a:buNone/>
            </a:pPr>
            <a:r>
              <a:rPr lang="en-US" sz="1400" dirty="0">
                <a:solidFill>
                  <a:schemeClr val="bg1"/>
                </a:solidFill>
              </a:rPr>
              <a:t>다음 시즌 데이터로 판정의 독립 검증</a:t>
            </a:r>
            <a:endParaRPr lang="en-US" sz="1400" dirty="0"/>
          </a:p>
        </p:txBody>
      </p:sp>
    </p:spTree>
  </p:cSld>
  <p:clrMapOvr>
    <a:masterClrMapping/>
  </p:clrMapOvr>
</p:sld>
</file>

<file path=ppt/theme/theme1.xml><?xml version="1.0" encoding="utf-8"?>
<a:theme xmlns:a="http://schemas.openxmlformats.org/drawingml/2006/main" name="F1 Carbon">
  <a:themeElements>
    <a:clrScheme name="F1 Carbon">
      <a:dk1>
        <a:srgbClr val="15151E"/>
      </a:dk1>
      <a:lt1>
        <a:srgbClr val="FFFFFF"/>
      </a:lt1>
      <a:dk2>
        <a:srgbClr val="24242E"/>
      </a:dk2>
      <a:lt2>
        <a:srgbClr val="B9BAC4"/>
      </a:lt2>
      <a:accent1>
        <a:srgbClr val="E10600"/>
      </a:accent1>
      <a:accent2>
        <a:srgbClr val="FF8700"/>
      </a:accent2>
      <a:accent3>
        <a:srgbClr val="2BD47D"/>
      </a:accent3>
      <a:accent4>
        <a:srgbClr val="8A8D9A"/>
      </a:accent4>
      <a:accent5>
        <a:srgbClr val="33333F"/>
      </a:accent5>
      <a:accent6>
        <a:srgbClr val="FFC845"/>
      </a:accent6>
      <a:hlink>
        <a:srgbClr val="FF8700"/>
      </a:hlink>
      <a:folHlink>
        <a:srgbClr val="B9BAC4"/>
      </a:folHlink>
    </a:clrScheme>
    <a:fontScheme name="F1 Carbon">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Team 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 Team Builder Intelligence</dc:title>
  <dc:subject>PptxGenJS Presentation</dc:subject>
  <dc:creator>Team 1</dc:creator>
  <cp:lastModifiedBy>Team 1</cp:lastModifiedBy>
  <cp:revision>1</cp:revision>
  <dcterms:created xsi:type="dcterms:W3CDTF">2026-10-15T10:39:43Z</dcterms:created>
  <dcterms:modified xsi:type="dcterms:W3CDTF">2026-10-15T10:39:43Z</dcterms:modified>
</cp:coreProperties>
</file>