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3" r:id="rId34"/>
    <p:sldId id="284" r:id="rId35"/>
    <p:sldId id="273" r:id="rId19"/>
    <p:sldId id="274" r:id="rId20"/>
    <p:sldId id="275" r:id="rId21"/>
    <p:sldId id="282" r:id="rId33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18581a8-08b9-8a1a-71d5-04f8de0bb3ab}">
          <p14:sldIdLst>
            <p14:sldId id="256"/>
          </p14:sldIdLst>
        </p14:section>
        <p14:section name="요약" id="{40b4c916-a5e8-a385-5309-5e73b582b187}">
          <p14:sldIdLst>
            <p14:sldId id="257"/>
            <p14:sldId id="258"/>
          </p14:sldIdLst>
        </p14:section>
        <p14:section name="숫자를 믿을 수 있게" id="{ab104b27-2912-3628-1dec-d54ffe43811c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우리 팀은 어디가 약한가" id="{b0fcbd77-edf1-8a20-2287-475e7ed2217f}">
          <p14:sldIdLst>
            <p14:sldId id="266"/>
            <p14:sldId id="267"/>
            <p14:sldId id="268"/>
            <p14:sldId id="269"/>
            <p14:sldId id="270"/>
          </p14:sldIdLst>
        </p14:section>
        <p14:section name="누가 그 약점을 메울 수 있나" id="{851b5c8e-2305-e1ac-5a28-477946c80257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무엇을 할 것인가" id="{048ae2c4-45ba-25c3-8222-0ccaf6b7d3e5}">
          <p14:sldIdLst>
            <p14:sldId id="277"/>
            <p14:sldId id="278"/>
          </p14:sldIdLst>
        </p14:section>
        <p14:section name="마무리" id="{9e8f0155-71aa-4220-8f9b-d785292de5cb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4" Type="http://schemas.openxmlformats.org/officeDocument/2006/relationships/slide" Target="slides/slide18.xml"/><Relationship Id="rId3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오류 유형별 탐지 건수 (로그 눈금)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탐지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결측</c:v>
                  </c:pt>
                  <c:pt idx="1">
                    <c:v>이상치</c:v>
                  </c:pt>
                  <c:pt idx="2">
                    <c:v>값 오류</c:v>
                  </c:pt>
                  <c:pt idx="3">
                    <c:v>값 뒤바뀜</c:v>
                  </c:pt>
                  <c:pt idx="4">
                    <c:v>파일 내 불일치</c:v>
                  </c:pt>
                  <c:pt idx="5">
                    <c:v>구간 중첩</c:v>
                  </c:pt>
                  <c:pt idx="6">
                    <c:v>파일 간 불일치</c:v>
                  </c:pt>
                  <c:pt idx="7">
                    <c:v>참조 무결성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27485</c:v>
                </c:pt>
                <c:pt idx="1">
                  <c:v>416</c:v>
                </c:pt>
                <c:pt idx="2">
                  <c:v>118</c:v>
                </c:pt>
                <c:pt idx="3">
                  <c:v>24</c:v>
                </c:pt>
                <c:pt idx="4">
                  <c:v>22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검증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1A1A"/>
              </a:solidFill>
              <a:effectLst/>
            </c:spPr>
          </c:dPt>
          <c:dPt>
            <c:idx val="1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bubble3D val="0"/>
            <c:spPr>
              <a:solidFill>
                <a:srgbClr val="E10600"/>
              </a:solidFill>
              <a:effectLst/>
            </c:spPr>
          </c:dPt>
          <c:dPt>
            <c:idx val="3"/>
            <c:bubble3D val="0"/>
            <c:spPr>
              <a:solidFill>
                <a:srgbClr val="7A030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PASS</c:v>
                </c:pt>
                <c:pt idx="1">
                  <c:v>INFO</c:v>
                </c:pt>
                <c:pt idx="2">
                  <c:v>WARN</c:v>
                </c:pt>
                <c:pt idx="3">
                  <c:v>FAIL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127</c:v>
                </c:pt>
                <c:pt idx="1">
                  <c:v>20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</c:ser>
        <c:firstSliceAng val="0"/>
        <c:holeSize val="64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B6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필드 상대 페이스 (%, 낮을수록 빠름)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상대 페이스 (%, 낮을수록 빠름)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Ferrari</c:v>
                  </c:pt>
                  <c:pt idx="2">
                    <c:v>Mercedes</c:v>
                  </c:pt>
                  <c:pt idx="3">
                    <c:v>Red Bull Racing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-1.162</c:v>
                </c:pt>
                <c:pt idx="1">
                  <c:v>-0.566</c:v>
                </c:pt>
                <c:pt idx="2">
                  <c:v>-0.336</c:v>
                </c:pt>
                <c:pt idx="3">
                  <c:v>-0.287</c:v>
                </c:pt>
                <c:pt idx="4">
                  <c:v>0.198</c:v>
                </c:pt>
                <c:pt idx="5">
                  <c:v>0.285</c:v>
                </c:pt>
                <c:pt idx="6">
                  <c:v>0.46</c:v>
                </c:pt>
                <c:pt idx="7">
                  <c:v>0.504</c:v>
                </c:pt>
                <c:pt idx="8">
                  <c:v>0.61</c:v>
                </c:pt>
                <c:pt idx="9">
                  <c:v>0.792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피트레인 시간 차이 (초, +면 긴 쪽)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피트레인 시간 차이 (초, +면 긴 쪽)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Ferrari</c:v>
                  </c:pt>
                  <c:pt idx="1">
                    <c:v>McLaren</c:v>
                  </c:pt>
                  <c:pt idx="2">
                    <c:v>Racing Bulls</c:v>
                  </c:pt>
                  <c:pt idx="3">
                    <c:v>Mercedes</c:v>
                  </c:pt>
                  <c:pt idx="4">
                    <c:v>Red Bull Racing</c:v>
                  </c:pt>
                  <c:pt idx="5">
                    <c:v>Kick Sauber</c:v>
                  </c:pt>
                  <c:pt idx="6">
                    <c:v>Williams</c:v>
                  </c:pt>
                  <c:pt idx="7">
                    <c:v>Aston Martin</c:v>
                  </c:pt>
                  <c:pt idx="8">
                    <c:v>Alpine</c:v>
                  </c:pt>
                  <c:pt idx="9">
                    <c:v>Haas F1 Team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-0.567</c:v>
                </c:pt>
                <c:pt idx="1">
                  <c:v>-0.282</c:v>
                </c:pt>
                <c:pt idx="2">
                  <c:v>-0.271</c:v>
                </c:pt>
                <c:pt idx="3">
                  <c:v>-0.18</c:v>
                </c:pt>
                <c:pt idx="4">
                  <c:v>-0.106</c:v>
                </c:pt>
                <c:pt idx="5">
                  <c:v>-0.091</c:v>
                </c:pt>
                <c:pt idx="6">
                  <c:v>0.049</c:v>
                </c:pt>
                <c:pt idx="7">
                  <c:v>0.282</c:v>
                </c:pt>
                <c:pt idx="8">
                  <c:v>0.388</c:v>
                </c:pt>
                <c:pt idx="9">
                  <c:v>0.412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본경기 기본 포인트 (점)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본경기 기본 포인트 (점)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Mercedes</c:v>
                  </c:pt>
                  <c:pt idx="2">
                    <c:v>Red Bull Racing</c:v>
                  </c:pt>
                  <c:pt idx="3">
                    <c:v>Ferrari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775</c:v>
                </c:pt>
                <c:pt idx="1">
                  <c:v>424</c:v>
                </c:pt>
                <c:pt idx="2">
                  <c:v>410</c:v>
                </c:pt>
                <c:pt idx="3">
                  <c:v>360</c:v>
                </c:pt>
                <c:pt idx="4">
                  <c:v>124</c:v>
                </c:pt>
                <c:pt idx="5">
                  <c:v>88</c:v>
                </c:pt>
                <c:pt idx="6">
                  <c:v>80</c:v>
                </c:pt>
                <c:pt idx="7">
                  <c:v>73</c:v>
                </c:pt>
                <c:pt idx="8">
                  <c:v>70</c:v>
                </c:pt>
                <c:pt idx="9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판정 분포 (조합 수)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조합 수</c:v>
                </c:pt>
              </c:strCache>
            </c:strRef>
          </c:tx>
          <c:spPr>
            <a:solidFill>
              <a:srgbClr val="E10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동료 비교까지 반복</c:v>
                  </c:pt>
                  <c:pt idx="1">
                    <c:v>페이스 우위 반복</c:v>
                  </c:pt>
                  <c:pt idx="2">
                    <c:v>조건·표본에 민감</c:v>
                  </c:pt>
                  <c:pt idx="3">
                    <c:v>우위 근거 없음</c:v>
                  </c:pt>
                  <c:pt idx="4">
                    <c:v>표본 부족·보류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349</c:v>
                </c:pt>
                <c:pt idx="2">
                  <c:v>513</c:v>
                </c:pt>
                <c:pt idx="3">
                  <c:v>516</c:v>
                </c:pt>
                <c:pt idx="4">
                  <c:v>358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 팀이 드라이버를 영입할 때 가장 빠른 선수가 아니라 우리 팀의 약점을 메울 선수를 데이터로 찾는 것이 질문입니다. 모든 숫자는 같은 기준에서 나왔고, 결론은 RUSSELL과 LECLERC 두 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결론부터 말씀드립니다. 2025 Aston Martin의 STROLL 자리에는 RUSSELL을 1순위로 검토합니다. RUSSELL과 LECLERC는 같은 경기 비교와 같은 차 동료 비교 모두에서 빠릅니다. 둘 중 RUSSELL은 우리 팀 강점인 타이어 유지를 지키고, LECLERC는 페이스 근거가 더 크지만 타이어 유지를 확인한 뒤 2순위로 둡니다. 영입과 별개로 피트레인 손실은 지금 바로 점검할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말씀드립니다. 데이터는 믿을 수 있게 만들었고, Aston Martin의 약점은 페이스와 피트 운영이며, 우선 검토 후보는 RUSSELL과 LECLERC 두 명입니다. 이후 섹션은 이 세 문장의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섹션은 숫자를 믿을 수 있게 만든 과정입니다. 지표 정의, 데이터 범위와 한계, 정제, 검증 순서로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지표를 먼저 정의했습니다. 서킷마다 랩타임이 달라 절대 시간 대신 같은 조건의 상대 페이스를 씁니다. 포인트는 공식 챔피언십이 아닌 본경기 기본 배점 재구성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데이터가 무엇이고, 분석할 때 어떤 한계를 알고 있어야 하는지 정리했습니다. 연결되지 않는 기록은 지우지 않고 해당 비교에서만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6종만으로는 빠른 기록이 실제 성적으로 이어졌는지, 비교한 랩이 안전차 구간을 포함하지 않았는지, 앞차에 막힌 랩인지 알 수 없었습니다. 그래서 결과, 출발 순위, 경기 통제, 격차 데이터를 추가했습니다. position은 품질 점검까지만 했고 순위 타임라인은 이번 범위에서 빠졌습니다.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탐지한 28,071건 중 27,485건이 결측이고, 대부분은 속도·1랩 랩타임처럼 원천 특성이라 허용으로 기록했습니다. 근거가 있는 1,357셀만 복구했고, 근거가 없는 4행은 격리했습니다. ERROR 등급 결함이 있던 파일 5개가 정제 후 0개가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규칙을 두 도구로 두 번 돌려 결과가 같았다는 것이 이 숫자를 믿을 수 있는 근거입니다. 같은 검사를 정제 전 원본에 돌리면 FAIL이 12건 나오고, 정제 후에는 0건입니다. 12건 중 9건은 sessions의 대회 키 2개가 오염돼 연결된 9개 파일이 함께 어긋난 것이었습니다.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데이터를 품질 단계별로 쌓았습니다. 저장소 폴더도 같은 단계로 정리했고, 관리자 화면에서 전체를 다시 실행할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섹션은 팀 진단입니다. 2025 Aston Martin을 예로, 처음 생각한 가설을 데이터로 하나씩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서킷마다 랩타임이 달라 같은 경기·같은 타이어 구간의 상대 페이스로 비교했습니다. Aston Martin은 10팀 중 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 여섯 개를 판정했습니다. 라인업 가설은 중앙값이 느리게 나왔지만 95% 구간이 0을 포함해 보류했습니다. 타이어는 방향은 같지만 크기가 가장 작아 약점으로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피트 운영은 영입할 선수와 별개로 팀이 가진 운영 환경입니다. 1초 넘게 길어진 피트가 네 번에 한 번꼴입니다.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중위권 접전이라 몇 점 차이가 순위를 바꿀 수 있는 위치입니다. 이것이 영입 검토의 배경이지만 금액은 추정하지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세 번째 섹션은 후보 검토입니다. 같은 경기 비교와 같은 차 동료 비교로 같은 환경을 두 단계로 나누고, 우리 약점에서 출발한 기준으로 후보를 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후보를 하나의 점수로 줄 세우지 않습니다. 같은 표에서 보면 지표마다 앞서는 선수가 다릅니다. 네 조건을 모두 통과한 후보는 RUSSELL과 LECLERC입니다.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19명 중 7명이 기준 선수보다 빨랐고, 그중 자기 팀 동료 대비 우위까지 모든 조건에서 반복된 선수는 RUSSELL과 LECLERC 두 명입니다. RUSSELL은 일관성이 상위 10%라 1순위로, LECLERC는 페이스 우위가 가장 크지만 타이어 유지가 하위라 2순위로 둡니다. 계약 가능성과 이적 후 성과는 판단하지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빠른 세 명은 모두 페이스 우위는 반복됐지만 자기 팀 동료 대비 우위가 반복되지 않았습니다. NORRIS와 PIASTRI는 서로 동료이고 차이가 0을 포함하며, VERSTAPPEN은 11개 중 1개 조건에서 반복되지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시즌, 모든 팀 자리에 대해 같은 기준으로 판정했습니다. 네 조건을 모두 통과한 조합은 4.8%뿐입니다.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지금까지의 판단을 Decision Board 한 화면에서 다른 팀과 시즌으로 반복할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섹션은 제안입니다. 각 제안의 크기와 근거 슬라이드를 함께 적었습니다.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 제안입니다. RUSSELL·LECLERC 우선 검토, 가장 빠른 후보를 바로 고르지 않는 보수적 기준, 피트레인 손실 점검, 접전 구간의 경기별 결과 추적, 그리고 LECLERC의 장기 스틴트 타이어 유지 확인입니다.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관측 기록, 적합성 해석, 경제적 기회의 정성 설명을 분리해서 말합니다. 이 분석은 판단을 돕는 근거이지 결과를 예측하는 모델이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숫자는 저장소의 명령으로 다시 만들 수 있습니다. 관리자 화면의 전체 실행으로도 같은 결과를 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정리하면, STROLL 자리의 우선 검토 후보는 RUSSELL과 LECLERC이고, 영입과 별개로 피트레인 손실을 먼저 점검해야 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영입하면 성적이 얼마나 바뀌는지 확인하려고 2025 시즌을 4,000번 다시 치렀습니다. 지금 라인업은 시즌 1승 확률이 0.1%이고, 대부분 후보도 1~3%에 머뭅니다. 우승은 차량이 거의 정합니다. 현실적인 목표는 팀 6위이고, LECLERC로 바꾸면 6위 이내 확률이 9%에서 65%로 오릅니다. RUSSELL은 2025만 보면 효과가 크지만 2023~2025로 보면 거의 사라져, 앞의 우위가 차량 덕분일 수 있다는 신호입니다. 이 슬라이드는 관측 기록이 아니라 가정 위의 추정이라 결론을 바꾸지 않습니다. 관측 기록으로는 RUSSELL이 1순위이고, 이 결과 때문에 RUSSELL은 확정이 아니라 우선 검토이며 다음 시즌 데이터로 다시 판정할 첫 번째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환경을 두 단계로 나눠 봤습니다. 가로축은 같은 경기에서 STROLL과 비교한 값인데, 차가 다르니 차량 차이가 섞여 있습니다. 세로축은 같은 차를 탄 자기 팀 동료와 비교한 값이라 선수 차이만 남습니다. 오른쪽 위, 그리고 세로 막대가 0 위에 있는 선수는 RUSSELL과 LECLERC뿐입니다. McLaren 두 선수는 서로를 거의 못 이겨서 빠름이 차의 몫일 수 있고, VERSTAPPEN은 11개 조건 중 10개에서만 반복됐습니다.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선정 기준은 우리 팀 진단에서 출발합니다. 약점인 기본 페이스는 메워야 하고, 강점인 타이어 유지는 지켜야 하고, 피트는 선수가 아니라 팀 운영 과제입니다. RUSSELL과 LECLERC 모두 페이스 기준을 통과합니다. 둘을 가르는 것은 타이어 유지입니다. RUSSELL은 60%로 STROLL과 비슷하고, LECLERC는 95%로 하위라 우리 강점을 깎을 수 있습니다. 다만 페이스 근거만 보면 LECLERC가 더 크고 더 강한 동료를 이겼다는 점은 그대로 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rgbClr val="E10600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F1 Team Builder 분석  ·  2023 ~ 2026-10-14 종료 본경기 87경기 · 정제 v0.3.0 · 본경기 기본 포인트(Sprint·보너스 제외)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99" Type="http://schemas.openxmlformats.org/officeDocument/2006/relationships/notesSlide" Target="../notesSlides/notesSlide2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F1 TEAM BUILDER  ·  데이터 분석 보고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드라이버가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우리 팀의 약점을 메울 수 있는가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0D0D0"/>
                </a:solidFill>
              </a:rPr>
              <a:t>오염 데이터 6종과 분석 중 추가 수집한 5종, 87경기를 정제·검증해 직접 분석했습니다. 이 보고서의 모든 숫자는 같은 기준(2023 ~ 2026-10-14 종료 본경기, 정제 v0.3.0)에서 나왔습니다.</a:t>
            </a:r>
            <a:endParaRPr lang="en-US" sz="1500" dirty="0"/>
          </a:p>
        </p:txBody>
      </p:sp>
      <p:sp>
        <p:nvSpPr>
          <p:cNvPr id="5" name="cover-num"/>
          <p:cNvSpPr txBox="1"/>
          <p:nvPr/>
        </p:nvSpPr>
        <p:spPr>
          <a:xfrm>
            <a:off x="8229600" y="3611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RUSSELL</a:t>
            </a:r>
            <a:endParaRPr lang="en-US" sz="3600" dirty="0"/>
          </a:p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LECLERC</a:t>
            </a:r>
            <a:endParaRPr lang="en-US" sz="3600" dirty="0"/>
          </a:p>
        </p:txBody>
      </p:sp>
      <p:sp>
        <p:nvSpPr>
          <p:cNvPr id="6" name="cover-num-label"/>
          <p:cNvSpPr txBox="1"/>
          <p:nvPr/>
        </p:nvSpPr>
        <p:spPr>
          <a:xfrm>
            <a:off x="7863840" y="4983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2025 Aston Martin STROLL 자리 · 후보 19명 중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네 조건을 모두 통과한 우선 검토 후보</a:t>
            </a:r>
            <a:endParaRPr lang="en-US" sz="1200" dirty="0"/>
          </a:p>
        </p:txBody>
      </p:sp>
      <p:sp>
        <p:nvSpPr>
          <p:cNvPr id="7" name="cover-rule"/>
          <p:cNvSpPr/>
          <p:nvPr/>
        </p:nvSpPr>
        <p:spPr>
          <a:xfrm>
            <a:off x="731520" y="5897880"/>
            <a:ext cx="1088136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8" name="cover-foot"/>
          <p:cNvSpPr txBox="1"/>
          <p:nvPr/>
        </p:nvSpPr>
        <p:spPr>
          <a:xfrm>
            <a:off x="73152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분석 기간 2023 ~ 2026-10-14   |   Team 1 · 데이터 표준화 프로젝트   |   OpenF1 공개 데이터 기반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concl-head"/>
          <p:cNvSpPr txBox="1"/>
          <p:nvPr/>
        </p:nvSpPr>
        <p:spPr>
          <a:xfrm>
            <a:off x="731520" y="1417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STROLL 자리에는 </a:t>
            </a:r>
            <a:pPr indent="0" marL="0">
              <a:buNone/>
            </a:pPr>
            <a:r>
              <a:rPr lang="en-US" sz="3200" b="1" dirty="0">
                <a:solidFill>
                  <a:srgbClr val="E10600"/>
                </a:solidFill>
              </a:rPr>
              <a:t>George RUSSELL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을 1순위로 검토한다</a:t>
            </a:r>
            <a:endParaRPr lang="en-US" sz="3200" dirty="0"/>
          </a:p>
        </p:txBody>
      </p:sp>
      <p:sp>
        <p:nvSpPr>
          <p:cNvPr id="4" name="concl-sub"/>
          <p:cNvSpPr txBox="1"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5B5B5"/>
                </a:solidFill>
              </a:rPr>
              <a:t>2025 Aston Martin · 후보 19명을 같은 경기 비교와 같은 차(동료) 비교로 나눠 보고, 둘 다 모든 조건에서 반복된 선수만 남겼다</a:t>
            </a:r>
            <a:endParaRPr lang="en-US" sz="1400" dirty="0"/>
          </a:p>
        </p:txBody>
      </p:sp>
      <p:sp>
        <p:nvSpPr>
          <p:cNvPr id="5" name="concl-card-0"/>
          <p:cNvSpPr/>
          <p:nvPr/>
        </p:nvSpPr>
        <p:spPr>
          <a:xfrm>
            <a:off x="731520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E10600"/>
            </a:solidFill>
            <a:prstDash val="solid"/>
          </a:ln>
        </p:spPr>
      </p:sp>
      <p:sp>
        <p:nvSpPr>
          <p:cNvPr id="6" name="concl-h-0"/>
          <p:cNvSpPr txBox="1"/>
          <p:nvPr/>
        </p:nvSpPr>
        <p:spPr>
          <a:xfrm>
            <a:off x="96012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1순위 · RUSSELL</a:t>
            </a:r>
            <a:endParaRPr lang="en-US" sz="1300" dirty="0"/>
          </a:p>
        </p:txBody>
      </p:sp>
      <p:sp>
        <p:nvSpPr>
          <p:cNvPr id="7" name="concl-n-0"/>
          <p:cNvSpPr txBox="1"/>
          <p:nvPr/>
        </p:nvSpPr>
        <p:spPr>
          <a:xfrm>
            <a:off x="960120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−1.03%p · −0.138초</a:t>
            </a:r>
            <a:endParaRPr lang="en-US" sz="2200" dirty="0"/>
          </a:p>
        </p:txBody>
      </p:sp>
      <p:sp>
        <p:nvSpPr>
          <p:cNvPr id="8" name="concl-d-0"/>
          <p:cNvSpPr txBox="1"/>
          <p:nvPr/>
        </p:nvSpPr>
        <p:spPr>
          <a:xfrm>
            <a:off x="96012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경기에서 기준 선수보다 빠르고, 같은 차의 동료보다도 빠르다 — 11가지 조건 모두 반복. 팀 강점인 타이어 유지도 STROLL과 비슷해 지킨다.</a:t>
            </a:r>
            <a:endParaRPr lang="en-US" sz="1200" dirty="0"/>
          </a:p>
        </p:txBody>
      </p:sp>
      <p:sp>
        <p:nvSpPr>
          <p:cNvPr id="9" name="concl-card-1"/>
          <p:cNvSpPr/>
          <p:nvPr/>
        </p:nvSpPr>
        <p:spPr>
          <a:xfrm>
            <a:off x="4361688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</p:sp>
      <p:sp>
        <p:nvSpPr>
          <p:cNvPr id="10" name="concl-h-1"/>
          <p:cNvSpPr txBox="1"/>
          <p:nvPr/>
        </p:nvSpPr>
        <p:spPr>
          <a:xfrm>
            <a:off x="4590288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2순위 · LECLERC</a:t>
            </a:r>
            <a:endParaRPr lang="en-US" sz="1300" dirty="0"/>
          </a:p>
        </p:txBody>
      </p:sp>
      <p:sp>
        <p:nvSpPr>
          <p:cNvPr id="11" name="concl-n-1"/>
          <p:cNvSpPr txBox="1"/>
          <p:nvPr/>
        </p:nvSpPr>
        <p:spPr>
          <a:xfrm>
            <a:off x="4590288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−1.12%p · −0.202초</a:t>
            </a:r>
            <a:endParaRPr lang="en-US" sz="2200" dirty="0"/>
          </a:p>
        </p:txBody>
      </p:sp>
      <p:sp>
        <p:nvSpPr>
          <p:cNvPr id="12" name="concl-d-1"/>
          <p:cNvSpPr txBox="1"/>
          <p:nvPr/>
        </p:nvSpPr>
        <p:spPr>
          <a:xfrm>
            <a:off x="4590288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우위는 가장 크지만 타이어 유지가 하위(상위 95%). 장기 스틴트에서 페이스가 떨어지는지 확인한 뒤 검토한다.</a:t>
            </a:r>
            <a:endParaRPr lang="en-US" sz="1200" dirty="0"/>
          </a:p>
        </p:txBody>
      </p:sp>
      <p:sp>
        <p:nvSpPr>
          <p:cNvPr id="13" name="concl-card-2"/>
          <p:cNvSpPr/>
          <p:nvPr/>
        </p:nvSpPr>
        <p:spPr>
          <a:xfrm>
            <a:off x="7991856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</p:sp>
      <p:sp>
        <p:nvSpPr>
          <p:cNvPr id="14" name="concl-h-2"/>
          <p:cNvSpPr txBox="1"/>
          <p:nvPr/>
        </p:nvSpPr>
        <p:spPr>
          <a:xfrm>
            <a:off x="8220456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영입과 별개로</a:t>
            </a:r>
            <a:endParaRPr lang="en-US" sz="1300" dirty="0"/>
          </a:p>
        </p:txBody>
      </p:sp>
      <p:sp>
        <p:nvSpPr>
          <p:cNvPr id="15" name="concl-n-2"/>
          <p:cNvSpPr txBox="1"/>
          <p:nvPr/>
        </p:nvSpPr>
        <p:spPr>
          <a:xfrm>
            <a:off x="8220456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피트 0.28초 늦음</a:t>
            </a:r>
            <a:endParaRPr lang="en-US" sz="2200" dirty="0"/>
          </a:p>
        </p:txBody>
      </p:sp>
      <p:sp>
        <p:nvSpPr>
          <p:cNvPr id="16" name="concl-d-2"/>
          <p:cNvSpPr txBox="1"/>
          <p:nvPr/>
        </p:nvSpPr>
        <p:spPr>
          <a:xfrm>
            <a:off x="8220456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경기 타 팀보다 피트레인 통과가 0.28초 늦고, 1초 넘게 늦은 피트가 네 번에 한 번이다 — 지금 바로 점검할 수 있다.</a:t>
            </a:r>
            <a:endParaRPr lang="en-US" sz="1200" dirty="0"/>
          </a:p>
        </p:txBody>
      </p:sp>
      <p:sp>
        <p:nvSpPr>
          <p:cNvPr id="17" name="concl-foot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가장 빠른 NORRIS·VERSTAPPEN·PIASTRI는 자기 팀 동료 대비 우위가 반복되지 않아 차량 이점을 배제하지 못했다 · 계약 가능성과 이적 후 성과는 판단하지 않는다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한 장 요약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기준: 2023 ~ 2026-10-14 종료 본경기 87경기 · 정제 v0.3.0 · 본경기 기본 포인트(Sprint·보너스 제외)</a:t>
            </a:r>
            <a:endParaRPr lang="en-US" sz="1400" dirty="0"/>
          </a:p>
        </p:txBody>
      </p:sp>
      <p:sp>
        <p:nvSpPr>
          <p:cNvPr id="4" name="sum-kpi-0-card"/>
          <p:cNvSpPr/>
          <p:nvPr/>
        </p:nvSpPr>
        <p:spPr>
          <a:xfrm>
            <a:off x="54864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sum-kpi-0-num"/>
          <p:cNvSpPr txBox="1"/>
          <p:nvPr/>
        </p:nvSpPr>
        <p:spPr>
          <a:xfrm>
            <a:off x="77724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87경기</a:t>
            </a:r>
            <a:endParaRPr lang="en-US" sz="2800" dirty="0"/>
          </a:p>
        </p:txBody>
      </p:sp>
      <p:sp>
        <p:nvSpPr>
          <p:cNvPr id="6" name="sum-kpi-0-label"/>
          <p:cNvSpPr txBox="1"/>
          <p:nvPr/>
        </p:nvSpPr>
        <p:spPr>
          <a:xfrm>
            <a:off x="77724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분석 본경기 (11종 데이터)</a:t>
            </a:r>
            <a:endParaRPr lang="en-US" sz="1100" dirty="0"/>
          </a:p>
        </p:txBody>
      </p:sp>
      <p:sp>
        <p:nvSpPr>
          <p:cNvPr id="7" name="sum-kpi-1-card"/>
          <p:cNvSpPr/>
          <p:nvPr/>
        </p:nvSpPr>
        <p:spPr>
          <a:xfrm>
            <a:off x="338328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sum-kpi-1-num"/>
          <p:cNvSpPr txBox="1"/>
          <p:nvPr/>
        </p:nvSpPr>
        <p:spPr>
          <a:xfrm>
            <a:off x="361188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1,357셀</a:t>
            </a:r>
            <a:endParaRPr lang="en-US" sz="2800" dirty="0"/>
          </a:p>
        </p:txBody>
      </p:sp>
      <p:sp>
        <p:nvSpPr>
          <p:cNvPr id="9" name="sum-kpi-1-label"/>
          <p:cNvSpPr txBox="1"/>
          <p:nvPr/>
        </p:nvSpPr>
        <p:spPr>
          <a:xfrm>
            <a:off x="361188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복구 (탐지 28,071건 중 근거 있는 것만)</a:t>
            </a:r>
            <a:endParaRPr lang="en-US" sz="1100" dirty="0"/>
          </a:p>
        </p:txBody>
      </p:sp>
      <p:sp>
        <p:nvSpPr>
          <p:cNvPr id="10" name="sum-kpi-2-card"/>
          <p:cNvSpPr/>
          <p:nvPr/>
        </p:nvSpPr>
        <p:spPr>
          <a:xfrm>
            <a:off x="621792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sum-kpi-2-num"/>
          <p:cNvSpPr txBox="1"/>
          <p:nvPr/>
        </p:nvSpPr>
        <p:spPr>
          <a:xfrm>
            <a:off x="644652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12→0</a:t>
            </a:r>
            <a:endParaRPr lang="en-US" sz="2800" dirty="0"/>
          </a:p>
        </p:txBody>
      </p:sp>
      <p:sp>
        <p:nvSpPr>
          <p:cNvPr id="12" name="sum-kpi-2-label"/>
          <p:cNvSpPr txBox="1"/>
          <p:nvPr/>
        </p:nvSpPr>
        <p:spPr>
          <a:xfrm>
            <a:off x="644652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정제 전 → 후 · 검증 154개 · pandas = MySQL</a:t>
            </a:r>
            <a:endParaRPr lang="en-US" sz="1100" dirty="0"/>
          </a:p>
        </p:txBody>
      </p:sp>
      <p:sp>
        <p:nvSpPr>
          <p:cNvPr id="13" name="sum-kpi-3-card"/>
          <p:cNvSpPr/>
          <p:nvPr/>
        </p:nvSpPr>
        <p:spPr>
          <a:xfrm>
            <a:off x="905256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sum-kpi-3-num"/>
          <p:cNvSpPr txBox="1"/>
          <p:nvPr/>
        </p:nvSpPr>
        <p:spPr>
          <a:xfrm>
            <a:off x="928116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2명</a:t>
            </a:r>
            <a:endParaRPr lang="en-US" sz="2800" dirty="0"/>
          </a:p>
        </p:txBody>
      </p:sp>
      <p:sp>
        <p:nvSpPr>
          <p:cNvPr id="15" name="sum-kpi-3-label"/>
          <p:cNvSpPr txBox="1"/>
          <p:nvPr/>
        </p:nvSpPr>
        <p:spPr>
          <a:xfrm>
            <a:off x="928116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STROLL 자리 후보 19명 중 최종 우선 검토 (RUSSELL·LECLERC)</a:t>
            </a:r>
            <a:endParaRPr lang="en-US" sz="1100" dirty="0"/>
          </a:p>
        </p:txBody>
      </p:sp>
      <p:sp>
        <p:nvSpPr>
          <p:cNvPr id="16" name="sum-msg-n-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7" name="sum-msg-n-0-t"/>
          <p:cNvSpPr txBox="1"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sum-msg-h-0"/>
          <p:cNvSpPr txBox="1"/>
          <p:nvPr/>
        </p:nvSpPr>
        <p:spPr>
          <a:xfrm>
            <a:off x="1097280" y="286207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데이터는 믿을 수 있게 만들었다</a:t>
            </a:r>
            <a:endParaRPr lang="en-US" sz="1600" dirty="0"/>
          </a:p>
        </p:txBody>
      </p:sp>
      <p:sp>
        <p:nvSpPr>
          <p:cNvPr id="19" name="sum-msg-d-0"/>
          <p:cNvSpPr txBox="1"/>
          <p:nvPr/>
        </p:nvSpPr>
        <p:spPr>
          <a:xfrm>
            <a:off x="1097280" y="3227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28,071건을 탐지해 근거가 있는 1,357셀만 고쳤고, 같은 154개 규칙을 pandas·MySQL에서 두 번 돌려 결과가 같았다. 정제 전 12건이던 FAIL이 0건이 됐고, 통계값으로 결측을 채우지 않았다.</a:t>
            </a:r>
            <a:endParaRPr lang="en-US" sz="1200" dirty="0"/>
          </a:p>
        </p:txBody>
      </p:sp>
      <p:sp>
        <p:nvSpPr>
          <p:cNvPr id="20" name="sum-msg-n-1"/>
          <p:cNvSpPr/>
          <p:nvPr/>
        </p:nvSpPr>
        <p:spPr>
          <a:xfrm>
            <a:off x="548640" y="3867912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1" name="sum-msg-n-1-t"/>
          <p:cNvSpPr txBox="1"/>
          <p:nvPr/>
        </p:nvSpPr>
        <p:spPr>
          <a:xfrm>
            <a:off x="54864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um-msg-h-1"/>
          <p:cNvSpPr txBox="1"/>
          <p:nvPr/>
        </p:nvSpPr>
        <p:spPr>
          <a:xfrm>
            <a:off x="1097280" y="384962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2025 Aston Martin의 약점은 페이스와 피트 운영이다</a:t>
            </a:r>
            <a:endParaRPr lang="en-US" sz="1600" dirty="0"/>
          </a:p>
        </p:txBody>
      </p:sp>
      <p:sp>
        <p:nvSpPr>
          <p:cNvPr id="23" name="sum-msg-d-1"/>
          <p:cNvSpPr txBox="1"/>
          <p:nvPr/>
        </p:nvSpPr>
        <p:spPr>
          <a:xfrm>
            <a:off x="1097280" y="4215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필드 상대 페이스 10팀 중 7위(+0.46%), 피트레인은 같은 경기 타 팀보다 0.28초 길다. 본경기 기본 포인트 7위로 6~9위가 18점 안에 모인 접전 구간이다.</a:t>
            </a:r>
            <a:endParaRPr lang="en-US" sz="1200" dirty="0"/>
          </a:p>
        </p:txBody>
      </p:sp>
      <p:sp>
        <p:nvSpPr>
          <p:cNvPr id="24" name="sum-msg-n-2"/>
          <p:cNvSpPr/>
          <p:nvPr/>
        </p:nvSpPr>
        <p:spPr>
          <a:xfrm>
            <a:off x="548640" y="4855464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5" name="sum-msg-n-2-t"/>
          <p:cNvSpPr txBox="1"/>
          <p:nvPr/>
        </p:nvSpPr>
        <p:spPr>
          <a:xfrm>
            <a:off x="54864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um-msg-h-2"/>
          <p:cNvSpPr txBox="1"/>
          <p:nvPr/>
        </p:nvSpPr>
        <p:spPr>
          <a:xfrm>
            <a:off x="1097280" y="48371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우선 검토 후보는 RUSSELL과 LECLERC다</a:t>
            </a:r>
            <a:endParaRPr lang="en-US" sz="1600" dirty="0"/>
          </a:p>
        </p:txBody>
      </p:sp>
      <p:sp>
        <p:nvSpPr>
          <p:cNvPr id="27" name="sum-msg-d-2"/>
          <p:cNvSpPr txBox="1"/>
          <p:nvPr/>
        </p:nvSpPr>
        <p:spPr>
          <a:xfrm>
            <a:off x="1097280" y="520293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후보 19명 중 7명이 기준 선수보다 빨랐지만, 자기 팀 동료 대비 우위까지 11/11 조건에서 반복된 것은 두 명뿐이다. 가장 빠른 NORRIS·VERSTAPPEN·PIASTRI는 동료 대비가 반복되지 않아 차량 이점을 배제하지 못했다.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1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1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숫자를 믿을 수 있게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계산보다 정의가 먼저입니다. 무엇을 세기로 했는지, 무엇을 뺐는지, 어떤 한계가 있는지를 먼저 못 박고 뒤의 모든 숫자를 같은 기준에서 뽑았습니다.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보고서가 쓰는 다섯 지표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질문에 숫자가 여러 개 나오지 않도록 지표를 먼저 정의했습니다</a:t>
            </a:r>
            <a:endParaRPr lang="en-US" sz="1400" dirty="0"/>
          </a:p>
        </p:txBody>
      </p:sp>
      <p:graphicFrame>
        <p:nvGraphicFramePr>
          <p:cNvPr id="6" name="metri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2148840"/>
                <a:gridCol w="2468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정의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단위 · 방향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비교 조건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필드 상대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경기·컴파운드·5랩 구간의 다른 선수 대비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% · 낮을수록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경기별 값 → 시즌 중앙값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팀 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랩·같은 타이어로 맞춘 팀 동료와의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초/랩 · 음수면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나이 차 3랩·시각 차 90초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조건을 보정한 정상 랩타임의 사분위 범위(IQR)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 · 작을수록 안정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전후·SC 구간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타이어를 1랩 더 쓸 때 필드 대비 페이스 변화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ms/랩 · 작을수록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4경기·8스틴트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본경기 기본 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 1~10위에 25-18-15-12-10-8-6-4-2-1, 당시 소속팀 합산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Sprint·보너스·예외 배점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metric-excluded"/>
          <p:cNvSpPr/>
          <p:nvPr/>
        </p:nvSpPr>
        <p:spPr>
          <a:xfrm>
            <a:off x="548640" y="4343400"/>
            <a:ext cx="11109960" cy="1371600"/>
          </a:xfrm>
          <a:prstGeom prst="roundRect">
            <a:avLst>
              <a:gd name="adj" fmla="val 4000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excluded-h"/>
          <p:cNvSpPr txBox="1"/>
          <p:nvPr/>
        </p:nvSpPr>
        <p:spPr>
          <a:xfrm>
            <a:off x="82296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뺀 것 — 비교 랩에서 반드시 제외</a:t>
            </a:r>
            <a:endParaRPr lang="en-US" sz="1300" dirty="0"/>
          </a:p>
        </p:txBody>
      </p:sp>
      <p:sp>
        <p:nvSpPr>
          <p:cNvPr id="7" name="excluded-d"/>
          <p:cNvSpPr txBox="1"/>
          <p:nvPr/>
        </p:nvSpPr>
        <p:spPr>
          <a:xfrm>
            <a:off x="822960" y="48646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피트 인·아웃 랩  ·  SC/VSC·황기·적기·재시작 구간  ·  젖은 타이어·강수  ·  날씨 90초 미연결  ·  타이어 구간이 모호하거나 연결되지 않는 랩  ·  표본 기준 미달(8경기·200랩)은 N/A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데이터의 범위와, 미리 알아 둘 한계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원천 11종 · 연결 키 session_key / driver_number · 87경기</a:t>
            </a:r>
            <a:endParaRPr lang="en-US" sz="1400" dirty="0"/>
          </a:p>
        </p:txBody>
      </p:sp>
      <p:graphicFrame>
        <p:nvGraphicFramePr>
          <p:cNvPr id="7" name="scop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20240"/>
                <a:gridCol w="173736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무엇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행 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분석할 때 반드시 아는 것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sessions · drivers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경기·선수·당시 소속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87 · 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소속은 시즌 마지막 관측 구간 — 현재 계약 명단이 아님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laps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랩·섹터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97,018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정제 통과 67,544랩, 참조 연결 60,848랩만 비교에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stints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구간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5,040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구간 미연결·모호 585랩은 성능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weather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강수·노면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13,928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90초 안에 연결되지 않는 78랩은 건조 조건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횟수·시간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3,029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81경기만 원천 있음 — 미수집 6경기를 0회로 채우지 않음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출발 순위 (예선)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예선 세션 키라 meeting_key로 본경기에 매핑, 미연결 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결과·포인트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분류 미확정 4건은 포인트 N/A (0점 처리 안 함)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9,499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비교 랩 제외 구간 판정에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position · intervals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 중 순위·격차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42,952 ·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격차 10초 연결 불가 3,430랩 · position은 품질 점검만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결측을 0이나 평균으로 채우지 않고, 연결되지 않는 기록은 해당 비교에서만 빼서 표본 수와 함께 보여 준다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5종을 추가한 이유: 6종만으로는 답이 안 나왔다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먼저 확보한 오염 6종(경기·선수·랩·스틴트·날씨·피트)을 정제해 비교하다가, 근거가 비는 자리를 분석 도중 보완했다</a:t>
            </a:r>
            <a:endParaRPr lang="en-US" sz="1400" dirty="0"/>
          </a:p>
        </p:txBody>
      </p:sp>
      <p:graphicFrame>
        <p:nvGraphicFramePr>
          <p:cNvPr id="8" name="wh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40280"/>
                <a:gridCol w="23317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6종만으로 답할 수 없던 질문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6종의 빈자리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추가한 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이 보고서에서 쓴 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빠른 기록이 실제 성적으로 이어졌나?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순위·완주 여부가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 1,771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 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기본 포인트 1,767건 계산 → 팀 순위·접전 구간, 출발 대비 순위 변화 1,543건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비교한 랩이 공정한가?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SC/VSC·황기·적기 구간을 모름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 9,499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(황기 등 5,142 · SC 215)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해당 구간 랩을 비교에서 제외 · '재시작 추가 제외' 조건(1,229랩 더 제외)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앞차에 막힌 랩은 아닌가?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차량 간 격차가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intervals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'근접 차량 제한' 조건 — 비교 랩 60,848 → 37,860으로 줄여도 판정 확인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B6B"/>
                          </a:solidFill>
                        </a:rPr>
                        <a:t>경기 중 순위는 어떻게 바뀌었나?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랩 단위 순위가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position 42,952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품질 점검까지만 — 순위 타임라인은 이번 범위에서 미구현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why-note"/>
          <p:cNvSpPr/>
          <p:nvPr/>
        </p:nvSpPr>
        <p:spPr>
          <a:xfrm>
            <a:off x="548640" y="475488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why-note-t"/>
          <p:cNvSpPr txBox="1"/>
          <p:nvPr/>
        </p:nvSpPr>
        <p:spPr>
          <a:xfrm>
            <a:off x="822960" y="48920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10600"/>
                </a:solidFill>
              </a:rPr>
              <a:t>추가하지 않았다면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결론의 배경인 포인트 경쟁 위치를 계산할 수 없고, SC/VSC 구간이 섞인 불공정한 랩으로 비교했으며, 후보 판정의 11가지 조건 중 두 가지(재시작 추가 제외·근접 차량 제한)를 만들 수 없었다.</a:t>
            </a:r>
            <a:endParaRPr lang="en-US" sz="1250" dirty="0"/>
          </a:p>
        </p:txBody>
      </p:sp>
      <p:sp>
        <p:nvSpPr>
          <p:cNvPr id="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5종은 '더 많이 모으려고'가 아니라, 6종으로 내린 판단이 성적·경기 상황과 맞는지 확인하려고 추가했다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탐지 28,071건 중 근거가 있는 1,357셀만 고쳤다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오염 6종을 진단코드 DQ001~DQ027로 검사 · 원본은 수정하지 않고 보존</a:t>
            </a:r>
            <a:endParaRPr lang="en-US" sz="1400" dirty="0"/>
          </a:p>
        </p:txBody>
      </p:sp>
      <p:sp>
        <p:nvSpPr>
          <p:cNvPr id="4" name="clean-kpi-0-card"/>
          <p:cNvSpPr/>
          <p:nvPr/>
        </p:nvSpPr>
        <p:spPr>
          <a:xfrm>
            <a:off x="548640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clean-kpi-0-num"/>
          <p:cNvSpPr txBox="1"/>
          <p:nvPr/>
        </p:nvSpPr>
        <p:spPr>
          <a:xfrm>
            <a:off x="777240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28,071</a:t>
            </a:r>
            <a:endParaRPr lang="en-US" sz="2800" dirty="0"/>
          </a:p>
        </p:txBody>
      </p:sp>
      <p:sp>
        <p:nvSpPr>
          <p:cNvPr id="6" name="clean-kpi-0-label"/>
          <p:cNvSpPr txBox="1"/>
          <p:nvPr/>
        </p:nvSpPr>
        <p:spPr>
          <a:xfrm>
            <a:off x="777240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탐지 이슈</a:t>
            </a:r>
            <a:endParaRPr lang="en-US" sz="1100" dirty="0"/>
          </a:p>
        </p:txBody>
      </p:sp>
      <p:sp>
        <p:nvSpPr>
          <p:cNvPr id="7" name="clean-kpi-1-card"/>
          <p:cNvSpPr/>
          <p:nvPr/>
        </p:nvSpPr>
        <p:spPr>
          <a:xfrm>
            <a:off x="2807208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lean-kpi-1-num"/>
          <p:cNvSpPr txBox="1"/>
          <p:nvPr/>
        </p:nvSpPr>
        <p:spPr>
          <a:xfrm>
            <a:off x="3035808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1,357</a:t>
            </a:r>
            <a:endParaRPr lang="en-US" sz="2800" dirty="0"/>
          </a:p>
        </p:txBody>
      </p:sp>
      <p:sp>
        <p:nvSpPr>
          <p:cNvPr id="9" name="clean-kpi-1-label"/>
          <p:cNvSpPr txBox="1"/>
          <p:nvPr/>
        </p:nvSpPr>
        <p:spPr>
          <a:xfrm>
            <a:off x="3035808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자동 복구 셀</a:t>
            </a:r>
            <a:endParaRPr lang="en-US" sz="1100" dirty="0"/>
          </a:p>
        </p:txBody>
      </p:sp>
      <p:sp>
        <p:nvSpPr>
          <p:cNvPr id="10" name="clean-kpi-2-card"/>
          <p:cNvSpPr/>
          <p:nvPr/>
        </p:nvSpPr>
        <p:spPr>
          <a:xfrm>
            <a:off x="5065776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clean-kpi-2-num"/>
          <p:cNvSpPr txBox="1"/>
          <p:nvPr/>
        </p:nvSpPr>
        <p:spPr>
          <a:xfrm>
            <a:off x="5294376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24,866</a:t>
            </a:r>
            <a:endParaRPr lang="en-US" sz="2800" dirty="0"/>
          </a:p>
        </p:txBody>
      </p:sp>
      <p:sp>
        <p:nvSpPr>
          <p:cNvPr id="12" name="clean-kpi-2-label"/>
          <p:cNvSpPr txBox="1"/>
          <p:nvPr/>
        </p:nvSpPr>
        <p:spPr>
          <a:xfrm>
            <a:off x="5294376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허용 (원천 특성)</a:t>
            </a:r>
            <a:endParaRPr lang="en-US" sz="1100" dirty="0"/>
          </a:p>
        </p:txBody>
      </p:sp>
      <p:sp>
        <p:nvSpPr>
          <p:cNvPr id="13" name="clean-kpi-3-card"/>
          <p:cNvSpPr/>
          <p:nvPr/>
        </p:nvSpPr>
        <p:spPr>
          <a:xfrm>
            <a:off x="7324344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clean-kpi-3-num"/>
          <p:cNvSpPr txBox="1"/>
          <p:nvPr/>
        </p:nvSpPr>
        <p:spPr>
          <a:xfrm>
            <a:off x="7552944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1,848</a:t>
            </a:r>
            <a:endParaRPr lang="en-US" sz="2800" dirty="0"/>
          </a:p>
        </p:txBody>
      </p:sp>
      <p:sp>
        <p:nvSpPr>
          <p:cNvPr id="15" name="clean-kpi-3-label"/>
          <p:cNvSpPr txBox="1"/>
          <p:nvPr/>
        </p:nvSpPr>
        <p:spPr>
          <a:xfrm>
            <a:off x="7552944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검토 필요</a:t>
            </a:r>
            <a:endParaRPr lang="en-US" sz="1100" dirty="0"/>
          </a:p>
        </p:txBody>
      </p:sp>
      <p:sp>
        <p:nvSpPr>
          <p:cNvPr id="16" name="clean-kpi-4-card"/>
          <p:cNvSpPr/>
          <p:nvPr/>
        </p:nvSpPr>
        <p:spPr>
          <a:xfrm>
            <a:off x="9582912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7" name="clean-kpi-4-num"/>
          <p:cNvSpPr txBox="1"/>
          <p:nvPr/>
        </p:nvSpPr>
        <p:spPr>
          <a:xfrm>
            <a:off x="9811512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4</a:t>
            </a:r>
            <a:endParaRPr lang="en-US" sz="2800" dirty="0"/>
          </a:p>
        </p:txBody>
      </p:sp>
      <p:sp>
        <p:nvSpPr>
          <p:cNvPr id="18" name="clean-kpi-4-label"/>
          <p:cNvSpPr txBox="1"/>
          <p:nvPr/>
        </p:nvSpPr>
        <p:spPr>
          <a:xfrm>
            <a:off x="9811512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격리 행</a:t>
            </a:r>
            <a:endParaRPr lang="en-US" sz="1100" dirty="0"/>
          </a:p>
        </p:txBody>
      </p:sp>
      <p:graphicFrame>
        <p:nvGraphicFramePr>
          <p:cNvPr id="19" name="chart-errtype" descr=""/>
          <p:cNvGraphicFramePr/>
          <p:nvPr/>
        </p:nvGraphicFramePr>
        <p:xfrm>
          <a:off x="548640" y="2788920"/>
          <a:ext cx="66751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clean-principle"/>
          <p:cNvSpPr/>
          <p:nvPr/>
        </p:nvSpPr>
        <p:spPr>
          <a:xfrm>
            <a:off x="7498080" y="2834640"/>
            <a:ext cx="4160520" cy="2926080"/>
          </a:xfrm>
          <a:prstGeom prst="roundRect">
            <a:avLst>
              <a:gd name="adj" fmla="val 1875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1" name="principle-h"/>
          <p:cNvSpPr txBox="1"/>
          <p:nvPr/>
        </p:nvSpPr>
        <p:spPr>
          <a:xfrm>
            <a:off x="77724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고치는 원칙</a:t>
            </a:r>
            <a:endParaRPr lang="en-US" sz="1400" dirty="0"/>
          </a:p>
        </p:txBody>
      </p:sp>
      <p:sp>
        <p:nvSpPr>
          <p:cNvPr id="22" name="principle-list"/>
          <p:cNvSpPr txBox="1"/>
          <p:nvPr/>
        </p:nvSpPr>
        <p:spPr>
          <a:xfrm>
            <a:off x="7772400" y="3429000"/>
            <a:ext cx="3703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근거가 있는 규칙으로만 복구 (예: 하위 5개 파일이 모두 같은 meeting_key)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중앙값 같은 통계값으로 결측을 채우지 않음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1랩 랩타임 결측 등 원천 특성은 '허용'으로 기록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복구 후 같은 규칙으로 다시 검사해 잔여 건수 기록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탐지의 98%는 결측이고 그중 90%는 원천 특성 — 고친 것보다 '고치지 않은 이유'를 남기는 것이 핵심이었다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같은 154개 규칙을 두 번 돌려 결과가 같았다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정제 직후 파일은 pandas로, DB 적재 후에는 MySQL로 VC01~VC71 검사</a:t>
            </a:r>
            <a:endParaRPr lang="en-US" sz="1400" dirty="0"/>
          </a:p>
        </p:txBody>
      </p:sp>
      <p:graphicFrame>
        <p:nvGraphicFramePr>
          <p:cNvPr id="4" name="chart-validation" descr=""/>
          <p:cNvGraphicFramePr/>
          <p:nvPr/>
        </p:nvGraphicFramePr>
        <p:xfrm>
          <a:off x="548640" y="1463040"/>
          <a:ext cx="4023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onut-center"/>
          <p:cNvSpPr txBox="1"/>
          <p:nvPr/>
        </p:nvSpPr>
        <p:spPr>
          <a:xfrm>
            <a:off x="14173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0</a:t>
            </a:r>
            <a:endParaRPr lang="en-US" sz="2800" dirty="0"/>
          </a:p>
        </p:txBody>
      </p:sp>
      <p:sp>
        <p:nvSpPr>
          <p:cNvPr id="6" name="donut-sub"/>
          <p:cNvSpPr txBox="1"/>
          <p:nvPr/>
        </p:nvSpPr>
        <p:spPr>
          <a:xfrm>
            <a:off x="141732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 전 FAIL 12</a:t>
            </a:r>
            <a:endParaRPr lang="en-US" sz="1200" dirty="0"/>
          </a:p>
        </p:txBody>
      </p:sp>
      <p:sp>
        <p:nvSpPr>
          <p:cNvPr id="7" name="check-0"/>
          <p:cNvSpPr/>
          <p:nvPr/>
        </p:nvSpPr>
        <p:spPr>
          <a:xfrm>
            <a:off x="4937760" y="1508760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heck-badge-0"/>
          <p:cNvSpPr/>
          <p:nvPr/>
        </p:nvSpPr>
        <p:spPr>
          <a:xfrm>
            <a:off x="5166360" y="169164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check-badge-0-t"/>
          <p:cNvSpPr txBox="1"/>
          <p:nvPr/>
        </p:nvSpPr>
        <p:spPr>
          <a:xfrm>
            <a:off x="51663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0" name="check-h-0"/>
          <p:cNvSpPr txBox="1"/>
          <p:nvPr/>
        </p:nvSpPr>
        <p:spPr>
          <a:xfrm>
            <a:off x="5897880" y="16276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pandas ↔ MySQL</a:t>
            </a:r>
            <a:endParaRPr lang="en-US" sz="1400" dirty="0"/>
          </a:p>
        </p:txBody>
      </p:sp>
      <p:sp>
        <p:nvSpPr>
          <p:cNvPr id="11" name="check-d-0"/>
          <p:cNvSpPr txBox="1"/>
          <p:nvPr/>
        </p:nvSpPr>
        <p:spPr>
          <a:xfrm>
            <a:off x="5897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같은 검사 ID·대상의 위반 건수가 154개 모두 일치</a:t>
            </a:r>
            <a:endParaRPr lang="en-US" sz="1200" dirty="0"/>
          </a:p>
        </p:txBody>
      </p:sp>
      <p:sp>
        <p:nvSpPr>
          <p:cNvPr id="12" name="check-1"/>
          <p:cNvSpPr/>
          <p:nvPr/>
        </p:nvSpPr>
        <p:spPr>
          <a:xfrm>
            <a:off x="4937760" y="2532888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3" name="check-badge-1"/>
          <p:cNvSpPr/>
          <p:nvPr/>
        </p:nvSpPr>
        <p:spPr>
          <a:xfrm>
            <a:off x="5166360" y="2715768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check-badge-1-t"/>
          <p:cNvSpPr txBox="1"/>
          <p:nvPr/>
        </p:nvSpPr>
        <p:spPr>
          <a:xfrm>
            <a:off x="516636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5" name="check-h-1"/>
          <p:cNvSpPr txBox="1"/>
          <p:nvPr/>
        </p:nvSpPr>
        <p:spPr>
          <a:xfrm>
            <a:off x="5897880" y="2651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행 수 대사</a:t>
            </a:r>
            <a:endParaRPr lang="en-US" sz="1400" dirty="0"/>
          </a:p>
        </p:txBody>
      </p:sp>
      <p:sp>
        <p:nvSpPr>
          <p:cNvPr id="16" name="check-d-1"/>
          <p:cNvSpPr txBox="1"/>
          <p:nvPr/>
        </p:nvSpPr>
        <p:spPr>
          <a:xfrm>
            <a:off x="5897880" y="29900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120,873 = 유지 119,575 + 복구 1,294 + 격리 4 + 제거 0</a:t>
            </a:r>
            <a:endParaRPr lang="en-US" sz="1200" dirty="0"/>
          </a:p>
        </p:txBody>
      </p:sp>
      <p:sp>
        <p:nvSpPr>
          <p:cNvPr id="17" name="check-2"/>
          <p:cNvSpPr/>
          <p:nvPr/>
        </p:nvSpPr>
        <p:spPr>
          <a:xfrm>
            <a:off x="4937760" y="3557016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8" name="check-badge-2"/>
          <p:cNvSpPr/>
          <p:nvPr/>
        </p:nvSpPr>
        <p:spPr>
          <a:xfrm>
            <a:off x="5166360" y="3739896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check-badge-2-t"/>
          <p:cNvSpPr txBox="1"/>
          <p:nvPr/>
        </p:nvSpPr>
        <p:spPr>
          <a:xfrm>
            <a:off x="5166360" y="3739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0" name="check-h-2"/>
          <p:cNvSpPr txBox="1"/>
          <p:nvPr/>
        </p:nvSpPr>
        <p:spPr>
          <a:xfrm>
            <a:off x="5897880" y="36758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적재 대사</a:t>
            </a:r>
            <a:endParaRPr lang="en-US" sz="1400" dirty="0"/>
          </a:p>
        </p:txBody>
      </p:sp>
      <p:sp>
        <p:nvSpPr>
          <p:cNvPr id="21" name="check-d-2"/>
          <p:cNvSpPr txBox="1"/>
          <p:nvPr/>
        </p:nvSpPr>
        <p:spPr>
          <a:xfrm>
            <a:off x="5897880" y="4014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스테이징 → 정규화 스키마 13개 테이블 차이 0</a:t>
            </a:r>
            <a:endParaRPr lang="en-US" sz="1200" dirty="0"/>
          </a:p>
        </p:txBody>
      </p:sp>
      <p:sp>
        <p:nvSpPr>
          <p:cNvPr id="22" name="check-3"/>
          <p:cNvSpPr/>
          <p:nvPr/>
        </p:nvSpPr>
        <p:spPr>
          <a:xfrm>
            <a:off x="4937760" y="4581144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check-badge-3"/>
          <p:cNvSpPr/>
          <p:nvPr/>
        </p:nvSpPr>
        <p:spPr>
          <a:xfrm>
            <a:off x="5166360" y="4764024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check-badge-3-t"/>
          <p:cNvSpPr txBox="1"/>
          <p:nvPr/>
        </p:nvSpPr>
        <p:spPr>
          <a:xfrm>
            <a:off x="516636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5" name="check-h-3"/>
          <p:cNvSpPr txBox="1"/>
          <p:nvPr/>
        </p:nvSpPr>
        <p:spPr>
          <a:xfrm>
            <a:off x="5897880" y="47000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포인트 점검</a:t>
            </a:r>
            <a:endParaRPr lang="en-US" sz="1400" dirty="0"/>
          </a:p>
        </p:txBody>
      </p:sp>
      <p:sp>
        <p:nvSpPr>
          <p:cNvPr id="26" name="check-d-3"/>
          <p:cNvSpPr txBox="1"/>
          <p:nvPr/>
        </p:nvSpPr>
        <p:spPr>
          <a:xfrm>
            <a:off x="5897880" y="50383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2023~2026 시즌별 드라이버 포인트 합 = 팀 합</a:t>
            </a:r>
            <a:endParaRPr lang="en-US" sz="1200" dirty="0"/>
          </a:p>
        </p:txBody>
      </p:sp>
      <p:sp>
        <p:nvSpPr>
          <p:cNvPr id="2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WARN 7건(스틴트 밖 랩 280건, 섹터 합 불일치 20건 등)은 오류가 아니라 원천 특성 — 분석의 제외·보류 기준으로 관리한다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원본 → 정제 → 지표 → 화면, 단계마다 결과를 남겼다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메달리온 구조 · 저장소 data/01_raw ~ 05_gold, MySQL 스테이징 → 스키마 → Gold</a:t>
            </a:r>
            <a:endParaRPr lang="en-US" sz="1400" dirty="0"/>
          </a:p>
        </p:txBody>
      </p:sp>
      <p:sp>
        <p:nvSpPr>
          <p:cNvPr id="4" name="layer-0"/>
          <p:cNvSpPr/>
          <p:nvPr/>
        </p:nvSpPr>
        <p:spPr>
          <a:xfrm>
            <a:off x="548640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layer-n-0"/>
          <p:cNvSpPr txBox="1"/>
          <p:nvPr/>
        </p:nvSpPr>
        <p:spPr>
          <a:xfrm>
            <a:off x="7772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BRONZE</a:t>
            </a:r>
            <a:endParaRPr lang="en-US" sz="1800" dirty="0"/>
          </a:p>
        </p:txBody>
      </p:sp>
      <p:sp>
        <p:nvSpPr>
          <p:cNvPr id="6" name="layer-s-0"/>
          <p:cNvSpPr txBox="1"/>
          <p:nvPr/>
        </p:nvSpPr>
        <p:spPr>
          <a:xfrm>
            <a:off x="7772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보존</a:t>
            </a:r>
            <a:endParaRPr lang="en-US" sz="1200" dirty="0"/>
          </a:p>
        </p:txBody>
      </p:sp>
      <p:sp>
        <p:nvSpPr>
          <p:cNvPr id="7" name="layer-i-0"/>
          <p:cNvSpPr txBox="1"/>
          <p:nvPr/>
        </p:nvSpPr>
        <p:spPr>
          <a:xfrm>
            <a:off x="777240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data/01_raw — zip 원본, 체크섬·명세 대조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문자열 스테이징 stg_*</a:t>
            </a:r>
            <a:endParaRPr lang="en-US" sz="1200" dirty="0"/>
          </a:p>
        </p:txBody>
      </p:sp>
      <p:sp>
        <p:nvSpPr>
          <p:cNvPr id="8" name="layer-arrow-0"/>
          <p:cNvSpPr txBox="1"/>
          <p:nvPr/>
        </p:nvSpPr>
        <p:spPr>
          <a:xfrm>
            <a:off x="3218688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9" name="layer-1"/>
          <p:cNvSpPr/>
          <p:nvPr/>
        </p:nvSpPr>
        <p:spPr>
          <a:xfrm>
            <a:off x="3364992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0" name="layer-n-1"/>
          <p:cNvSpPr txBox="1"/>
          <p:nvPr/>
        </p:nvSpPr>
        <p:spPr>
          <a:xfrm>
            <a:off x="3593592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SILVER</a:t>
            </a:r>
            <a:endParaRPr lang="en-US" sz="1800" dirty="0"/>
          </a:p>
        </p:txBody>
      </p:sp>
      <p:sp>
        <p:nvSpPr>
          <p:cNvPr id="11" name="layer-s-1"/>
          <p:cNvSpPr txBox="1"/>
          <p:nvPr/>
        </p:nvSpPr>
        <p:spPr>
          <a:xfrm>
            <a:off x="3593592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정제·연결</a:t>
            </a:r>
            <a:endParaRPr lang="en-US" sz="1200" dirty="0"/>
          </a:p>
        </p:txBody>
      </p:sp>
      <p:sp>
        <p:nvSpPr>
          <p:cNvPr id="12" name="layer-i-1"/>
          <p:cNvSpPr txBox="1"/>
          <p:nvPr/>
        </p:nvSpPr>
        <p:spPr>
          <a:xfrm>
            <a:off x="3593592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data/03_cleaned — 복구·격리 CSV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data/04_reports — 품질·검증 리포트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정규화 스키마 13개 테이블</a:t>
            </a:r>
            <a:endParaRPr lang="en-US" sz="1200" dirty="0"/>
          </a:p>
        </p:txBody>
      </p:sp>
      <p:sp>
        <p:nvSpPr>
          <p:cNvPr id="13" name="layer-arrow-1"/>
          <p:cNvSpPr txBox="1"/>
          <p:nvPr/>
        </p:nvSpPr>
        <p:spPr>
          <a:xfrm>
            <a:off x="6035040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layer-2"/>
          <p:cNvSpPr/>
          <p:nvPr/>
        </p:nvSpPr>
        <p:spPr>
          <a:xfrm>
            <a:off x="6181344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layer-n-2"/>
          <p:cNvSpPr txBox="1"/>
          <p:nvPr/>
        </p:nvSpPr>
        <p:spPr>
          <a:xfrm>
            <a:off x="6409944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GOLD</a:t>
            </a:r>
            <a:endParaRPr lang="en-US" sz="1800" dirty="0"/>
          </a:p>
        </p:txBody>
      </p:sp>
      <p:sp>
        <p:nvSpPr>
          <p:cNvPr id="16" name="layer-s-2"/>
          <p:cNvSpPr txBox="1"/>
          <p:nvPr/>
        </p:nvSpPr>
        <p:spPr>
          <a:xfrm>
            <a:off x="6409944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의사결정 지표</a:t>
            </a:r>
            <a:endParaRPr lang="en-US" sz="1200" dirty="0"/>
          </a:p>
        </p:txBody>
      </p:sp>
      <p:sp>
        <p:nvSpPr>
          <p:cNvPr id="17" name="layer-i-2"/>
          <p:cNvSpPr txBox="1"/>
          <p:nvPr/>
        </p:nvSpPr>
        <p:spPr>
          <a:xfrm>
            <a:off x="6409944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data/05_gold → MySQL gold_board_* 11개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프로필·팀·경기 결과·후보 판정·품질</a:t>
            </a:r>
            <a:endParaRPr lang="en-US" sz="1200" dirty="0"/>
          </a:p>
        </p:txBody>
      </p:sp>
      <p:sp>
        <p:nvSpPr>
          <p:cNvPr id="18" name="layer-arrow-2"/>
          <p:cNvSpPr txBox="1"/>
          <p:nvPr/>
        </p:nvSpPr>
        <p:spPr>
          <a:xfrm>
            <a:off x="8851392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layer-3"/>
          <p:cNvSpPr/>
          <p:nvPr/>
        </p:nvSpPr>
        <p:spPr>
          <a:xfrm>
            <a:off x="8997696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20" name="layer-n-3"/>
          <p:cNvSpPr txBox="1"/>
          <p:nvPr/>
        </p:nvSpPr>
        <p:spPr>
          <a:xfrm>
            <a:off x="9226296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0600"/>
                </a:solidFill>
              </a:rPr>
              <a:t>화면</a:t>
            </a:r>
            <a:endParaRPr lang="en-US" sz="1800" dirty="0"/>
          </a:p>
        </p:txBody>
      </p:sp>
      <p:sp>
        <p:nvSpPr>
          <p:cNvPr id="21" name="layer-s-3"/>
          <p:cNvSpPr txBox="1"/>
          <p:nvPr/>
        </p:nvSpPr>
        <p:spPr>
          <a:xfrm>
            <a:off x="9226296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Django</a:t>
            </a:r>
            <a:endParaRPr lang="en-US" sz="1200" dirty="0"/>
          </a:p>
        </p:txBody>
      </p:sp>
      <p:sp>
        <p:nvSpPr>
          <p:cNvPr id="22" name="layer-i-3"/>
          <p:cNvSpPr txBox="1"/>
          <p:nvPr/>
        </p:nvSpPr>
        <p:spPr>
          <a:xfrm>
            <a:off x="9226296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Decision Board (/)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적재 테이블 조회 (/data/)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파이프라인 관리 (/ops/)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관리자 화면 '전체 실행' 한 번(약 9분)으로 원본에서 화면까지 다시 만들고, 단계마다 대사 결과를 확인할 수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2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2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우리 팀은 어디가 약한가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사례: 2025 Aston Martin, 비교 기준 Lance STROLL 자리. 처음 생각을 가설로 놓고, 데이터가 같은 방향인지 하나씩 확인합니다.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Aston Martin은 10팀 중 페이스 7위 — 중간보다 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필드 상대 페이스 · 21개 유효 경기 · 1,462개 참조 연결 랩</a:t>
            </a:r>
            <a:endParaRPr lang="en-US" sz="1400" dirty="0"/>
          </a:p>
        </p:txBody>
      </p:sp>
      <p:graphicFrame>
        <p:nvGraphicFramePr>
          <p:cNvPr id="4" name="chart-pace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ace-rank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ace-rank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 / 10</a:t>
            </a:r>
            <a:endParaRPr lang="en-US" sz="2800" dirty="0"/>
          </a:p>
        </p:txBody>
      </p:sp>
      <p:sp>
        <p:nvSpPr>
          <p:cNvPr id="7" name="pace-rank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같은 시즌 유효 팀 중 빠른 순서</a:t>
            </a:r>
            <a:endParaRPr lang="en-US" sz="1100" dirty="0"/>
          </a:p>
        </p:txBody>
      </p:sp>
      <p:sp>
        <p:nvSpPr>
          <p:cNvPr id="8" name="pace-pct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ace-pct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+0.46%</a:t>
            </a:r>
            <a:endParaRPr lang="en-US" sz="2800" dirty="0"/>
          </a:p>
        </p:txBody>
      </p:sp>
      <p:sp>
        <p:nvSpPr>
          <p:cNvPr id="10" name="pace-pct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필드 대비 상대 페이스 (중앙값보다 느림)</a:t>
            </a:r>
            <a:endParaRPr lang="en-US" sz="1100" dirty="0"/>
          </a:p>
        </p:txBody>
      </p:sp>
      <p:sp>
        <p:nvSpPr>
          <p:cNvPr id="11" name="pace-note"/>
          <p:cNvSpPr txBox="1"/>
          <p:nvPr/>
        </p:nvSpPr>
        <p:spPr>
          <a:xfrm>
            <a:off x="8183880" y="4160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차량 때문인지 선수 때문인지는 이 숫자만으로 가를 수 없다 — 그래서 팀 동료 비교를 함께 본다.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주행 경쟁력 격차는 관측된다. 상위 4팀과는 0.7%p 이상 벌어져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처음 생각 여섯 개 중 다섯은 데이터와 같은 방향, 하나는 보류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O = 관측값이 가설과 같은 방향 (좋은 성적·원인 입증 아님)  ·  ? = 표본·근거 부족으로 보류</a:t>
            </a:r>
            <a:endParaRPr lang="en-US" sz="1400" dirty="0"/>
          </a:p>
        </p:txBody>
      </p:sp>
      <p:sp>
        <p:nvSpPr>
          <p:cNvPr id="4" name="hyp-0"/>
          <p:cNvSpPr/>
          <p:nvPr/>
        </p:nvSpPr>
        <p:spPr>
          <a:xfrm>
            <a:off x="54864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hyp-badge-0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hyp-badge-0-t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7" name="hyp-k-0"/>
          <p:cNvSpPr txBox="1"/>
          <p:nvPr/>
        </p:nvSpPr>
        <p:spPr>
          <a:xfrm>
            <a:off x="14630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1 · 팀 진단</a:t>
            </a:r>
            <a:endParaRPr lang="en-US" sz="1100" dirty="0"/>
          </a:p>
        </p:txBody>
      </p:sp>
      <p:sp>
        <p:nvSpPr>
          <p:cNvPr id="8" name="hyp-h-0"/>
          <p:cNvSpPr txBox="1"/>
          <p:nvPr/>
        </p:nvSpPr>
        <p:spPr>
          <a:xfrm>
            <a:off x="77724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“주행 페이스는 팀들 중 중간보다 느릴 것”</a:t>
            </a:r>
            <a:endParaRPr lang="en-US" sz="1300" dirty="0"/>
          </a:p>
        </p:txBody>
      </p:sp>
      <p:sp>
        <p:nvSpPr>
          <p:cNvPr id="9" name="hyp-n-0"/>
          <p:cNvSpPr txBox="1"/>
          <p:nvPr/>
        </p:nvSpPr>
        <p:spPr>
          <a:xfrm>
            <a:off x="7772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7/10위 · +0.460%</a:t>
            </a:r>
            <a:endParaRPr lang="en-US" sz="1200" dirty="0"/>
          </a:p>
        </p:txBody>
      </p:sp>
      <p:sp>
        <p:nvSpPr>
          <p:cNvPr id="10" name="hyp-1"/>
          <p:cNvSpPr/>
          <p:nvPr/>
        </p:nvSpPr>
        <p:spPr>
          <a:xfrm>
            <a:off x="429768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hyp-badge-1"/>
          <p:cNvSpPr/>
          <p:nvPr/>
        </p:nvSpPr>
        <p:spPr>
          <a:xfrm>
            <a:off x="452628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hyp-badge-1-t"/>
          <p:cNvSpPr txBox="1"/>
          <p:nvPr/>
        </p:nvSpPr>
        <p:spPr>
          <a:xfrm>
            <a:off x="4526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13" name="hyp-k-1"/>
          <p:cNvSpPr txBox="1"/>
          <p:nvPr/>
        </p:nvSpPr>
        <p:spPr>
          <a:xfrm>
            <a:off x="52120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2 · 타이어</a:t>
            </a:r>
            <a:endParaRPr lang="en-US" sz="1100" dirty="0"/>
          </a:p>
        </p:txBody>
      </p:sp>
      <p:sp>
        <p:nvSpPr>
          <p:cNvPr id="14" name="hyp-h-1"/>
          <p:cNvSpPr txBox="1"/>
          <p:nvPr/>
        </p:nvSpPr>
        <p:spPr>
          <a:xfrm>
            <a:off x="452628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“오래 쓸수록 다른 차량보다 더 떨어질 것”</a:t>
            </a:r>
            <a:endParaRPr lang="en-US" sz="1300" dirty="0"/>
          </a:p>
        </p:txBody>
      </p:sp>
      <p:sp>
        <p:nvSpPr>
          <p:cNvPr id="15" name="hyp-n-1"/>
          <p:cNvSpPr txBox="1"/>
          <p:nvPr/>
        </p:nvSpPr>
        <p:spPr>
          <a:xfrm>
            <a:off x="452628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+2.8ms/랩 저하 방향 (10팀 중 가장 작음)</a:t>
            </a:r>
            <a:endParaRPr lang="en-US" sz="1200" dirty="0"/>
          </a:p>
        </p:txBody>
      </p:sp>
      <p:sp>
        <p:nvSpPr>
          <p:cNvPr id="16" name="hyp-2"/>
          <p:cNvSpPr/>
          <p:nvPr/>
        </p:nvSpPr>
        <p:spPr>
          <a:xfrm>
            <a:off x="804672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17" name="hyp-badge-2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8" name="hyp-badge-2-t"/>
          <p:cNvSpPr txBox="1"/>
          <p:nvPr/>
        </p:nvSpPr>
        <p:spPr>
          <a:xfrm>
            <a:off x="82753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en-US" sz="1500" dirty="0"/>
          </a:p>
        </p:txBody>
      </p:sp>
      <p:sp>
        <p:nvSpPr>
          <p:cNvPr id="19" name="hyp-k-2"/>
          <p:cNvSpPr txBox="1"/>
          <p:nvPr/>
        </p:nvSpPr>
        <p:spPr>
          <a:xfrm>
            <a:off x="89611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3 · 라인업</a:t>
            </a:r>
            <a:endParaRPr lang="en-US" sz="1100" dirty="0"/>
          </a:p>
        </p:txBody>
      </p:sp>
      <p:sp>
        <p:nvSpPr>
          <p:cNvPr id="20" name="hyp-h-2"/>
          <p:cNvSpPr txBox="1"/>
          <p:nvPr/>
        </p:nvSpPr>
        <p:spPr>
          <a:xfrm>
            <a:off x="827532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“STROLL이 팀 동료보다 느릴 것”</a:t>
            </a:r>
            <a:endParaRPr lang="en-US" sz="1300" dirty="0"/>
          </a:p>
        </p:txBody>
      </p:sp>
      <p:sp>
        <p:nvSpPr>
          <p:cNvPr id="21" name="hyp-n-2"/>
          <p:cNvSpPr txBox="1"/>
          <p:nvPr/>
        </p:nvSpPr>
        <p:spPr>
          <a:xfrm>
            <a:off x="82753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+0.220초 · 95% 구간이 0 포함</a:t>
            </a:r>
            <a:endParaRPr lang="en-US" sz="1200" dirty="0"/>
          </a:p>
        </p:txBody>
      </p:sp>
      <p:sp>
        <p:nvSpPr>
          <p:cNvPr id="22" name="hyp-3"/>
          <p:cNvSpPr/>
          <p:nvPr/>
        </p:nvSpPr>
        <p:spPr>
          <a:xfrm>
            <a:off x="54864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hyp-badge-3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hyp-badge-3-t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25" name="hyp-k-3"/>
          <p:cNvSpPr txBox="1"/>
          <p:nvPr/>
        </p:nvSpPr>
        <p:spPr>
          <a:xfrm>
            <a:off x="14630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4 · 피트 운영</a:t>
            </a:r>
            <a:endParaRPr lang="en-US" sz="1100" dirty="0"/>
          </a:p>
        </p:txBody>
      </p:sp>
      <p:sp>
        <p:nvSpPr>
          <p:cNvPr id="26" name="hyp-h-3"/>
          <p:cNvSpPr txBox="1"/>
          <p:nvPr/>
        </p:nvSpPr>
        <p:spPr>
          <a:xfrm>
            <a:off x="77724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“피트레인 이용시간이 다른 팀보다 길 것”</a:t>
            </a:r>
            <a:endParaRPr lang="en-US" sz="1300" dirty="0"/>
          </a:p>
        </p:txBody>
      </p:sp>
      <p:sp>
        <p:nvSpPr>
          <p:cNvPr id="27" name="hyp-n-3"/>
          <p:cNvSpPr txBox="1"/>
          <p:nvPr/>
        </p:nvSpPr>
        <p:spPr>
          <a:xfrm>
            <a:off x="77724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+0.282초 · 1초 초과 24.4%</a:t>
            </a:r>
            <a:endParaRPr lang="en-US" sz="1200" dirty="0"/>
          </a:p>
        </p:txBody>
      </p:sp>
      <p:sp>
        <p:nvSpPr>
          <p:cNvPr id="28" name="hyp-4"/>
          <p:cNvSpPr/>
          <p:nvPr/>
        </p:nvSpPr>
        <p:spPr>
          <a:xfrm>
            <a:off x="429768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9" name="hyp-badge-4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hyp-badge-4-t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1" name="hyp-k-4"/>
          <p:cNvSpPr txBox="1"/>
          <p:nvPr/>
        </p:nvSpPr>
        <p:spPr>
          <a:xfrm>
            <a:off x="521208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5 · 포인트</a:t>
            </a:r>
            <a:endParaRPr lang="en-US" sz="1100" dirty="0"/>
          </a:p>
        </p:txBody>
      </p:sp>
      <p:sp>
        <p:nvSpPr>
          <p:cNvPr id="32" name="hyp-h-4"/>
          <p:cNvSpPr txBox="1"/>
          <p:nvPr/>
        </p:nvSpPr>
        <p:spPr>
          <a:xfrm>
            <a:off x="452628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“페이스 순위와 기본 포인트 순위가 같을 것”</a:t>
            </a:r>
            <a:endParaRPr lang="en-US" sz="1300" dirty="0"/>
          </a:p>
        </p:txBody>
      </p:sp>
      <p:sp>
        <p:nvSpPr>
          <p:cNvPr id="33" name="hyp-n-4"/>
          <p:cNvSpPr txBox="1"/>
          <p:nvPr/>
        </p:nvSpPr>
        <p:spPr>
          <a:xfrm>
            <a:off x="45262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둘 다 7위 · 80점</a:t>
            </a:r>
            <a:endParaRPr lang="en-US" sz="1200" dirty="0"/>
          </a:p>
        </p:txBody>
      </p:sp>
      <p:sp>
        <p:nvSpPr>
          <p:cNvPr id="34" name="hyp-5"/>
          <p:cNvSpPr/>
          <p:nvPr/>
        </p:nvSpPr>
        <p:spPr>
          <a:xfrm>
            <a:off x="804672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35" name="hyp-badge-5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6" name="hyp-badge-5-t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7" name="hyp-k-5"/>
          <p:cNvSpPr txBox="1"/>
          <p:nvPr/>
        </p:nvSpPr>
        <p:spPr>
          <a:xfrm>
            <a:off x="896112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6 · 결론 안정성</a:t>
            </a:r>
            <a:endParaRPr lang="en-US" sz="1100" dirty="0"/>
          </a:p>
        </p:txBody>
      </p:sp>
      <p:sp>
        <p:nvSpPr>
          <p:cNvPr id="38" name="hyp-h-5"/>
          <p:cNvSpPr txBox="1"/>
          <p:nvPr/>
        </p:nvSpPr>
        <p:spPr>
          <a:xfrm>
            <a:off x="827532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“정제 기준을 바꿔도 후보 RUSSELL이 빠를 것”</a:t>
            </a:r>
            <a:endParaRPr lang="en-US" sz="1300" dirty="0"/>
          </a:p>
        </p:txBody>
      </p:sp>
      <p:sp>
        <p:nvSpPr>
          <p:cNvPr id="39" name="hyp-n-5"/>
          <p:cNvSpPr txBox="1"/>
          <p:nvPr/>
        </p:nvSpPr>
        <p:spPr>
          <a:xfrm>
            <a:off x="82753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11 / 11 조건 · 동료 대비도 11 / 11</a:t>
            </a:r>
            <a:endParaRPr lang="en-US" sz="1200" dirty="0"/>
          </a:p>
        </p:txBody>
      </p:sp>
      <p:sp>
        <p:nvSpPr>
          <p:cNvPr id="4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타이어 저하는 같은 방향이지만 크기는 10팀 중 가장 작다 — 약점은 타이어가 아니라 기본 페이스와 피트 쪽이다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피트가 같은 경기 타 팀보다 0.28초 늦다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피트레인 시간 차이 · 같은 경기의 타 팀 기준 대비 · 17경기</a:t>
            </a:r>
            <a:endParaRPr lang="en-US" sz="1400" dirty="0"/>
          </a:p>
        </p:txBody>
      </p:sp>
      <p:graphicFrame>
        <p:nvGraphicFramePr>
          <p:cNvPr id="4" name="chart-pi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i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i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+0.282초</a:t>
            </a:r>
            <a:endParaRPr lang="en-US" sz="2800" dirty="0"/>
          </a:p>
        </p:txBody>
      </p:sp>
      <p:sp>
        <p:nvSpPr>
          <p:cNvPr id="7" name="pi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피트레인 차이 (17경기)</a:t>
            </a:r>
            <a:endParaRPr lang="en-US" sz="1100" dirty="0"/>
          </a:p>
        </p:txBody>
      </p:sp>
      <p:sp>
        <p:nvSpPr>
          <p:cNvPr id="8" name="pi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i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24.4%</a:t>
            </a:r>
            <a:endParaRPr lang="en-US" sz="2800" dirty="0"/>
          </a:p>
        </p:txBody>
      </p:sp>
      <p:sp>
        <p:nvSpPr>
          <p:cNvPr id="10" name="pi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타 팀보다 1초 넘게 긴 피트 (11/45건)</a:t>
            </a:r>
            <a:endParaRPr lang="en-US" sz="1100" dirty="0"/>
          </a:p>
        </p:txBody>
      </p:sp>
      <p:sp>
        <p:nvSpPr>
          <p:cNvPr id="11" name="pi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i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1.77회 · 25랩</a:t>
            </a:r>
            <a:endParaRPr lang="en-US" sz="2800" dirty="0"/>
          </a:p>
        </p:txBody>
      </p:sp>
      <p:sp>
        <p:nvSpPr>
          <p:cNvPr id="13" name="pi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경기당 피트 · 스틴트 길이 중앙값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평균보다 '가끔 크게 길어지는 피트'가 문제 — 혼잡·정비·경기 상황이 섞여 있어 크루나 선수 실력으로 바로 귀속하지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6~9위 4팀이 18점 안 — 몇 점이 순위를 바꾸는 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팀별 본경기 기본 포인트 · 당시 소속팀 합산 · Sprint·보너스 제외</a:t>
            </a:r>
            <a:endParaRPr lang="en-US" sz="1400" dirty="0"/>
          </a:p>
        </p:txBody>
      </p:sp>
      <p:graphicFrame>
        <p:nvGraphicFramePr>
          <p:cNvPr id="4" name="chart-points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7위 · 80점</a:t>
            </a:r>
            <a:endParaRPr lang="en-US" sz="2800" dirty="0"/>
          </a:p>
        </p:txBody>
      </p:sp>
      <p:sp>
        <p:nvSpPr>
          <p:cNvPr id="7" name="p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기본 포인트 순위 (10개 관측 팀)</a:t>
            </a:r>
            <a:endParaRPr lang="en-US" sz="1100" dirty="0"/>
          </a:p>
        </p:txBody>
      </p:sp>
      <p:sp>
        <p:nvSpPr>
          <p:cNvPr id="8" name="p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−8점</a:t>
            </a:r>
            <a:endParaRPr lang="en-US" sz="2800" dirty="0"/>
          </a:p>
        </p:txBody>
      </p:sp>
      <p:sp>
        <p:nvSpPr>
          <p:cNvPr id="10" name="p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6위 Racing Bulls와의 차이</a:t>
            </a:r>
            <a:endParaRPr lang="en-US" sz="1100" dirty="0"/>
          </a:p>
        </p:txBody>
      </p:sp>
      <p:sp>
        <p:nvSpPr>
          <p:cNvPr id="11" name="p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+7점</a:t>
            </a:r>
            <a:endParaRPr lang="en-US" sz="2800" dirty="0"/>
          </a:p>
        </p:txBody>
      </p:sp>
      <p:sp>
        <p:nvSpPr>
          <p:cNvPr id="13" name="p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8위 Haas F1 Team과의 차이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성적은 팀 배분금·스폰서십 기회와 연결해 해석할 수 있는 배경 — 다만 금액이나 영입 후 포인트 증가는 추정하지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3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3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누가 그 약점을 메울 수 있나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먼저 같은 환경을 두 단계(같은 경기 · 같은 차)로 나눠 비교하고, 우리 약점에서 출발한 기준으로 후보를 고릅니다. 점수 하나로 줄 세우지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점수를 합치지 않으면 후보마다 강점이 다르게 보인다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괄호 = 2025 선수 20명 중 상위 % (작을수록 좋음) · 기준 선수보다 빠른 상위 후보 5명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371600"/>
                <a:gridCol w="1371600"/>
                <a:gridCol w="1280160"/>
                <a:gridCol w="1325880"/>
                <a:gridCol w="1051560"/>
                <a:gridCol w="1554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전체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최종 판정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Lance STROLL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Aston Martin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+0.417%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+0.220초 (90%)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0.664초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+20.4ms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29 (80%)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기준 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George RUSSELL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Mercedes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−0.539%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−0.138초 (40%)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0.561초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+21.1ms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289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Charles LECLERC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Ferrari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−0.814%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−0.202초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0.658초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+39.1ms (95%)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225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Lando NORRIS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−1.172%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−0.020초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0.576초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+14.7ms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394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Max VERSTAPPEN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 Bull Racing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−0.952%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−0.842초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0.595초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+21.3ms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389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Oscar PIASTRI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−1.087%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+0.020초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0.690초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+17.1ms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381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최종 판정 = 같은 경기 비교 · 정제 조건 11가지 · 시즌 전·후반 · 후보 자신의 동료 비교, 네 조건이 모두 반복되면 '동료 비교까지 반복' · 계약 가능성은 판단하지 않음</a:t>
            </a:r>
            <a:endParaRPr lang="en-US" sz="1100" dirty="0"/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가장 빠른 세 명이 아니라 RUSSELL·LECLERC가 끝까지 남았다 — 빠른 선수와 팀에 맞는 선수는 다르다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같은 환경 두 단계로 비교하면 남는 선수는 둘이다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① 같은 경기 비교(차량 포함) × ② 같은 차 동료 비교(선수만) · 2025 STROLL 자리 타 팀 후보 18명 · 정제 조건 11가지로 반복 확인</a:t>
            </a:r>
            <a:endParaRPr lang="en-US" sz="1400" dirty="0"/>
          </a:p>
        </p:txBody>
      </p:sp>
      <p:sp>
        <p:nvSpPr>
          <p:cNvPr id="5" name="cand-note"/>
          <p:cNvSpPr txBox="1"/>
          <p:nvPr/>
        </p:nvSpPr>
        <p:spPr>
          <a:xfrm>
            <a:off x="7943907" y="1554480"/>
            <a:ext cx="3714693" cy="4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 b="1">
                <a:solidFill>
                  <a:srgbClr val="1A1A1A"/>
                </a:solidFill>
              </a:rPr>
              <a:t>① 같은 경기 비교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같은 경기·컴파운드·5랩 구간 필드 기준 대비 페이스를 STROLL과 나란히. 차량 차이는 남는다.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/>
            </a:r>
          </a:p>
          <a:p>
            <a:pPr indent="0" marL="0">
              <a:buNone/>
            </a:pPr>
            <a:r>
              <a:rPr lang="en-US" sz="1100" dirty="0" b="1">
                <a:solidFill>
                  <a:srgbClr val="1A1A1A"/>
                </a:solidFill>
              </a:rPr>
              <a:t>② 같은 차 비교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같은 팀 동료와 같은 랩·컴파운드, 타이어 나이 차 3랩·시각 차 90초 이내 랩 쌍만. 차가 같아 선수 차이만 남는다.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/>
            </a:r>
          </a:p>
          <a:p>
            <a:pPr indent="0" marL="0">
              <a:buNone/>
            </a:pPr>
            <a:r>
              <a:rPr lang="en-US" sz="1100" dirty="0" b="1">
                <a:solidFill>
                  <a:srgbClr val="E10600"/>
                </a:solidFill>
              </a:rPr>
              <a:t>오른쪽 위 = 차도 빠르고 선수도 빠름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1A1A1A"/>
                </a:solidFill>
              </a:rPr>
              <a:t>RUSSELL·LECLERC만 ②의 95% 구간이 0 위, 11/11 조건 반복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/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NORRIS·PIASTRI: 서로 ±0.02초 → 차의 몫일 수 있음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VERSTAPPEN: 10/11 조건 → 기준 미달</a:t>
            </a:r>
          </a:p>
          <a:p>
            <a:pPr indent="0" marL="0">
              <a:buNone/>
            </a:pPr>
            <a:r>
              <a:rPr lang="en-US" sz="1100" dirty="0" b="0">
                <a:solidFill>
                  <a:srgbClr val="6B6B6B"/>
                </a:solidFill>
              </a:rPr>
              <a:t>HAMILTON·ANTONELLI: 동료에게 0/11</a:t>
            </a:r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차를 빼고 같은 차 동료와 비교해도 빠른 선수는 RUSSELL·LECLERC 둘뿐이다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selec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166667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선정 기준: 약점은 메우고, 강점은 지킨다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② 진단에서 출발 · 선수가 바꿀 수 있는 것만 기준으로 · 상위 % = 2025 선수 20명 중 (작을수록 좋음)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3657600"/>
        </p:xfrm>
        <a:graphic>
          <a:graphicData uri="http://schemas.openxmlformats.org/drawingml/2006/table">
            <a:tbl>
              <a:tblPr/>
              <a:tblGrid>
                <a:gridCol w="1700000"/>
                <a:gridCol w="1250000"/>
                <a:gridCol w="1350000"/>
                <a:gridCol w="2050000"/>
                <a:gridCol w="1250000"/>
                <a:gridCol w="1250000"/>
                <a:gridCol w="1150000"/>
                <a:gridCol w="1109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우리 팀 상태 (②)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바꿀 수 있나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판단 지표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통과 기준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RUSSELL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LECLERC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NORRIS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VERSTAPPEN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기본 페이스 약함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+0.46% · 7위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예 → 메운다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① 같은 경기 비교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11/11 조건 · 구간 0 미만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전·후반 모두 빠름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−1.03%p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18/18경기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−1.12%p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16/17경기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통과 −1.47%p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통과 −1.48%p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그 빠름이 차 때문인가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② 같은 차 동료 비교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11/11 조건에서 동료보다 빠름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−0.138초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ANTONELLI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통과 −0.202초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HAMILTON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미달 8/11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0" dirty="0">
                          <a:solidFill>
                            <a:srgbClr val="6B6B6B"/>
                          </a:solidFill>
                        </a:rPr>
                        <a:t>미달 10/11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타이어 유지 강함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10팀 중 1위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예 → 지킨다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타이어 유지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상위 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STROLL 55%와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비슷하거나 좋음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1">
                          <a:solidFill>
                            <a:srgbClr val="E10600"/>
                          </a:solidFill>
                        </a:rPr>
                        <a:t>60% (유지)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95% (하위)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30%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70%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안정성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보조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일관성 상위 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동률일 때 참고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10%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55%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20%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1A1A1A"/>
                          </a:solidFill>
                        </a:rPr>
                        <a:t>30%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피트 +0.28초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아니오</a:t>
                      </a:r>
                    </a:p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팀 운영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영입과 별도 과제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 b="0">
                          <a:solidFill>
                            <a:srgbClr val="6B6B6B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3035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① 같은 경기 비교는 차량이 섞인 값이라 1차 선별에만 쓴다 · RUSSELL의 동료 ANTONELLI는 2025 신인이라 동료 대비 값은 같은 자로 잰 숫자가 아니다</a:t>
            </a:r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둘 다 페이스를 메운다 · RUSSELL은 팀 강점인 타이어 유지까지 지켜 1순위, LECLERC는 페이스 근거가 더 크지만 타이어 확인이 먼저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결과: 우선 검토 후보는 RUSSELL과 LECLERC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Aston Martin · 비교 기준 Lance STROLL 자리 · 타 팀 후보 19명</a:t>
            </a:r>
            <a:endParaRPr lang="en-US" sz="1400" dirty="0"/>
          </a:p>
        </p:txBody>
      </p:sp>
      <p:sp>
        <p:nvSpPr>
          <p:cNvPr id="4" name="funnel-0"/>
          <p:cNvSpPr/>
          <p:nvPr/>
        </p:nvSpPr>
        <p:spPr>
          <a:xfrm>
            <a:off x="548640" y="1554480"/>
            <a:ext cx="3566160" cy="1143000"/>
          </a:xfrm>
          <a:prstGeom prst="rect">
            <a:avLst/>
          </a:prstGeom>
          <a:solidFill>
            <a:srgbClr val="B5B5B5"/>
          </a:solidFill>
          <a:ln w="12700">
            <a:solidFill>
              <a:srgbClr val="B5B5B5"/>
            </a:solidFill>
            <a:prstDash val="solid"/>
          </a:ln>
        </p:spPr>
      </p:sp>
      <p:sp>
        <p:nvSpPr>
          <p:cNvPr id="5" name="funnel-n-0"/>
          <p:cNvSpPr txBox="1"/>
          <p:nvPr/>
        </p:nvSpPr>
        <p:spPr>
          <a:xfrm>
            <a:off x="731520" y="1664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19명</a:t>
            </a:r>
            <a:endParaRPr lang="en-US" sz="2800" dirty="0"/>
          </a:p>
        </p:txBody>
      </p:sp>
      <p:sp>
        <p:nvSpPr>
          <p:cNvPr id="6" name="funnel-l-0"/>
          <p:cNvSpPr txBox="1"/>
          <p:nvPr/>
        </p:nvSpPr>
        <p:spPr>
          <a:xfrm>
            <a:off x="731520" y="2212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타 팀 전체 후보</a:t>
            </a:r>
            <a:endParaRPr lang="en-US" sz="1100" dirty="0"/>
          </a:p>
        </p:txBody>
      </p:sp>
      <p:sp>
        <p:nvSpPr>
          <p:cNvPr id="7" name="funnel-1"/>
          <p:cNvSpPr/>
          <p:nvPr/>
        </p:nvSpPr>
        <p:spPr>
          <a:xfrm>
            <a:off x="891540" y="2926080"/>
            <a:ext cx="2880360" cy="1143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8" name="funnel-n-1"/>
          <p:cNvSpPr txBox="1"/>
          <p:nvPr/>
        </p:nvSpPr>
        <p:spPr>
          <a:xfrm>
            <a:off x="1074420" y="30358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7명</a:t>
            </a:r>
            <a:endParaRPr lang="en-US" sz="2800" dirty="0"/>
          </a:p>
        </p:txBody>
      </p:sp>
      <p:sp>
        <p:nvSpPr>
          <p:cNvPr id="9" name="funnel-l-1"/>
          <p:cNvSpPr txBox="1"/>
          <p:nvPr/>
        </p:nvSpPr>
        <p:spPr>
          <a:xfrm>
            <a:off x="1074420" y="35844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기준 선수보다 빠름 · 정제 조건 11/11 반복</a:t>
            </a:r>
            <a:endParaRPr lang="en-US" sz="1100" dirty="0"/>
          </a:p>
        </p:txBody>
      </p:sp>
      <p:sp>
        <p:nvSpPr>
          <p:cNvPr id="10" name="funnel-2"/>
          <p:cNvSpPr/>
          <p:nvPr/>
        </p:nvSpPr>
        <p:spPr>
          <a:xfrm>
            <a:off x="1234440" y="4297680"/>
            <a:ext cx="2194560" cy="1143000"/>
          </a:xfrm>
          <a:prstGeom prst="rect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1" name="funnel-n-2"/>
          <p:cNvSpPr txBox="1"/>
          <p:nvPr/>
        </p:nvSpPr>
        <p:spPr>
          <a:xfrm>
            <a:off x="1417320" y="4407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2명</a:t>
            </a:r>
            <a:endParaRPr lang="en-US" sz="2800" dirty="0"/>
          </a:p>
        </p:txBody>
      </p:sp>
      <p:sp>
        <p:nvSpPr>
          <p:cNvPr id="12" name="funnel-l-2"/>
          <p:cNvSpPr txBox="1"/>
          <p:nvPr/>
        </p:nvSpPr>
        <p:spPr>
          <a:xfrm>
            <a:off x="1417320" y="49560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자기 팀 동료 대비까지 11/11 반복</a:t>
            </a:r>
            <a:endParaRPr lang="en-US" sz="1100" dirty="0"/>
          </a:p>
        </p:txBody>
      </p:sp>
      <p:sp>
        <p:nvSpPr>
          <p:cNvPr id="13" name="res-0"/>
          <p:cNvSpPr/>
          <p:nvPr/>
        </p:nvSpPr>
        <p:spPr>
          <a:xfrm>
            <a:off x="45720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DECEC"/>
          </a:solidFill>
          <a:ln w="15875">
            <a:solidFill>
              <a:srgbClr val="E10600"/>
            </a:solidFill>
            <a:prstDash val="solid"/>
          </a:ln>
        </p:spPr>
      </p:sp>
      <p:sp>
        <p:nvSpPr>
          <p:cNvPr id="14" name="res-rank-0"/>
          <p:cNvSpPr txBox="1"/>
          <p:nvPr/>
        </p:nvSpPr>
        <p:spPr>
          <a:xfrm>
            <a:off x="480060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1순위</a:t>
            </a:r>
            <a:endParaRPr lang="en-US" sz="1200" dirty="0"/>
          </a:p>
        </p:txBody>
      </p:sp>
      <p:sp>
        <p:nvSpPr>
          <p:cNvPr id="15" name="res-name-0"/>
          <p:cNvSpPr txBox="1"/>
          <p:nvPr/>
        </p:nvSpPr>
        <p:spPr>
          <a:xfrm>
            <a:off x="4800600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George RUSSELL</a:t>
            </a:r>
            <a:endParaRPr lang="en-US" sz="1900" dirty="0"/>
          </a:p>
        </p:txBody>
      </p:sp>
      <p:sp>
        <p:nvSpPr>
          <p:cNvPr id="16" name="res-team-0"/>
          <p:cNvSpPr txBox="1"/>
          <p:nvPr/>
        </p:nvSpPr>
        <p:spPr>
          <a:xfrm>
            <a:off x="480060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Mercedes</a:t>
            </a:r>
            <a:endParaRPr lang="en-US" sz="1100" dirty="0"/>
          </a:p>
        </p:txBody>
      </p:sp>
      <p:sp>
        <p:nvSpPr>
          <p:cNvPr id="17" name="res-k-0-0"/>
          <p:cNvSpPr txBox="1"/>
          <p:nvPr/>
        </p:nvSpPr>
        <p:spPr>
          <a:xfrm>
            <a:off x="480060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res-v-0-0"/>
          <p:cNvSpPr txBox="1"/>
          <p:nvPr/>
        </p:nvSpPr>
        <p:spPr>
          <a:xfrm>
            <a:off x="6263640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−1.03%p</a:t>
            </a:r>
            <a:endParaRPr lang="en-US" sz="1400" dirty="0"/>
          </a:p>
        </p:txBody>
      </p:sp>
      <p:sp>
        <p:nvSpPr>
          <p:cNvPr id="19" name="res-d-0-0"/>
          <p:cNvSpPr txBox="1"/>
          <p:nvPr/>
        </p:nvSpPr>
        <p:spPr>
          <a:xfrm>
            <a:off x="4800600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−1.48 ~ −0.68 · 공통 18경기</a:t>
            </a:r>
            <a:endParaRPr lang="en-US" sz="950" dirty="0"/>
          </a:p>
        </p:txBody>
      </p:sp>
      <p:sp>
        <p:nvSpPr>
          <p:cNvPr id="20" name="res-k-0-1"/>
          <p:cNvSpPr txBox="1"/>
          <p:nvPr/>
        </p:nvSpPr>
        <p:spPr>
          <a:xfrm>
            <a:off x="4800600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1" name="res-v-0-1"/>
          <p:cNvSpPr txBox="1"/>
          <p:nvPr/>
        </p:nvSpPr>
        <p:spPr>
          <a:xfrm>
            <a:off x="6263640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−0.138초/랩</a:t>
            </a:r>
            <a:endParaRPr lang="en-US" sz="1400" dirty="0"/>
          </a:p>
        </p:txBody>
      </p:sp>
      <p:sp>
        <p:nvSpPr>
          <p:cNvPr id="22" name="res-d-0-1"/>
          <p:cNvSpPr txBox="1"/>
          <p:nvPr/>
        </p:nvSpPr>
        <p:spPr>
          <a:xfrm>
            <a:off x="4800600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−0.48 ~ −0.08 · 11/11 조건</a:t>
            </a:r>
            <a:endParaRPr lang="en-US" sz="950" dirty="0"/>
          </a:p>
        </p:txBody>
      </p:sp>
      <p:sp>
        <p:nvSpPr>
          <p:cNvPr id="23" name="res-k-0-2"/>
          <p:cNvSpPr txBox="1"/>
          <p:nvPr/>
        </p:nvSpPr>
        <p:spPr>
          <a:xfrm>
            <a:off x="4800600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일관성 · 타이어 유지</a:t>
            </a:r>
            <a:endParaRPr lang="en-US" sz="1000" dirty="0"/>
          </a:p>
        </p:txBody>
      </p:sp>
      <p:sp>
        <p:nvSpPr>
          <p:cNvPr id="24" name="res-v-0-2"/>
          <p:cNvSpPr txBox="1"/>
          <p:nvPr/>
        </p:nvSpPr>
        <p:spPr>
          <a:xfrm>
            <a:off x="6263640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상위 10% · 60%</a:t>
            </a:r>
            <a:endParaRPr lang="en-US" sz="1400" dirty="0"/>
          </a:p>
        </p:txBody>
      </p:sp>
      <p:sp>
        <p:nvSpPr>
          <p:cNvPr id="25" name="res-d-0-2"/>
          <p:cNvSpPr txBox="1"/>
          <p:nvPr/>
        </p:nvSpPr>
        <p:spPr>
          <a:xfrm>
            <a:off x="4800600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랩 편차가 작고 타이어 유지는 STROLL(55%)과 비슷</a:t>
            </a:r>
            <a:endParaRPr lang="en-US" sz="950" dirty="0"/>
          </a:p>
        </p:txBody>
      </p:sp>
      <p:sp>
        <p:nvSpPr>
          <p:cNvPr id="26" name="res-tag-0"/>
          <p:cNvSpPr txBox="1"/>
          <p:nvPr/>
        </p:nvSpPr>
        <p:spPr>
          <a:xfrm>
            <a:off x="48006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우위 반복 + 팀 강점(타이어) 유지</a:t>
            </a:r>
            <a:endParaRPr lang="en-US" sz="1200" dirty="0"/>
          </a:p>
        </p:txBody>
      </p:sp>
      <p:sp>
        <p:nvSpPr>
          <p:cNvPr id="27" name="res-1"/>
          <p:cNvSpPr/>
          <p:nvPr/>
        </p:nvSpPr>
        <p:spPr>
          <a:xfrm>
            <a:off x="8156448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8" name="res-rank-1"/>
          <p:cNvSpPr txBox="1"/>
          <p:nvPr/>
        </p:nvSpPr>
        <p:spPr>
          <a:xfrm>
            <a:off x="8385048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2순위</a:t>
            </a:r>
            <a:endParaRPr lang="en-US" sz="1200" dirty="0"/>
          </a:p>
        </p:txBody>
      </p:sp>
      <p:sp>
        <p:nvSpPr>
          <p:cNvPr id="29" name="res-name-1"/>
          <p:cNvSpPr txBox="1"/>
          <p:nvPr/>
        </p:nvSpPr>
        <p:spPr>
          <a:xfrm>
            <a:off x="8385048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Charles LECLERC</a:t>
            </a:r>
            <a:endParaRPr lang="en-US" sz="1900" dirty="0"/>
          </a:p>
        </p:txBody>
      </p:sp>
      <p:sp>
        <p:nvSpPr>
          <p:cNvPr id="30" name="res-team-1"/>
          <p:cNvSpPr txBox="1"/>
          <p:nvPr/>
        </p:nvSpPr>
        <p:spPr>
          <a:xfrm>
            <a:off x="8385048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Ferrari</a:t>
            </a:r>
            <a:endParaRPr lang="en-US" sz="1100" dirty="0"/>
          </a:p>
        </p:txBody>
      </p:sp>
      <p:sp>
        <p:nvSpPr>
          <p:cNvPr id="31" name="res-k-1-0"/>
          <p:cNvSpPr txBox="1"/>
          <p:nvPr/>
        </p:nvSpPr>
        <p:spPr>
          <a:xfrm>
            <a:off x="8385048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32" name="res-v-1-0"/>
          <p:cNvSpPr txBox="1"/>
          <p:nvPr/>
        </p:nvSpPr>
        <p:spPr>
          <a:xfrm>
            <a:off x="9848088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−1.12%p</a:t>
            </a:r>
            <a:endParaRPr lang="en-US" sz="1400" dirty="0"/>
          </a:p>
        </p:txBody>
      </p:sp>
      <p:sp>
        <p:nvSpPr>
          <p:cNvPr id="33" name="res-d-1-0"/>
          <p:cNvSpPr txBox="1"/>
          <p:nvPr/>
        </p:nvSpPr>
        <p:spPr>
          <a:xfrm>
            <a:off x="8385048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−1.60 ~ −1.00 · 공통 17경기</a:t>
            </a:r>
            <a:endParaRPr lang="en-US" sz="950" dirty="0"/>
          </a:p>
        </p:txBody>
      </p:sp>
      <p:sp>
        <p:nvSpPr>
          <p:cNvPr id="34" name="res-k-1-1"/>
          <p:cNvSpPr txBox="1"/>
          <p:nvPr/>
        </p:nvSpPr>
        <p:spPr>
          <a:xfrm>
            <a:off x="8385048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5" name="res-v-1-1"/>
          <p:cNvSpPr txBox="1"/>
          <p:nvPr/>
        </p:nvSpPr>
        <p:spPr>
          <a:xfrm>
            <a:off x="9848088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−0.202초/랩</a:t>
            </a:r>
            <a:endParaRPr lang="en-US" sz="1400" dirty="0"/>
          </a:p>
        </p:txBody>
      </p:sp>
      <p:sp>
        <p:nvSpPr>
          <p:cNvPr id="36" name="res-d-1-1"/>
          <p:cNvSpPr txBox="1"/>
          <p:nvPr/>
        </p:nvSpPr>
        <p:spPr>
          <a:xfrm>
            <a:off x="8385048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−0.35 ~ −0.11 · 11/11 조건</a:t>
            </a:r>
            <a:endParaRPr lang="en-US" sz="950" dirty="0"/>
          </a:p>
        </p:txBody>
      </p:sp>
      <p:sp>
        <p:nvSpPr>
          <p:cNvPr id="37" name="res-k-1-2"/>
          <p:cNvSpPr txBox="1"/>
          <p:nvPr/>
        </p:nvSpPr>
        <p:spPr>
          <a:xfrm>
            <a:off x="8385048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일관성 · 타이어 유지</a:t>
            </a:r>
            <a:endParaRPr lang="en-US" sz="1000" dirty="0"/>
          </a:p>
        </p:txBody>
      </p:sp>
      <p:sp>
        <p:nvSpPr>
          <p:cNvPr id="38" name="res-v-1-2"/>
          <p:cNvSpPr txBox="1"/>
          <p:nvPr/>
        </p:nvSpPr>
        <p:spPr>
          <a:xfrm>
            <a:off x="9848088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55% · 95%</a:t>
            </a:r>
            <a:endParaRPr lang="en-US" sz="1400" dirty="0"/>
          </a:p>
        </p:txBody>
      </p:sp>
      <p:sp>
        <p:nvSpPr>
          <p:cNvPr id="39" name="res-d-1-2"/>
          <p:cNvSpPr txBox="1"/>
          <p:nvPr/>
        </p:nvSpPr>
        <p:spPr>
          <a:xfrm>
            <a:off x="8385048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타이어를 오래 쓸수록 페이스가 떨어짐</a:t>
            </a:r>
            <a:endParaRPr lang="en-US" sz="950" dirty="0"/>
          </a:p>
        </p:txBody>
      </p:sp>
      <p:sp>
        <p:nvSpPr>
          <p:cNvPr id="40" name="res-tag-1"/>
          <p:cNvSpPr txBox="1"/>
          <p:nvPr/>
        </p:nvSpPr>
        <p:spPr>
          <a:xfrm>
            <a:off x="8385048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페이스 근거는 더 크지만 타이어 유지 확인 필요</a:t>
            </a:r>
            <a:endParaRPr lang="en-US" sz="1200" dirty="0"/>
          </a:p>
        </p:txBody>
      </p:sp>
      <p:sp>
        <p:nvSpPr>
          <p:cNvPr id="41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RUSSELL 1순위: 페이스를 메우면서 팀 강점(타이어 유지)을 지킨다 · LECLERC는 페이스 근거가 더 크지만 타이어 유지 확인이 먼저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가장 빠른 세 명이 빠진 이유 — 자기 팀 동료를 이기지 못했다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차량이 빠른 팀의 후보는 기존 차량 이점이 섞여 있다 → 자기 팀 동료와 비교해야 선수 개인의 우위로 본다</a:t>
            </a:r>
            <a:endParaRPr lang="en-US" sz="1400" dirty="0"/>
          </a:p>
        </p:txBody>
      </p:sp>
      <p:sp>
        <p:nvSpPr>
          <p:cNvPr id="4" name="out-0"/>
          <p:cNvSpPr/>
          <p:nvPr/>
        </p:nvSpPr>
        <p:spPr>
          <a:xfrm>
            <a:off x="54864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out-n-0"/>
          <p:cNvSpPr txBox="1"/>
          <p:nvPr/>
        </p:nvSpPr>
        <p:spPr>
          <a:xfrm>
            <a:off x="77724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Lando NORRIS</a:t>
            </a:r>
            <a:endParaRPr lang="en-US" sz="1700" dirty="0"/>
          </a:p>
        </p:txBody>
      </p:sp>
      <p:sp>
        <p:nvSpPr>
          <p:cNvPr id="6" name="out-t-0"/>
          <p:cNvSpPr txBox="1"/>
          <p:nvPr/>
        </p:nvSpPr>
        <p:spPr>
          <a:xfrm>
            <a:off x="77724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7" name="out-k-0-0"/>
          <p:cNvSpPr txBox="1"/>
          <p:nvPr/>
        </p:nvSpPr>
        <p:spPr>
          <a:xfrm>
            <a:off x="77724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8" name="out-v-0-0"/>
          <p:cNvSpPr txBox="1"/>
          <p:nvPr/>
        </p:nvSpPr>
        <p:spPr>
          <a:xfrm>
            <a:off x="210312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9" name="out-k-0-1"/>
          <p:cNvSpPr txBox="1"/>
          <p:nvPr/>
        </p:nvSpPr>
        <p:spPr>
          <a:xfrm>
            <a:off x="77724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10" name="out-v-0-1"/>
          <p:cNvSpPr txBox="1"/>
          <p:nvPr/>
        </p:nvSpPr>
        <p:spPr>
          <a:xfrm>
            <a:off x="210312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−0.020초 (−0.20 ~ +0.07)</a:t>
            </a:r>
            <a:endParaRPr lang="en-US" sz="1100" dirty="0"/>
          </a:p>
        </p:txBody>
      </p:sp>
      <p:sp>
        <p:nvSpPr>
          <p:cNvPr id="11" name="out-k-0-2"/>
          <p:cNvSpPr txBox="1"/>
          <p:nvPr/>
        </p:nvSpPr>
        <p:spPr>
          <a:xfrm>
            <a:off x="77724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12" name="out-v-0-2"/>
          <p:cNvSpPr txBox="1"/>
          <p:nvPr/>
        </p:nvSpPr>
        <p:spPr>
          <a:xfrm>
            <a:off x="210312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8 / 11</a:t>
            </a:r>
            <a:endParaRPr lang="en-US" sz="1400" dirty="0"/>
          </a:p>
        </p:txBody>
      </p:sp>
      <p:sp>
        <p:nvSpPr>
          <p:cNvPr id="13" name="out-why-0"/>
          <p:cNvSpPr txBox="1"/>
          <p:nvPr/>
        </p:nvSpPr>
        <p:spPr>
          <a:xfrm>
            <a:off x="77724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PIASTRI와 차이가 0을 포함</a:t>
            </a:r>
            <a:endParaRPr lang="en-US" sz="1100" dirty="0"/>
          </a:p>
        </p:txBody>
      </p:sp>
      <p:sp>
        <p:nvSpPr>
          <p:cNvPr id="14" name="out-1"/>
          <p:cNvSpPr/>
          <p:nvPr/>
        </p:nvSpPr>
        <p:spPr>
          <a:xfrm>
            <a:off x="429768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out-n-1"/>
          <p:cNvSpPr txBox="1"/>
          <p:nvPr/>
        </p:nvSpPr>
        <p:spPr>
          <a:xfrm>
            <a:off x="452628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Max VERSTAPPEN</a:t>
            </a:r>
            <a:endParaRPr lang="en-US" sz="1700" dirty="0"/>
          </a:p>
        </p:txBody>
      </p:sp>
      <p:sp>
        <p:nvSpPr>
          <p:cNvPr id="16" name="out-t-1"/>
          <p:cNvSpPr txBox="1"/>
          <p:nvPr/>
        </p:nvSpPr>
        <p:spPr>
          <a:xfrm>
            <a:off x="452628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Red Bull Racing</a:t>
            </a:r>
            <a:endParaRPr lang="en-US" sz="1100" dirty="0"/>
          </a:p>
        </p:txBody>
      </p:sp>
      <p:sp>
        <p:nvSpPr>
          <p:cNvPr id="17" name="out-k-1-0"/>
          <p:cNvSpPr txBox="1"/>
          <p:nvPr/>
        </p:nvSpPr>
        <p:spPr>
          <a:xfrm>
            <a:off x="452628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out-v-1-0"/>
          <p:cNvSpPr txBox="1"/>
          <p:nvPr/>
        </p:nvSpPr>
        <p:spPr>
          <a:xfrm>
            <a:off x="585216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19" name="out-k-1-1"/>
          <p:cNvSpPr txBox="1"/>
          <p:nvPr/>
        </p:nvSpPr>
        <p:spPr>
          <a:xfrm>
            <a:off x="452628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0" name="out-v-1-1"/>
          <p:cNvSpPr txBox="1"/>
          <p:nvPr/>
        </p:nvSpPr>
        <p:spPr>
          <a:xfrm>
            <a:off x="585216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−0.842초 (−1.39 ~ −0.50)</a:t>
            </a:r>
            <a:endParaRPr lang="en-US" sz="1100" dirty="0"/>
          </a:p>
        </p:txBody>
      </p:sp>
      <p:sp>
        <p:nvSpPr>
          <p:cNvPr id="21" name="out-k-1-2"/>
          <p:cNvSpPr txBox="1"/>
          <p:nvPr/>
        </p:nvSpPr>
        <p:spPr>
          <a:xfrm>
            <a:off x="452628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22" name="out-v-1-2"/>
          <p:cNvSpPr txBox="1"/>
          <p:nvPr/>
        </p:nvSpPr>
        <p:spPr>
          <a:xfrm>
            <a:off x="585216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10 / 11</a:t>
            </a:r>
            <a:endParaRPr lang="en-US" sz="1400" dirty="0"/>
          </a:p>
        </p:txBody>
      </p:sp>
      <p:sp>
        <p:nvSpPr>
          <p:cNvPr id="23" name="out-why-1"/>
          <p:cNvSpPr txBox="1"/>
          <p:nvPr/>
        </p:nvSpPr>
        <p:spPr>
          <a:xfrm>
            <a:off x="452628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대비 1개 조건에서 반복 안 됨</a:t>
            </a:r>
            <a:endParaRPr lang="en-US" sz="1100" dirty="0"/>
          </a:p>
        </p:txBody>
      </p:sp>
      <p:sp>
        <p:nvSpPr>
          <p:cNvPr id="24" name="out-2"/>
          <p:cNvSpPr/>
          <p:nvPr/>
        </p:nvSpPr>
        <p:spPr>
          <a:xfrm>
            <a:off x="804672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5" name="out-n-2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Oscar PIASTRI</a:t>
            </a:r>
            <a:endParaRPr lang="en-US" sz="1700" dirty="0"/>
          </a:p>
        </p:txBody>
      </p:sp>
      <p:sp>
        <p:nvSpPr>
          <p:cNvPr id="26" name="out-t-2"/>
          <p:cNvSpPr txBox="1"/>
          <p:nvPr/>
        </p:nvSpPr>
        <p:spPr>
          <a:xfrm>
            <a:off x="827532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27" name="out-k-2-0"/>
          <p:cNvSpPr txBox="1"/>
          <p:nvPr/>
        </p:nvSpPr>
        <p:spPr>
          <a:xfrm>
            <a:off x="827532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28" name="out-v-2-0"/>
          <p:cNvSpPr txBox="1"/>
          <p:nvPr/>
        </p:nvSpPr>
        <p:spPr>
          <a:xfrm>
            <a:off x="960120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−1.49%p</a:t>
            </a:r>
            <a:endParaRPr lang="en-US" sz="1400" dirty="0"/>
          </a:p>
        </p:txBody>
      </p:sp>
      <p:sp>
        <p:nvSpPr>
          <p:cNvPr id="29" name="out-k-2-1"/>
          <p:cNvSpPr txBox="1"/>
          <p:nvPr/>
        </p:nvSpPr>
        <p:spPr>
          <a:xfrm>
            <a:off x="827532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0" name="out-v-2-1"/>
          <p:cNvSpPr txBox="1"/>
          <p:nvPr/>
        </p:nvSpPr>
        <p:spPr>
          <a:xfrm>
            <a:off x="960120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+0.020초 (−0.07 ~ +0.20)</a:t>
            </a:r>
            <a:endParaRPr lang="en-US" sz="1100" dirty="0"/>
          </a:p>
        </p:txBody>
      </p:sp>
      <p:sp>
        <p:nvSpPr>
          <p:cNvPr id="31" name="out-k-2-2"/>
          <p:cNvSpPr txBox="1"/>
          <p:nvPr/>
        </p:nvSpPr>
        <p:spPr>
          <a:xfrm>
            <a:off x="827532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32" name="out-v-2-2"/>
          <p:cNvSpPr txBox="1"/>
          <p:nvPr/>
        </p:nvSpPr>
        <p:spPr>
          <a:xfrm>
            <a:off x="960120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3 / 11</a:t>
            </a:r>
            <a:endParaRPr lang="en-US" sz="1400" dirty="0"/>
          </a:p>
        </p:txBody>
      </p:sp>
      <p:sp>
        <p:nvSpPr>
          <p:cNvPr id="33" name="out-why-2"/>
          <p:cNvSpPr txBox="1"/>
          <p:nvPr/>
        </p:nvSpPr>
        <p:spPr>
          <a:xfrm>
            <a:off x="827532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NORRIS보다 빠르다는 근거 없음</a:t>
            </a:r>
            <a:endParaRPr lang="en-US" sz="1100" dirty="0"/>
          </a:p>
        </p:txBody>
      </p:sp>
      <p:sp>
        <p:nvSpPr>
          <p:cNvPr id="34" name="out-note"/>
          <p:cNvSpPr/>
          <p:nvPr/>
        </p:nvSpPr>
        <p:spPr>
          <a:xfrm>
            <a:off x="548640" y="484632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35" name="out-note-t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판정: 페이스 우위만 반복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세 명 모두 기준 선수보다 1.5%p 가까이 빠르고 정제 조건 11/11에서도 빨랐다. 그러나 이 차이가 차량 덕분인지 선수 덕분인지는 자기 팀 동료를 꾸준히 이겨야 가를 수 있다.</a:t>
            </a:r>
            <a:endParaRPr lang="en-US" sz="1200" dirty="0"/>
          </a:p>
        </p:txBody>
      </p:sp>
      <p:sp>
        <p:nvSpPr>
          <p:cNvPr id="3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빠르다는 사실만으로는 영입 근거가 되지 않는다 — 결론이 RUSSELL·LECLERC가 된 이유다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1,824개 조합 중 끝까지 통과한 것은 88건(4.8%)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2023~2026 모든 시즌의 팀 자리 × 타 팀 후보를 같은 기준으로 판정</a:t>
            </a:r>
            <a:endParaRPr lang="en-US" sz="1400" dirty="0"/>
          </a:p>
        </p:txBody>
      </p:sp>
      <p:graphicFrame>
        <p:nvGraphicFramePr>
          <p:cNvPr id="4" name="chart-verdic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verdict-rules"/>
          <p:cNvSpPr/>
          <p:nvPr/>
        </p:nvSpPr>
        <p:spPr>
          <a:xfrm>
            <a:off x="8183880" y="1554480"/>
            <a:ext cx="3474720" cy="4160520"/>
          </a:xfrm>
          <a:prstGeom prst="roundRect">
            <a:avLst>
              <a:gd name="adj" fmla="val 157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verdict-h"/>
          <p:cNvSpPr txBox="1"/>
          <p:nvPr/>
        </p:nvSpPr>
        <p:spPr>
          <a:xfrm>
            <a:off x="841248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'동료 비교까지 반복' 조건</a:t>
            </a:r>
            <a:endParaRPr lang="en-US" sz="1300" dirty="0"/>
          </a:p>
        </p:txBody>
      </p:sp>
      <p:sp>
        <p:nvSpPr>
          <p:cNvPr id="7" name="verdict-list"/>
          <p:cNvSpPr txBox="1"/>
          <p:nvPr/>
        </p:nvSpPr>
        <p:spPr>
          <a:xfrm>
            <a:off x="8412480" y="219456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정제 조건 11가지 모두에서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95% 재표집 구간이 0보다 아래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시즌 전·후반 각각 4경기 이상에서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후보 자신의 동료 비교에서도 반복</a:t>
            </a:r>
            <a:endParaRPr lang="en-US" sz="1200" dirty="0"/>
          </a:p>
        </p:txBody>
      </p:sp>
      <p:sp>
        <p:nvSpPr>
          <p:cNvPr id="8" name="verdict-note"/>
          <p:cNvSpPr txBox="1"/>
          <p:nvPr/>
        </p:nvSpPr>
        <p:spPr>
          <a:xfrm>
            <a:off x="841248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빠르기만 한 경우(349건)는 차량 효과를 배제하지 못해 한 단계 아래로 둔다</a:t>
            </a:r>
            <a:endParaRPr lang="en-US" sz="1100" dirty="0"/>
          </a:p>
        </p:txBody>
      </p:sp>
      <p:sp>
        <p:nvSpPr>
          <p:cNvPr id="9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쉽게 '추천'하지 않는 보수적 기준 — 페이스 우위 하나로 영입 결론을 내리지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교체해도 우승은 어렵다 — 현실적 목표는 팀 6위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시뮬레이션 · 가정 기반 추정 (Gold 관측 근거와 구분) · 2025 본경기 24경기 4,000번 재현 · 차량·선수 효과는 2023~2025로 분리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371600"/>
                <a:gridCol w="1371600"/>
                <a:gridCol w="1280160"/>
                <a:gridCol w="1325880"/>
                <a:gridCol w="1051560"/>
                <a:gridCol w="1554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원래 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시즌 1승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포디움 1회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 기대 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 기대 순위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 6위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2025만 추정 · 6위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실제 라인업 (STROLL)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Aston Martin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9.3%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7.7%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Max VERSTAPPEN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Red Bull Racing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63.8%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99.9%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235.0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4.0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Charles LECLERC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Ferrari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3.1%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49.4%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107.6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6.3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65.0%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47.8%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Carlos SAINZ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Williams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32.5%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90.8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6.5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53.9%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17.6%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Lando NORRIS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31.6%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88.2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39.6%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17.4%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↔ George RUSSELL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Mercedes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11.6%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69.0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7.9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11.5%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36.0%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모델 적중: 실제 라인업 재현 시 팀별 포인트 상관 0.99(평균 오차 20.6점), 경기 우승자 적중 37.5% → 시즌 합계로 읽는다 · STROLL과 후보는 같은 팀에서 뛴 적이 없어 비교에 "연결 그룹 평균이 같다"는 가정이 들어 있다 · VERSTAPPEN은 과대평가 가능</a:t>
            </a:r>
            <a:endParaRPr lang="en-US" sz="1100" dirty="0"/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LECLERC는 어느 추정 기간에서도 팀 6위 확률을 크게 올린다 — RUSSELL의 이득은 기간에 따라 흔들려 차량 영향일 수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판단을 한 화면에서, 다른 팀·시즌으로 반복할 수 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Decision Board · 조건 선택: 시즌 · 팀 · 비교 기준 선수 · 후보 정렬 기준 · 후보 소속 범위</a:t>
            </a:r>
            <a:endParaRPr lang="en-US" sz="1400" dirty="0"/>
          </a:p>
        </p:txBody>
      </p:sp>
      <p:pic>
        <p:nvPicPr>
          <p:cNvPr id="4" name="board-shot" descr="C:\Users\User\AppData\Local\Temp\claude\D--workspace-mlo-02-p2-team1\80d8d160-e2ae-4a70-aa59-51235a8aa30d\scratchpad\deck\boar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4343400"/>
          </a:xfrm>
          <a:prstGeom prst="rect">
            <a:avLst/>
          </a:prstGeom>
        </p:spPr>
      </p:pic>
      <p:sp>
        <p:nvSpPr>
          <p:cNvPr id="5" name="bsec-0"/>
          <p:cNvSpPr/>
          <p:nvPr/>
        </p:nvSpPr>
        <p:spPr>
          <a:xfrm>
            <a:off x="7863840" y="1554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bsec-0-t"/>
          <p:cNvSpPr txBox="1"/>
          <p:nvPr/>
        </p:nvSpPr>
        <p:spPr>
          <a:xfrm>
            <a:off x="78638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bsec-t-0"/>
          <p:cNvSpPr txBox="1"/>
          <p:nvPr/>
        </p:nvSpPr>
        <p:spPr>
          <a:xfrm>
            <a:off x="8458200" y="1618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처음 생각 vs 데이터 결과</a:t>
            </a:r>
            <a:endParaRPr lang="en-US" sz="1400" dirty="0"/>
          </a:p>
        </p:txBody>
      </p:sp>
      <p:sp>
        <p:nvSpPr>
          <p:cNvPr id="8" name="bsec-1"/>
          <p:cNvSpPr/>
          <p:nvPr/>
        </p:nvSpPr>
        <p:spPr>
          <a:xfrm>
            <a:off x="7863840" y="22402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bsec-1-t"/>
          <p:cNvSpPr txBox="1"/>
          <p:nvPr/>
        </p:nvSpPr>
        <p:spPr>
          <a:xfrm>
            <a:off x="7863840" y="2240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bsec-t-1"/>
          <p:cNvSpPr txBox="1"/>
          <p:nvPr/>
        </p:nvSpPr>
        <p:spPr>
          <a:xfrm>
            <a:off x="8458200" y="2304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포인트와 경제적 의미</a:t>
            </a:r>
            <a:endParaRPr lang="en-US" sz="1400" dirty="0"/>
          </a:p>
        </p:txBody>
      </p:sp>
      <p:sp>
        <p:nvSpPr>
          <p:cNvPr id="11" name="bsec-2"/>
          <p:cNvSpPr/>
          <p:nvPr/>
        </p:nvSpPr>
        <p:spPr>
          <a:xfrm>
            <a:off x="7863840" y="2926080"/>
            <a:ext cx="438912" cy="438912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2" name="bsec-2-t"/>
          <p:cNvSpPr txBox="1"/>
          <p:nvPr/>
        </p:nvSpPr>
        <p:spPr>
          <a:xfrm>
            <a:off x="7863840" y="2926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3" name="bsec-t-2"/>
          <p:cNvSpPr txBox="1"/>
          <p:nvPr/>
        </p:nvSpPr>
        <p:spPr>
          <a:xfrm>
            <a:off x="8458200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영입 후보 비교</a:t>
            </a:r>
            <a:endParaRPr lang="en-US" sz="1400" dirty="0"/>
          </a:p>
        </p:txBody>
      </p:sp>
      <p:sp>
        <p:nvSpPr>
          <p:cNvPr id="14" name="bsec-3"/>
          <p:cNvSpPr/>
          <p:nvPr/>
        </p:nvSpPr>
        <p:spPr>
          <a:xfrm>
            <a:off x="7863840" y="36118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bsec-3-t"/>
          <p:cNvSpPr txBox="1"/>
          <p:nvPr/>
        </p:nvSpPr>
        <p:spPr>
          <a:xfrm>
            <a:off x="78638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6" name="bsec-t-3"/>
          <p:cNvSpPr txBox="1"/>
          <p:nvPr/>
        </p:nvSpPr>
        <p:spPr>
          <a:xfrm>
            <a:off x="8458200" y="3675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후보 검토 근거</a:t>
            </a:r>
            <a:endParaRPr lang="en-US" sz="1400" dirty="0"/>
          </a:p>
        </p:txBody>
      </p:sp>
      <p:sp>
        <p:nvSpPr>
          <p:cNvPr id="17" name="bsec-4"/>
          <p:cNvSpPr/>
          <p:nvPr/>
        </p:nvSpPr>
        <p:spPr>
          <a:xfrm>
            <a:off x="7863840" y="42976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bsec-4-t"/>
          <p:cNvSpPr txBox="1"/>
          <p:nvPr/>
        </p:nvSpPr>
        <p:spPr>
          <a:xfrm>
            <a:off x="786384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9" name="bsec-t-4"/>
          <p:cNvSpPr txBox="1"/>
          <p:nvPr/>
        </p:nvSpPr>
        <p:spPr>
          <a:xfrm>
            <a:off x="8458200" y="43616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팀별 피트 운영 비교</a:t>
            </a:r>
            <a:endParaRPr lang="en-US" sz="1400" dirty="0"/>
          </a:p>
        </p:txBody>
      </p:sp>
      <p:sp>
        <p:nvSpPr>
          <p:cNvPr id="20" name="bsec-5"/>
          <p:cNvSpPr/>
          <p:nvPr/>
        </p:nvSpPr>
        <p:spPr>
          <a:xfrm>
            <a:off x="7863840" y="4983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bsec-5-t"/>
          <p:cNvSpPr txBox="1"/>
          <p:nvPr/>
        </p:nvSpPr>
        <p:spPr>
          <a:xfrm>
            <a:off x="78638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2" name="bsec-t-5"/>
          <p:cNvSpPr txBox="1"/>
          <p:nvPr/>
        </p:nvSpPr>
        <p:spPr>
          <a:xfrm>
            <a:off x="8458200" y="5047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데이터와 한계</a:t>
            </a:r>
            <a:endParaRPr lang="en-US" sz="1400" dirty="0"/>
          </a:p>
        </p:txBody>
      </p:sp>
      <p:sp>
        <p:nvSpPr>
          <p:cNvPr id="23" name="board-src"/>
          <p:cNvSpPr txBox="1"/>
          <p:nvPr/>
        </p:nvSpPr>
        <p:spPr>
          <a:xfrm>
            <a:off x="7863840" y="54864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화면 데이터는 MySQL Gold 테이블(gold_board_*)에서 읽는다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4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4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무엇을 할 것인가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앞의 숫자에서 바로 나오는 다섯 가지입니다. 각 항목에 근거 슬라이드를 적었습니다. 숫자가 받쳐 주지 않는 제안은 넣지 않았습니다.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다섯 가지 제안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오른쪽 숫자가 제안의 크기, 그 아래가 근거 슬라이드</a:t>
            </a:r>
            <a:endParaRPr lang="en-US" sz="1400" dirty="0"/>
          </a:p>
        </p:txBody>
      </p:sp>
      <p:sp>
        <p:nvSpPr>
          <p:cNvPr id="4" name="prop-0"/>
          <p:cNvSpPr/>
          <p:nvPr/>
        </p:nvSpPr>
        <p:spPr>
          <a:xfrm>
            <a:off x="548640" y="146304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5" name="prop-n-0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6" name="prop-n-0-t"/>
          <p:cNvSpPr txBox="1"/>
          <p:nvPr/>
        </p:nvSpPr>
        <p:spPr>
          <a:xfrm>
            <a:off x="731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prop-h-0"/>
          <p:cNvSpPr txBox="1"/>
          <p:nvPr/>
        </p:nvSpPr>
        <p:spPr>
          <a:xfrm>
            <a:off x="1325880" y="15361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RUSSELL·LECLERC를 우선 검토 후보로 올린다 (1순위 RUSSELL)</a:t>
            </a:r>
            <a:endParaRPr lang="en-US" sz="1400" dirty="0"/>
          </a:p>
        </p:txBody>
      </p:sp>
      <p:sp>
        <p:nvSpPr>
          <p:cNvPr id="8" name="prop-d-0"/>
          <p:cNvSpPr txBox="1"/>
          <p:nvPr/>
        </p:nvSpPr>
        <p:spPr>
          <a:xfrm>
            <a:off x="1325880" y="1847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후보 19명 중 같은 경기 비교와 같은 차(동료) 비교를 11/11 조건에서 모두 통과한 두 명이다. RUSSELL은 팀 강점인 타이어 유지도 지킨다. 계약 가능성은 별도로 확인한다.</a:t>
            </a:r>
            <a:endParaRPr lang="en-US" sz="1050" dirty="0"/>
          </a:p>
        </p:txBody>
      </p:sp>
      <p:sp>
        <p:nvSpPr>
          <p:cNvPr id="9" name="prop-v-0"/>
          <p:cNvSpPr txBox="1"/>
          <p:nvPr/>
        </p:nvSpPr>
        <p:spPr>
          <a:xfrm>
            <a:off x="9601200" y="151790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2명</a:t>
            </a:r>
            <a:endParaRPr lang="en-US" sz="2000" dirty="0"/>
          </a:p>
        </p:txBody>
      </p:sp>
      <p:sp>
        <p:nvSpPr>
          <p:cNvPr id="10" name="prop-r-0"/>
          <p:cNvSpPr txBox="1"/>
          <p:nvPr/>
        </p:nvSpPr>
        <p:spPr>
          <a:xfrm>
            <a:off x="96012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18 · 19 · 20 · 23</a:t>
            </a:r>
            <a:endParaRPr lang="en-US" sz="1000" dirty="0"/>
          </a:p>
        </p:txBody>
      </p:sp>
      <p:sp>
        <p:nvSpPr>
          <p:cNvPr id="11" name="prop-1"/>
          <p:cNvSpPr/>
          <p:nvPr/>
        </p:nvSpPr>
        <p:spPr>
          <a:xfrm>
            <a:off x="548640" y="2350008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2" name="prop-n-1"/>
          <p:cNvSpPr/>
          <p:nvPr/>
        </p:nvSpPr>
        <p:spPr>
          <a:xfrm>
            <a:off x="731520" y="2532888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13" name="prop-n-1-t"/>
          <p:cNvSpPr txBox="1"/>
          <p:nvPr/>
        </p:nvSpPr>
        <p:spPr>
          <a:xfrm>
            <a:off x="731520" y="2532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prop-h-1"/>
          <p:cNvSpPr txBox="1"/>
          <p:nvPr/>
        </p:nvSpPr>
        <p:spPr>
          <a:xfrm>
            <a:off x="132588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가장 빠른 후보를 바로 고르지 않는다</a:t>
            </a:r>
            <a:endParaRPr lang="en-US" sz="1400" dirty="0"/>
          </a:p>
        </p:txBody>
      </p:sp>
      <p:sp>
        <p:nvSpPr>
          <p:cNvPr id="15" name="prop-d-1"/>
          <p:cNvSpPr txBox="1"/>
          <p:nvPr/>
        </p:nvSpPr>
        <p:spPr>
          <a:xfrm>
            <a:off x="1325880" y="273405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NORRIS·VERSTAPPEN·PIASTRI는 페이스 우위만 반복됐다. 전체 1,824개 조합에서도 네 조건을 모두 통과한 것은 4.8%뿐이다.</a:t>
            </a:r>
            <a:endParaRPr lang="en-US" sz="1050" dirty="0"/>
          </a:p>
        </p:txBody>
      </p:sp>
      <p:sp>
        <p:nvSpPr>
          <p:cNvPr id="16" name="prop-v-1"/>
          <p:cNvSpPr txBox="1"/>
          <p:nvPr/>
        </p:nvSpPr>
        <p:spPr>
          <a:xfrm>
            <a:off x="9601200" y="240487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4.8%</a:t>
            </a:r>
            <a:endParaRPr lang="en-US" sz="2000" dirty="0"/>
          </a:p>
        </p:txBody>
      </p:sp>
      <p:sp>
        <p:nvSpPr>
          <p:cNvPr id="17" name="prop-r-1"/>
          <p:cNvSpPr txBox="1"/>
          <p:nvPr/>
        </p:nvSpPr>
        <p:spPr>
          <a:xfrm>
            <a:off x="9601200" y="282549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21 · 22</a:t>
            </a:r>
            <a:endParaRPr lang="en-US" sz="1000" dirty="0"/>
          </a:p>
        </p:txBody>
      </p:sp>
      <p:sp>
        <p:nvSpPr>
          <p:cNvPr id="18" name="prop-2"/>
          <p:cNvSpPr/>
          <p:nvPr/>
        </p:nvSpPr>
        <p:spPr>
          <a:xfrm>
            <a:off x="548640" y="3236976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19" name="prop-n-2"/>
          <p:cNvSpPr/>
          <p:nvPr/>
        </p:nvSpPr>
        <p:spPr>
          <a:xfrm>
            <a:off x="731520" y="3419856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20" name="prop-n-2-t"/>
          <p:cNvSpPr txBox="1"/>
          <p:nvPr/>
        </p:nvSpPr>
        <p:spPr>
          <a:xfrm>
            <a:off x="731520" y="3419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rop-h-2"/>
          <p:cNvSpPr txBox="1"/>
          <p:nvPr/>
        </p:nvSpPr>
        <p:spPr>
          <a:xfrm>
            <a:off x="1325880" y="33101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피트레인 손실부터 점검한다</a:t>
            </a:r>
            <a:endParaRPr lang="en-US" sz="1400" dirty="0"/>
          </a:p>
        </p:txBody>
      </p:sp>
      <p:sp>
        <p:nvSpPr>
          <p:cNvPr id="22" name="prop-d-2"/>
          <p:cNvSpPr txBox="1"/>
          <p:nvPr/>
        </p:nvSpPr>
        <p:spPr>
          <a:xfrm>
            <a:off x="1325880" y="362102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같은 경기 타 팀보다 0.282초 길고, 1초 넘게 긴 피트가 45건 중 11건이다. 영입과 별개로 혼잡·정비 원인을 먼저 확인한다.</a:t>
            </a:r>
            <a:endParaRPr lang="en-US" sz="1050" dirty="0"/>
          </a:p>
        </p:txBody>
      </p:sp>
      <p:sp>
        <p:nvSpPr>
          <p:cNvPr id="23" name="prop-v-2"/>
          <p:cNvSpPr txBox="1"/>
          <p:nvPr/>
        </p:nvSpPr>
        <p:spPr>
          <a:xfrm>
            <a:off x="9601200" y="3291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+0.28초</a:t>
            </a:r>
            <a:endParaRPr lang="en-US" sz="2000" dirty="0"/>
          </a:p>
        </p:txBody>
      </p:sp>
      <p:sp>
        <p:nvSpPr>
          <p:cNvPr id="24" name="prop-r-2"/>
          <p:cNvSpPr txBox="1"/>
          <p:nvPr/>
        </p:nvSpPr>
        <p:spPr>
          <a:xfrm>
            <a:off x="9601200" y="371246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14</a:t>
            </a:r>
            <a:endParaRPr lang="en-US" sz="1000" dirty="0"/>
          </a:p>
        </p:txBody>
      </p:sp>
      <p:sp>
        <p:nvSpPr>
          <p:cNvPr id="25" name="prop-3"/>
          <p:cNvSpPr/>
          <p:nvPr/>
        </p:nvSpPr>
        <p:spPr>
          <a:xfrm>
            <a:off x="548640" y="4123944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26" name="prop-n-3"/>
          <p:cNvSpPr/>
          <p:nvPr/>
        </p:nvSpPr>
        <p:spPr>
          <a:xfrm>
            <a:off x="731520" y="4306824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27" name="prop-n-3-t"/>
          <p:cNvSpPr txBox="1"/>
          <p:nvPr/>
        </p:nvSpPr>
        <p:spPr>
          <a:xfrm>
            <a:off x="731520" y="43068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prop-h-3"/>
          <p:cNvSpPr txBox="1"/>
          <p:nvPr/>
        </p:nvSpPr>
        <p:spPr>
          <a:xfrm>
            <a:off x="1325880" y="419709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접전 구간의 경기별 결과 차이를 추적한다</a:t>
            </a:r>
            <a:endParaRPr lang="en-US" sz="1400" dirty="0"/>
          </a:p>
        </p:txBody>
      </p:sp>
      <p:sp>
        <p:nvSpPr>
          <p:cNvPr id="29" name="prop-d-3"/>
          <p:cNvSpPr txBox="1"/>
          <p:nvPr/>
        </p:nvSpPr>
        <p:spPr>
          <a:xfrm>
            <a:off x="1325880" y="450799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6~9위 4팀이 18점 안이다. 완주·출발 대비 순위 변화 같은 결과 지표를 경기 단위로 비교해 몇 점이 어디서 갈리는지 본다.</a:t>
            </a:r>
            <a:endParaRPr lang="en-US" sz="1050" dirty="0"/>
          </a:p>
        </p:txBody>
      </p:sp>
      <p:sp>
        <p:nvSpPr>
          <p:cNvPr id="30" name="prop-v-3"/>
          <p:cNvSpPr txBox="1"/>
          <p:nvPr/>
        </p:nvSpPr>
        <p:spPr>
          <a:xfrm>
            <a:off x="9601200" y="4178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18점</a:t>
            </a:r>
            <a:endParaRPr lang="en-US" sz="2000" dirty="0"/>
          </a:p>
        </p:txBody>
      </p:sp>
      <p:sp>
        <p:nvSpPr>
          <p:cNvPr id="31" name="prop-r-3"/>
          <p:cNvSpPr txBox="1"/>
          <p:nvPr/>
        </p:nvSpPr>
        <p:spPr>
          <a:xfrm>
            <a:off x="9601200" y="4599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15</a:t>
            </a:r>
            <a:endParaRPr lang="en-US" sz="1000" dirty="0"/>
          </a:p>
        </p:txBody>
      </p:sp>
      <p:sp>
        <p:nvSpPr>
          <p:cNvPr id="32" name="prop-4"/>
          <p:cNvSpPr/>
          <p:nvPr/>
        </p:nvSpPr>
        <p:spPr>
          <a:xfrm>
            <a:off x="548640" y="5010912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  <p:txBody>
          <a:bodyPr/>
          <a:p/>
        </p:txBody>
      </p:sp>
      <p:sp>
        <p:nvSpPr>
          <p:cNvPr id="33" name="prop-n-4"/>
          <p:cNvSpPr/>
          <p:nvPr/>
        </p:nvSpPr>
        <p:spPr>
          <a:xfrm>
            <a:off x="731520" y="5193792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  <p:txBody>
          <a:bodyPr/>
          <a:p/>
        </p:txBody>
      </p:sp>
      <p:sp>
        <p:nvSpPr>
          <p:cNvPr id="34" name="prop-n-4-t"/>
          <p:cNvSpPr txBox="1"/>
          <p:nvPr/>
        </p:nvSpPr>
        <p:spPr>
          <a:xfrm>
            <a:off x="731520" y="5193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prop-h-4"/>
          <p:cNvSpPr txBox="1"/>
          <p:nvPr/>
        </p:nvSpPr>
        <p:spPr>
          <a:xfrm>
            <a:off x="1325880" y="50840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LECLERC는 장기 스틴트 타이어 유지를 먼저 확인한다</a:t>
            </a:r>
            <a:endParaRPr lang="en-US" sz="1400" dirty="0"/>
          </a:p>
        </p:txBody>
      </p:sp>
      <p:sp>
        <p:nvSpPr>
          <p:cNvPr id="36" name="prop-d-4"/>
          <p:cNvSpPr txBox="1"/>
          <p:nvPr/>
        </p:nvSpPr>
        <p:spPr>
          <a:xfrm>
            <a:off x="132588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Aston Martin은 타이어 유지가 10팀 중 가장 좋은데, LECLERC의 타이어 유지는 선수 20명 중 하위(상위 95%)다. 영입하면 약점이 하나 생길 수 있다.</a:t>
            </a:r>
            <a:endParaRPr lang="en-US" sz="1050" dirty="0"/>
          </a:p>
        </p:txBody>
      </p:sp>
      <p:sp>
        <p:nvSpPr>
          <p:cNvPr id="37" name="prop-v-4"/>
          <p:cNvSpPr txBox="1"/>
          <p:nvPr/>
        </p:nvSpPr>
        <p:spPr>
          <a:xfrm>
            <a:off x="9601200" y="506577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+39.1ms</a:t>
            </a:r>
            <a:endParaRPr lang="en-US" sz="2000" dirty="0"/>
          </a:p>
        </p:txBody>
      </p:sp>
      <p:sp>
        <p:nvSpPr>
          <p:cNvPr id="38" name="prop-r-4"/>
          <p:cNvSpPr txBox="1"/>
          <p:nvPr/>
        </p:nvSpPr>
        <p:spPr>
          <a:xfrm>
            <a:off x="9601200" y="54864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13 · 19 · 20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이 보고서가 말하지 않는 것</a:t>
            </a:r>
            <a:endParaRPr lang="en-US" sz="3000" dirty="0"/>
          </a:p>
        </p:txBody>
      </p:sp>
      <p:sp>
        <p:nvSpPr>
          <p:cNvPr id="3" name="lim-lead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10600"/>
                </a:solidFill>
              </a:rPr>
              <a:t>분석에는 한계가 있고, 그것을 적는 것까지가 분석입니다.</a:t>
            </a:r>
            <a:endParaRPr lang="en-US" sz="1500" dirty="0"/>
          </a:p>
        </p:txBody>
      </p:sp>
      <p:sp>
        <p:nvSpPr>
          <p:cNvPr id="4" name="lim-list"/>
          <p:cNvSpPr txBox="1"/>
          <p:nvPr/>
        </p:nvSpPr>
        <p:spPr>
          <a:xfrm>
            <a:off x="731520" y="1965960"/>
            <a:ext cx="10698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후보 지표는 차량 효과를 분리하지 않았다 — 교체 시뮬레이션(23)에서만 분리했고, 그 결과는 추정 기간에 따라 달라진다.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영입 효과를 말하지 않았다 — 조건별 우위가 반복되어도 이적 후 성과·순위 상승이 입증되는 것은 아니다.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공식 챔피언십 점수가 아니다 — 본경기 기본 포인트는 Sprint·보너스·예외 배점·사후 정정을 뺀 재구성 값이다.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금액을 추정하지 않았다 — 배분금·스폰서 수익은 계산하지 않고, 성적과의 관계만 정성적으로 설명한다.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다중 비교를 보정하지 않았다 — 95% 구간은 탐색적 선별용이며, 확정하려면 독립 시즌으로 검증해야 한다.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Gold 수치의 계산 코드가 저장소에 없다 — 후보 지표는 정제 v0.2.0으로 계산한 결과 파일이다(v0.3.0과 차이는 22셀·2행).</a:t>
            </a:r>
            <a:endParaRPr lang="en-US" sz="1400" dirty="0"/>
          </a:p>
        </p:txBody>
      </p:sp>
      <p:sp>
        <p:nvSpPr>
          <p:cNvPr id="5" name="lim-next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다음에 볼 것 — ① RUSSELL·LECLERC를 다음 시즌 데이터로 다시 판정  ② 분석 코드를 저장소로 가져와 Gold 재계산  ③ 추가 5종 원본 응답 보존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부록 — 이 숫자를 다시 만드는 방법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누구나 같은 숫자를 다시 만들 수 있어야 보고서다</a:t>
            </a:r>
            <a:endParaRPr lang="en-US" sz="1400" dirty="0"/>
          </a:p>
        </p:txBody>
      </p:sp>
      <p:sp>
        <p:nvSpPr>
          <p:cNvPr id="4" name="appx-basis"/>
          <p:cNvSpPr/>
          <p:nvPr/>
        </p:nvSpPr>
        <p:spPr>
          <a:xfrm>
            <a:off x="548640" y="150876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appx-basis-h"/>
          <p:cNvSpPr txBox="1"/>
          <p:nvPr/>
        </p:nvSpPr>
        <p:spPr>
          <a:xfrm>
            <a:off x="822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기준 네 가지</a:t>
            </a:r>
            <a:endParaRPr lang="en-US" sz="1400" dirty="0"/>
          </a:p>
        </p:txBody>
      </p:sp>
      <p:sp>
        <p:nvSpPr>
          <p:cNvPr id="6" name="appx-basis-list"/>
          <p:cNvSpPr txBox="1"/>
          <p:nvPr/>
        </p:nvSpPr>
        <p:spPr>
          <a:xfrm>
            <a:off x="822960" y="210312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분석 범위 = 2023 ~ 2026-10-14에 종료된 본경기(Race) 87경기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원본은 수정하지 않는다 — data/01_raw의 zip을 그대로 읽는다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결측은 채우지 않는다 — 연결되지 않는 기록은 해당 비교에서만 제외하고 N/A로 표시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포인트 = 본경기 최종 순위에 기본 배점, 당시 소속팀으로 합산</a:t>
            </a:r>
            <a:endParaRPr lang="en-US" sz="1200" dirty="0"/>
          </a:p>
        </p:txBody>
      </p:sp>
      <p:sp>
        <p:nvSpPr>
          <p:cNvPr id="7" name="appx-run"/>
          <p:cNvSpPr/>
          <p:nvPr/>
        </p:nvSpPr>
        <p:spPr>
          <a:xfrm>
            <a:off x="6080760" y="1508760"/>
            <a:ext cx="5577840" cy="4206240"/>
          </a:xfrm>
          <a:prstGeom prst="roundRect">
            <a:avLst>
              <a:gd name="adj" fmla="val 1304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appx-run-h"/>
          <p:cNvSpPr txBox="1"/>
          <p:nvPr/>
        </p:nvSpPr>
        <p:spPr>
          <a:xfrm>
            <a:off x="63550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실행 순서 (저장소 루트)</a:t>
            </a:r>
            <a:endParaRPr lang="en-US" sz="1400" dirty="0"/>
          </a:p>
        </p:txBody>
      </p:sp>
      <p:sp>
        <p:nvSpPr>
          <p:cNvPr id="9" name="appx-run-code"/>
          <p:cNvSpPr txBox="1"/>
          <p:nvPr/>
        </p:nvSpPr>
        <p:spPr>
          <a:xfrm>
            <a:off x="6355080" y="21031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pipeline.extra_data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pipeline.recovery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pipeline.validate_cleaned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 &lt; sql/01 → 02 → 03(mysql84) → 04 → 05 → 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load_board_gold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build_gold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또는 /ops/ 관리자 화면 → '전체 실행' (약 9분)</a:t>
            </a:r>
            <a:endParaRPr lang="en-US" sz="1200" dirty="0"/>
          </a:p>
        </p:txBody>
      </p:sp>
      <p:sp>
        <p:nvSpPr>
          <p:cNvPr id="1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전체 실행 후 확인: 적재 대사 13개 테이블 차이 0, 포인트 합 일치, Gold 적재 후 원천과 값 일치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한 장으로 다시</a:t>
            </a:r>
            <a:endParaRPr lang="en-US" sz="3000" dirty="0"/>
          </a:p>
        </p:txBody>
      </p:sp>
      <p:sp>
        <p:nvSpPr>
          <p:cNvPr id="3" name="closing-text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데이터는 믿을 수 있게 만들었고, </a:t>
            </a:r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2025 Aston Martin의 약점은 기본 페이스와 피트 운영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이다. 6~9위가 18점 안에 모인 접전이라 작은 차이가 순위를 바꾼다.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STROLL 자리의 우선 검토 후보는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RUSSELL(1순위)과 LECLERC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다. 후보 19명 중 자기 팀 동료 대비 우위까지 모든 조건에서 반복된 두 명이다. 가장 빠른 NORRIS·VERSTAPPEN·PIASTRI는 차량 이점을 배제하지 못했다.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영입과 별개로,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타 팀보다 0.28초 늦은 피트는 지금 바로 점검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할 수 있다.</a:t>
            </a:r>
            <a:endParaRPr lang="en-US" sz="2100" dirty="0"/>
          </a:p>
        </p:txBody>
      </p:sp>
      <p:sp>
        <p:nvSpPr>
          <p:cNvPr id="4" name="closing-rule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5" name="closing-foot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모든 숫자는 2023 ~ 2026-10-14 종료 본경기 87경기 · 정제 v0.3.0 · 본경기 기본 포인트(Sprint·보너스 제외) · Team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 Black White">
  <a:themeElements>
    <a:clrScheme name="Red Black White">
      <a:dk1>
        <a:srgbClr val="1A1A1A"/>
      </a:dk1>
      <a:lt1>
        <a:srgbClr val="FFFFFF"/>
      </a:lt1>
      <a:dk2>
        <a:srgbClr val="6B6B6B"/>
      </a:dk2>
      <a:lt2>
        <a:srgbClr val="F4F4F4"/>
      </a:lt2>
      <a:accent1>
        <a:srgbClr val="E10600"/>
      </a:accent1>
      <a:accent2>
        <a:srgbClr val="1A1A1A"/>
      </a:accent2>
      <a:accent3>
        <a:srgbClr val="8C8C8C"/>
      </a:accent3>
      <a:accent4>
        <a:srgbClr val="B5B5B5"/>
      </a:accent4>
      <a:accent5>
        <a:srgbClr val="E5E5E5"/>
      </a:accent5>
      <a:accent6>
        <a:srgbClr val="7A0300"/>
      </a:accent6>
      <a:hlink>
        <a:srgbClr val="E10600"/>
      </a:hlink>
      <a:folHlink>
        <a:srgbClr val="6B6B6B"/>
      </a:folHlink>
    </a:clrScheme>
    <a:fontScheme name="Red Black Whit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Team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 Team Builder — 데이터 분석 보고</dc:title>
  <dc:subject>PptxGenJS Presentation</dc:subject>
  <dc:creator>Team 1</dc:creator>
  <cp:lastModifiedBy>Team 1</cp:lastModifiedBy>
  <cp:revision>1</cp:revision>
  <dcterms:created xsi:type="dcterms:W3CDTF">2026-10-15T11:21:14Z</dcterms:created>
  <dcterms:modified xsi:type="dcterms:W3CDTF">2026-10-15T11:21:14Z</dcterms:modified>
</cp:coreProperties>
</file>